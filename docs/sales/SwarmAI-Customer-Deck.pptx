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1113137-36cb-f4d1-ca25-09b66d5ea477}">
          <p14:sldIdLst>
            <p14:sldId id="256"/>
            <p14:sldId id="257"/>
            <p14:sldId id="258"/>
          </p14:sldIdLst>
        </p14:section>
        <p14:section name="Product" id="{70f7412f-ebad-61be-78d7-a5f4c12bf9fe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Working together" id="{7636c1e1-f2a8-96d5-0107-0e0b051491f2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SwarmAI puts an AI assistant on the channels your customers already use — WhatsApp, Telegram and the web. It answers from your own documents, and the moment it is unsure, or the customer wants a person, it hands the chat to your team. Nothing that matters happens without a human 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customer how many WhatsApp messages they get a day, how many are repeat questions, and what happens to messages that arrive after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products on one platform. Most customers start with the customer desk plus the knowledge base; the team assistant is an add-on for owners and staff.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loop. Steps 1–2 handle the repeat questions automatically. Steps 3–5 are what makes it safe: the bot knows its limits and your team stays in charge.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from the admin console with a demo dental clinic. On the right, a staff member answered a refund question, handed the chat back, and the bot answered the follow-up using what the staff member said.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Technically this is retrieval-augmented generation (RAG): documents are split into passages, embedded, stored in a vector index per organisation, and the most relevant passages are given to the model with an instruction to answer only from them and cite them. Scanned image-only PDFs need OCR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message can use several agents at once: “log ₹450 lunch, remind me at 5 to call Ravi, and what’s the weather in Pune tomorrow”. Email and calendar connect per person to their own Google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biggest objection is “what if the AI does something wrong?”. Answer: anything with a side effect is a proposal a human approves, customers physically cannot reach internal tools, and every action is logged.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it is run: one cloud server with a single encrypted entrance; everything else (AI agents, workflow engine, database) is on a private network inside it. Containers restart automatically, health is checked continuously, the database is backed up every night and the team gets a Telegram message if a backup fails. Sign-up is invite-only on hosted servers. For clients who need it, the same setup runs in their own cloud with their own AI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a client changes later — greeting, hand-over message, instructions, documents — is done in the admin console. Changes reach the bot within about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pack is a preset: agents, instructions, greeting and hand-over rules for an industry. We load your documents on top and tune it during the pilot. Roadmap packs are built on request with the first client in that industry.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provide: your FAQs, price list and policies; a WhatsApp Business number verified with Meta; and one or two staff for the Inbox. We agree the target numbers in week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Indicative prices — confirm before sending. A pilot can be offered as the setup fee plus the first month at Starter price.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contact line before sending.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76809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6D3D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SwarmAI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slideLayout" Target="../slideLayouts/slideLayout3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AI staff on WhatsApp that answers your customers — and knows when to call your team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D3D1"/>
                </a:solidFill>
              </a:rPr>
              <a:t>Customer desk  ·  Knowledge base  ·  Team assistant</a:t>
            </a:r>
            <a:endParaRPr lang="en-US" sz="1800" dirty="0"/>
          </a:p>
        </p:txBody>
      </p:sp>
      <p:sp>
        <p:nvSpPr>
          <p:cNvPr id="4" name="circle-logo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log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674370"/>
            <a:ext cx="342900" cy="342900"/>
          </a:xfrm>
          <a:prstGeom prst="rect">
            <a:avLst/>
          </a:prstGeom>
        </p:spPr>
      </p:pic>
      <p:sp>
        <p:nvSpPr>
          <p:cNvPr id="6" name="brand"/>
          <p:cNvSpPr txBox="1"/>
          <p:nvPr/>
        </p:nvSpPr>
        <p:spPr>
          <a:xfrm>
            <a:off x="1371600" y="640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SwarmAI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Your customers message you all day</a:t>
            </a:r>
            <a:endParaRPr lang="en-US" sz="3200" dirty="0"/>
          </a:p>
        </p:txBody>
      </p:sp>
      <p:sp>
        <p:nvSpPr>
          <p:cNvPr id="3" name="problem-0"/>
          <p:cNvSpPr/>
          <p:nvPr/>
        </p:nvSpPr>
        <p:spPr>
          <a:xfrm>
            <a:off x="457200" y="1234440"/>
            <a:ext cx="2615184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circle-problem-0"/>
          <p:cNvSpPr/>
          <p:nvPr/>
        </p:nvSpPr>
        <p:spPr>
          <a:xfrm>
            <a:off x="731520" y="146304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icon-problem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1604772"/>
            <a:ext cx="283464" cy="283464"/>
          </a:xfrm>
          <a:prstGeom prst="rect">
            <a:avLst/>
          </a:prstGeom>
        </p:spPr>
      </p:pic>
      <p:sp>
        <p:nvSpPr>
          <p:cNvPr id="6" name="problem-h-0"/>
          <p:cNvSpPr txBox="1"/>
          <p:nvPr/>
        </p:nvSpPr>
        <p:spPr>
          <a:xfrm>
            <a:off x="731520" y="2194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Same questions, every day</a:t>
            </a:r>
            <a:endParaRPr lang="en-US" sz="1700" dirty="0"/>
          </a:p>
        </p:txBody>
      </p:sp>
      <p:sp>
        <p:nvSpPr>
          <p:cNvPr id="7" name="problem-b-0"/>
          <p:cNvSpPr txBox="1"/>
          <p:nvPr/>
        </p:nvSpPr>
        <p:spPr>
          <a:xfrm>
            <a:off x="731520" y="27432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Timings, prices, “where is my order”, directions — your staff answer them again and again.</a:t>
            </a:r>
            <a:endParaRPr lang="en-US" sz="1300" dirty="0"/>
          </a:p>
        </p:txBody>
      </p:sp>
      <p:sp>
        <p:nvSpPr>
          <p:cNvPr id="8" name="problem-1"/>
          <p:cNvSpPr/>
          <p:nvPr/>
        </p:nvSpPr>
        <p:spPr>
          <a:xfrm>
            <a:off x="3273552" y="1234440"/>
            <a:ext cx="2615184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9" name="circle-problem-1"/>
          <p:cNvSpPr/>
          <p:nvPr/>
        </p:nvSpPr>
        <p:spPr>
          <a:xfrm>
            <a:off x="3547872" y="146304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con-problem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604" y="1604772"/>
            <a:ext cx="283464" cy="283464"/>
          </a:xfrm>
          <a:prstGeom prst="rect">
            <a:avLst/>
          </a:prstGeom>
        </p:spPr>
      </p:pic>
      <p:sp>
        <p:nvSpPr>
          <p:cNvPr id="11" name="problem-h-1"/>
          <p:cNvSpPr txBox="1"/>
          <p:nvPr/>
        </p:nvSpPr>
        <p:spPr>
          <a:xfrm>
            <a:off x="3547872" y="2194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Messages after hours wait</a:t>
            </a:r>
            <a:endParaRPr lang="en-US" sz="1700" dirty="0"/>
          </a:p>
        </p:txBody>
      </p:sp>
      <p:sp>
        <p:nvSpPr>
          <p:cNvPr id="12" name="problem-b-1"/>
          <p:cNvSpPr txBox="1"/>
          <p:nvPr/>
        </p:nvSpPr>
        <p:spPr>
          <a:xfrm>
            <a:off x="3547872" y="27432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 customer who writes at 10 pm hears back the next morning — or goes to a competitor.</a:t>
            </a:r>
            <a:endParaRPr lang="en-US" sz="1300" dirty="0"/>
          </a:p>
        </p:txBody>
      </p:sp>
      <p:sp>
        <p:nvSpPr>
          <p:cNvPr id="13" name="problem-2"/>
          <p:cNvSpPr/>
          <p:nvPr/>
        </p:nvSpPr>
        <p:spPr>
          <a:xfrm>
            <a:off x="6089904" y="1234440"/>
            <a:ext cx="2615184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4" name="circle-problem-2"/>
          <p:cNvSpPr/>
          <p:nvPr/>
        </p:nvSpPr>
        <p:spPr>
          <a:xfrm>
            <a:off x="6364224" y="146304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con-problem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956" y="1604772"/>
            <a:ext cx="283464" cy="283464"/>
          </a:xfrm>
          <a:prstGeom prst="rect">
            <a:avLst/>
          </a:prstGeom>
        </p:spPr>
      </p:pic>
      <p:sp>
        <p:nvSpPr>
          <p:cNvPr id="16" name="problem-h-2"/>
          <p:cNvSpPr txBox="1"/>
          <p:nvPr/>
        </p:nvSpPr>
        <p:spPr>
          <a:xfrm>
            <a:off x="6364224" y="2194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Chats scattered on phones</a:t>
            </a:r>
            <a:endParaRPr lang="en-US" sz="1700" dirty="0"/>
          </a:p>
        </p:txBody>
      </p:sp>
      <p:sp>
        <p:nvSpPr>
          <p:cNvPr id="17" name="problem-b-2"/>
          <p:cNvSpPr txBox="1"/>
          <p:nvPr/>
        </p:nvSpPr>
        <p:spPr>
          <a:xfrm>
            <a:off x="6364224" y="27432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Staff reply from personal phones. Nobody sees who answered what, or which chat is still open.</a:t>
            </a:r>
            <a:endParaRPr lang="en-US" sz="1300" dirty="0"/>
          </a:p>
        </p:txBody>
      </p:sp>
      <p:sp>
        <p:nvSpPr>
          <p:cNvPr id="18" name="problem-result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The result: slow replies, tired staff and leads that never come back.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Meet SwarmAI</a:t>
            </a:r>
            <a:endParaRPr lang="en-US" sz="3200" dirty="0"/>
          </a:p>
        </p:txBody>
      </p:sp>
      <p:sp>
        <p:nvSpPr>
          <p:cNvPr id="3" name="meet-lead"/>
          <p:cNvSpPr txBox="1"/>
          <p:nvPr/>
        </p:nvSpPr>
        <p:spPr>
          <a:xfrm>
            <a:off x="457200" y="123444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A team of AI agents that works on the channels your customers already use — and always lets your people take over.</a:t>
            </a:r>
            <a:endParaRPr lang="en-US" sz="2100" dirty="0"/>
          </a:p>
        </p:txBody>
      </p:sp>
      <p:sp>
        <p:nvSpPr>
          <p:cNvPr id="4" name="chip-0"/>
          <p:cNvSpPr/>
          <p:nvPr/>
        </p:nvSpPr>
        <p:spPr>
          <a:xfrm>
            <a:off x="457200" y="3291840"/>
            <a:ext cx="1554480" cy="457200"/>
          </a:xfrm>
          <a:prstGeom prst="roundRect">
            <a:avLst>
              <a:gd name="adj" fmla="val 24000"/>
            </a:avLst>
          </a:prstGeom>
          <a:solidFill>
            <a:schemeClr val="accent6"/>
          </a:solidFill>
          <a:ln/>
        </p:spPr>
      </p:sp>
      <p:pic>
        <p:nvPicPr>
          <p:cNvPr id="5" name="chip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3401568"/>
            <a:ext cx="237744" cy="237744"/>
          </a:xfrm>
          <a:prstGeom prst="rect">
            <a:avLst/>
          </a:prstGeom>
        </p:spPr>
      </p:pic>
      <p:sp>
        <p:nvSpPr>
          <p:cNvPr id="6" name="chip-t-0"/>
          <p:cNvSpPr txBox="1"/>
          <p:nvPr/>
        </p:nvSpPr>
        <p:spPr>
          <a:xfrm>
            <a:off x="886968" y="3291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WhatsApp</a:t>
            </a:r>
            <a:endParaRPr lang="en-US" sz="1200" dirty="0"/>
          </a:p>
        </p:txBody>
      </p:sp>
      <p:sp>
        <p:nvSpPr>
          <p:cNvPr id="7" name="chip-1"/>
          <p:cNvSpPr/>
          <p:nvPr/>
        </p:nvSpPr>
        <p:spPr>
          <a:xfrm>
            <a:off x="2103120" y="3291840"/>
            <a:ext cx="1554480" cy="457200"/>
          </a:xfrm>
          <a:prstGeom prst="roundRect">
            <a:avLst>
              <a:gd name="adj" fmla="val 24000"/>
            </a:avLst>
          </a:prstGeom>
          <a:solidFill>
            <a:schemeClr val="accent6"/>
          </a:solidFill>
          <a:ln/>
        </p:spPr>
      </p:sp>
      <p:pic>
        <p:nvPicPr>
          <p:cNvPr id="8" name="chip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992" y="3401568"/>
            <a:ext cx="237744" cy="237744"/>
          </a:xfrm>
          <a:prstGeom prst="rect">
            <a:avLst/>
          </a:prstGeom>
        </p:spPr>
      </p:pic>
      <p:sp>
        <p:nvSpPr>
          <p:cNvPr id="9" name="chip-t-1"/>
          <p:cNvSpPr txBox="1"/>
          <p:nvPr/>
        </p:nvSpPr>
        <p:spPr>
          <a:xfrm>
            <a:off x="2532888" y="3291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Telegram</a:t>
            </a:r>
            <a:endParaRPr lang="en-US" sz="1200" dirty="0"/>
          </a:p>
        </p:txBody>
      </p:sp>
      <p:sp>
        <p:nvSpPr>
          <p:cNvPr id="10" name="chip-2"/>
          <p:cNvSpPr/>
          <p:nvPr/>
        </p:nvSpPr>
        <p:spPr>
          <a:xfrm>
            <a:off x="457200" y="3858768"/>
            <a:ext cx="1554480" cy="457200"/>
          </a:xfrm>
          <a:prstGeom prst="roundRect">
            <a:avLst>
              <a:gd name="adj" fmla="val 24000"/>
            </a:avLst>
          </a:prstGeom>
          <a:solidFill>
            <a:schemeClr val="accent6"/>
          </a:solidFill>
          <a:ln/>
        </p:spPr>
      </p:sp>
      <p:pic>
        <p:nvPicPr>
          <p:cNvPr id="11" name="chip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968496"/>
            <a:ext cx="237744" cy="237744"/>
          </a:xfrm>
          <a:prstGeom prst="rect">
            <a:avLst/>
          </a:prstGeom>
        </p:spPr>
      </p:pic>
      <p:sp>
        <p:nvSpPr>
          <p:cNvPr id="12" name="chip-t-2"/>
          <p:cNvSpPr txBox="1"/>
          <p:nvPr/>
        </p:nvSpPr>
        <p:spPr>
          <a:xfrm>
            <a:off x="886968" y="38587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Web app</a:t>
            </a:r>
            <a:endParaRPr lang="en-US" sz="1200" dirty="0"/>
          </a:p>
        </p:txBody>
      </p:sp>
      <p:sp>
        <p:nvSpPr>
          <p:cNvPr id="13" name="chip-3"/>
          <p:cNvSpPr/>
          <p:nvPr/>
        </p:nvSpPr>
        <p:spPr>
          <a:xfrm>
            <a:off x="2103120" y="3858768"/>
            <a:ext cx="1554480" cy="457200"/>
          </a:xfrm>
          <a:prstGeom prst="roundRect">
            <a:avLst>
              <a:gd name="adj" fmla="val 24000"/>
            </a:avLst>
          </a:prstGeom>
          <a:solidFill>
            <a:schemeClr val="accent6"/>
          </a:solidFill>
          <a:ln/>
        </p:spPr>
      </p:sp>
      <p:pic>
        <p:nvPicPr>
          <p:cNvPr id="14" name="chip-icon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1992" y="3968496"/>
            <a:ext cx="237744" cy="237744"/>
          </a:xfrm>
          <a:prstGeom prst="rect">
            <a:avLst/>
          </a:prstGeom>
        </p:spPr>
      </p:pic>
      <p:sp>
        <p:nvSpPr>
          <p:cNvPr id="15" name="chip-t-3"/>
          <p:cNvSpPr txBox="1"/>
          <p:nvPr/>
        </p:nvSpPr>
        <p:spPr>
          <a:xfrm>
            <a:off x="2532888" y="38587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Voice notes</a:t>
            </a:r>
            <a:endParaRPr lang="en-US" sz="1200" dirty="0"/>
          </a:p>
        </p:txBody>
      </p:sp>
      <p:sp>
        <p:nvSpPr>
          <p:cNvPr id="16" name="pillar-0"/>
          <p:cNvSpPr/>
          <p:nvPr/>
        </p:nvSpPr>
        <p:spPr>
          <a:xfrm>
            <a:off x="4114800" y="1234440"/>
            <a:ext cx="4572000" cy="978408"/>
          </a:xfrm>
          <a:prstGeom prst="roundRect">
            <a:avLst>
              <a:gd name="adj" fmla="val 11215"/>
            </a:avLst>
          </a:prstGeom>
          <a:solidFill>
            <a:schemeClr val="bg2"/>
          </a:solidFill>
          <a:ln/>
        </p:spPr>
      </p:sp>
      <p:sp>
        <p:nvSpPr>
          <p:cNvPr id="17" name="circle-pillar-0"/>
          <p:cNvSpPr/>
          <p:nvPr/>
        </p:nvSpPr>
        <p:spPr>
          <a:xfrm>
            <a:off x="4315968" y="144475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con-pillar-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3128" y="1581912"/>
            <a:ext cx="274320" cy="274320"/>
          </a:xfrm>
          <a:prstGeom prst="rect">
            <a:avLst/>
          </a:prstGeom>
        </p:spPr>
      </p:pic>
      <p:sp>
        <p:nvSpPr>
          <p:cNvPr id="19" name="pillar-h-0"/>
          <p:cNvSpPr txBox="1"/>
          <p:nvPr/>
        </p:nvSpPr>
        <p:spPr>
          <a:xfrm>
            <a:off x="5074920" y="13533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Customer desk</a:t>
            </a:r>
            <a:endParaRPr lang="en-US" sz="1600" dirty="0"/>
          </a:p>
        </p:txBody>
      </p:sp>
      <p:sp>
        <p:nvSpPr>
          <p:cNvPr id="20" name="pillar-b-0"/>
          <p:cNvSpPr txBox="1"/>
          <p:nvPr/>
        </p:nvSpPr>
        <p:spPr>
          <a:xfrm>
            <a:off x="5074920" y="166420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Answers customers 24×7 on WhatsApp and Telegram, and hands the chat to your team when needed.</a:t>
            </a:r>
            <a:endParaRPr lang="en-US" sz="1200" dirty="0"/>
          </a:p>
        </p:txBody>
      </p:sp>
      <p:sp>
        <p:nvSpPr>
          <p:cNvPr id="21" name="pillar-1"/>
          <p:cNvSpPr/>
          <p:nvPr/>
        </p:nvSpPr>
        <p:spPr>
          <a:xfrm>
            <a:off x="4114800" y="2350008"/>
            <a:ext cx="4572000" cy="978408"/>
          </a:xfrm>
          <a:prstGeom prst="roundRect">
            <a:avLst>
              <a:gd name="adj" fmla="val 11215"/>
            </a:avLst>
          </a:prstGeom>
          <a:solidFill>
            <a:schemeClr val="bg2"/>
          </a:solidFill>
          <a:ln/>
        </p:spPr>
      </p:sp>
      <p:sp>
        <p:nvSpPr>
          <p:cNvPr id="22" name="circle-pillar-1"/>
          <p:cNvSpPr/>
          <p:nvPr/>
        </p:nvSpPr>
        <p:spPr>
          <a:xfrm>
            <a:off x="4315968" y="25603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3" name="icon-pillar-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3128" y="2697480"/>
            <a:ext cx="274320" cy="274320"/>
          </a:xfrm>
          <a:prstGeom prst="rect">
            <a:avLst/>
          </a:prstGeom>
        </p:spPr>
      </p:pic>
      <p:sp>
        <p:nvSpPr>
          <p:cNvPr id="24" name="pillar-h-1"/>
          <p:cNvSpPr txBox="1"/>
          <p:nvPr/>
        </p:nvSpPr>
        <p:spPr>
          <a:xfrm>
            <a:off x="507492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Knowledge base</a:t>
            </a:r>
            <a:endParaRPr lang="en-US" sz="1600" dirty="0"/>
          </a:p>
        </p:txBody>
      </p:sp>
      <p:sp>
        <p:nvSpPr>
          <p:cNvPr id="25" name="pillar-b-1"/>
          <p:cNvSpPr txBox="1"/>
          <p:nvPr/>
        </p:nvSpPr>
        <p:spPr>
          <a:xfrm>
            <a:off x="5074920" y="277977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Learns from your PDFs, Word files, web pages and FAQs — and quotes them, not the internet.</a:t>
            </a:r>
            <a:endParaRPr lang="en-US" sz="1200" dirty="0"/>
          </a:p>
        </p:txBody>
      </p:sp>
      <p:sp>
        <p:nvSpPr>
          <p:cNvPr id="26" name="pillar-2"/>
          <p:cNvSpPr/>
          <p:nvPr/>
        </p:nvSpPr>
        <p:spPr>
          <a:xfrm>
            <a:off x="4114800" y="3465576"/>
            <a:ext cx="4572000" cy="978408"/>
          </a:xfrm>
          <a:prstGeom prst="roundRect">
            <a:avLst>
              <a:gd name="adj" fmla="val 11215"/>
            </a:avLst>
          </a:prstGeom>
          <a:solidFill>
            <a:schemeClr val="bg2"/>
          </a:solidFill>
          <a:ln/>
        </p:spPr>
      </p:sp>
      <p:sp>
        <p:nvSpPr>
          <p:cNvPr id="27" name="circle-pillar-2"/>
          <p:cNvSpPr/>
          <p:nvPr/>
        </p:nvSpPr>
        <p:spPr>
          <a:xfrm>
            <a:off x="4315968" y="3675888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8" name="icon-pillar-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3128" y="3813048"/>
            <a:ext cx="274320" cy="274320"/>
          </a:xfrm>
          <a:prstGeom prst="rect">
            <a:avLst/>
          </a:prstGeom>
        </p:spPr>
      </p:pic>
      <p:sp>
        <p:nvSpPr>
          <p:cNvPr id="29" name="pillar-h-2"/>
          <p:cNvSpPr txBox="1"/>
          <p:nvPr/>
        </p:nvSpPr>
        <p:spPr>
          <a:xfrm>
            <a:off x="5074920" y="35844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Team assistant</a:t>
            </a:r>
            <a:endParaRPr lang="en-US" sz="1600" dirty="0"/>
          </a:p>
        </p:txBody>
      </p:sp>
      <p:sp>
        <p:nvSpPr>
          <p:cNvPr id="30" name="pillar-b-2"/>
          <p:cNvSpPr txBox="1"/>
          <p:nvPr/>
        </p:nvSpPr>
        <p:spPr>
          <a:xfrm>
            <a:off x="5074920" y="389534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Email, calendar, tasks, reminders, expenses and research for your own staff.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a customer conversation flows</a:t>
            </a:r>
            <a:endParaRPr lang="en-US" sz="3200" dirty="0"/>
          </a:p>
        </p:txBody>
      </p:sp>
      <p:sp>
        <p:nvSpPr>
          <p:cNvPr id="3" name="circle-step-0"/>
          <p:cNvSpPr/>
          <p:nvPr/>
        </p:nvSpPr>
        <p:spPr>
          <a:xfrm>
            <a:off x="914400" y="12801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icon-step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440180"/>
            <a:ext cx="320040" cy="320040"/>
          </a:xfrm>
          <a:prstGeom prst="rect">
            <a:avLst/>
          </a:prstGeom>
        </p:spPr>
      </p:pic>
      <p:sp>
        <p:nvSpPr>
          <p:cNvPr id="5" name="arrow-0"/>
          <p:cNvSpPr/>
          <p:nvPr/>
        </p:nvSpPr>
        <p:spPr>
          <a:xfrm>
            <a:off x="1645920" y="1600200"/>
            <a:ext cx="91440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dash"/>
            <a:tailEnd type="triangle"/>
          </a:ln>
        </p:spPr>
      </p:sp>
      <p:sp>
        <p:nvSpPr>
          <p:cNvPr id="6" name="step-h-0"/>
          <p:cNvSpPr txBox="1"/>
          <p:nvPr/>
        </p:nvSpPr>
        <p:spPr>
          <a:xfrm>
            <a:off x="457200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1. Customer writes</a:t>
            </a:r>
            <a:endParaRPr lang="en-US" sz="1500" dirty="0"/>
          </a:p>
        </p:txBody>
      </p:sp>
      <p:sp>
        <p:nvSpPr>
          <p:cNvPr id="7" name="step-b-0"/>
          <p:cNvSpPr txBox="1"/>
          <p:nvPr/>
        </p:nvSpPr>
        <p:spPr>
          <a:xfrm>
            <a:off x="475488" y="2514600"/>
            <a:ext cx="15179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On WhatsApp or Telegram — text or voice note, in their own language.</a:t>
            </a:r>
            <a:endParaRPr lang="en-US" sz="1200" dirty="0"/>
          </a:p>
        </p:txBody>
      </p:sp>
      <p:sp>
        <p:nvSpPr>
          <p:cNvPr id="8" name="circle-step-1"/>
          <p:cNvSpPr/>
          <p:nvPr/>
        </p:nvSpPr>
        <p:spPr>
          <a:xfrm>
            <a:off x="2596896" y="12801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con-step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916" y="1440180"/>
            <a:ext cx="320040" cy="320040"/>
          </a:xfrm>
          <a:prstGeom prst="rect">
            <a:avLst/>
          </a:prstGeom>
        </p:spPr>
      </p:pic>
      <p:sp>
        <p:nvSpPr>
          <p:cNvPr id="10" name="arrow-1"/>
          <p:cNvSpPr/>
          <p:nvPr/>
        </p:nvSpPr>
        <p:spPr>
          <a:xfrm>
            <a:off x="3328416" y="1600200"/>
            <a:ext cx="91440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dash"/>
            <a:tailEnd type="triangle"/>
          </a:ln>
        </p:spPr>
      </p:sp>
      <p:sp>
        <p:nvSpPr>
          <p:cNvPr id="11" name="step-h-1"/>
          <p:cNvSpPr txBox="1"/>
          <p:nvPr/>
        </p:nvSpPr>
        <p:spPr>
          <a:xfrm>
            <a:off x="2139696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2. Bot answers</a:t>
            </a:r>
            <a:endParaRPr lang="en-US" sz="1500" dirty="0"/>
          </a:p>
        </p:txBody>
      </p:sp>
      <p:sp>
        <p:nvSpPr>
          <p:cNvPr id="12" name="step-b-1"/>
          <p:cNvSpPr txBox="1"/>
          <p:nvPr/>
        </p:nvSpPr>
        <p:spPr>
          <a:xfrm>
            <a:off x="2157984" y="2514600"/>
            <a:ext cx="15179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From your documents, naming the source. If it isn’t there, it says so.</a:t>
            </a:r>
            <a:endParaRPr lang="en-US" sz="1200" dirty="0"/>
          </a:p>
        </p:txBody>
      </p:sp>
      <p:sp>
        <p:nvSpPr>
          <p:cNvPr id="13" name="circle-step-2"/>
          <p:cNvSpPr/>
          <p:nvPr/>
        </p:nvSpPr>
        <p:spPr>
          <a:xfrm>
            <a:off x="4279392" y="12801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-step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412" y="1440180"/>
            <a:ext cx="320040" cy="320040"/>
          </a:xfrm>
          <a:prstGeom prst="rect">
            <a:avLst/>
          </a:prstGeom>
        </p:spPr>
      </p:pic>
      <p:sp>
        <p:nvSpPr>
          <p:cNvPr id="15" name="arrow-2"/>
          <p:cNvSpPr/>
          <p:nvPr/>
        </p:nvSpPr>
        <p:spPr>
          <a:xfrm>
            <a:off x="5010912" y="1600200"/>
            <a:ext cx="91440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dash"/>
            <a:tailEnd type="triangle"/>
          </a:ln>
        </p:spPr>
      </p:sp>
      <p:sp>
        <p:nvSpPr>
          <p:cNvPr id="16" name="step-h-2"/>
          <p:cNvSpPr txBox="1"/>
          <p:nvPr/>
        </p:nvSpPr>
        <p:spPr>
          <a:xfrm>
            <a:off x="3822192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3. Hands over</a:t>
            </a:r>
            <a:endParaRPr lang="en-US" sz="1500" dirty="0"/>
          </a:p>
        </p:txBody>
      </p:sp>
      <p:sp>
        <p:nvSpPr>
          <p:cNvPr id="17" name="step-b-2"/>
          <p:cNvSpPr txBox="1"/>
          <p:nvPr/>
        </p:nvSpPr>
        <p:spPr>
          <a:xfrm>
            <a:off x="3840480" y="2514600"/>
            <a:ext cx="15179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Customer asks for a person, is upset, wants a refund or booking — or the answer isn’t known.</a:t>
            </a:r>
            <a:endParaRPr lang="en-US" sz="1200" dirty="0"/>
          </a:p>
        </p:txBody>
      </p:sp>
      <p:sp>
        <p:nvSpPr>
          <p:cNvPr id="18" name="circle-step-3"/>
          <p:cNvSpPr/>
          <p:nvPr/>
        </p:nvSpPr>
        <p:spPr>
          <a:xfrm>
            <a:off x="5961888" y="12801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con-step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908" y="1440180"/>
            <a:ext cx="320040" cy="320040"/>
          </a:xfrm>
          <a:prstGeom prst="rect">
            <a:avLst/>
          </a:prstGeom>
        </p:spPr>
      </p:pic>
      <p:sp>
        <p:nvSpPr>
          <p:cNvPr id="20" name="arrow-3"/>
          <p:cNvSpPr/>
          <p:nvPr/>
        </p:nvSpPr>
        <p:spPr>
          <a:xfrm>
            <a:off x="6693408" y="1600200"/>
            <a:ext cx="91440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dash"/>
            <a:tailEnd type="triangle"/>
          </a:ln>
        </p:spPr>
      </p:sp>
      <p:sp>
        <p:nvSpPr>
          <p:cNvPr id="21" name="step-h-3"/>
          <p:cNvSpPr txBox="1"/>
          <p:nvPr/>
        </p:nvSpPr>
        <p:spPr>
          <a:xfrm>
            <a:off x="5504688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4. Team replies</a:t>
            </a:r>
            <a:endParaRPr lang="en-US" sz="1500" dirty="0"/>
          </a:p>
        </p:txBody>
      </p:sp>
      <p:sp>
        <p:nvSpPr>
          <p:cNvPr id="22" name="step-b-3"/>
          <p:cNvSpPr txBox="1"/>
          <p:nvPr/>
        </p:nvSpPr>
        <p:spPr>
          <a:xfrm>
            <a:off x="5522976" y="2514600"/>
            <a:ext cx="15179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Staff get an alert with a summary and reply from the Inbox, on the customer’s own chat.</a:t>
            </a:r>
            <a:endParaRPr lang="en-US" sz="1200" dirty="0"/>
          </a:p>
        </p:txBody>
      </p:sp>
      <p:sp>
        <p:nvSpPr>
          <p:cNvPr id="23" name="circle-step-4"/>
          <p:cNvSpPr/>
          <p:nvPr/>
        </p:nvSpPr>
        <p:spPr>
          <a:xfrm>
            <a:off x="7644384" y="12801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icon-step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4404" y="1440180"/>
            <a:ext cx="320040" cy="320040"/>
          </a:xfrm>
          <a:prstGeom prst="rect">
            <a:avLst/>
          </a:prstGeom>
        </p:spPr>
      </p:pic>
      <p:sp>
        <p:nvSpPr>
          <p:cNvPr id="25" name="step-h-4"/>
          <p:cNvSpPr txBox="1"/>
          <p:nvPr/>
        </p:nvSpPr>
        <p:spPr>
          <a:xfrm>
            <a:off x="7187184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5. Bot resumes</a:t>
            </a:r>
            <a:endParaRPr lang="en-US" sz="1500" dirty="0"/>
          </a:p>
        </p:txBody>
      </p:sp>
      <p:sp>
        <p:nvSpPr>
          <p:cNvPr id="26" name="step-b-4"/>
          <p:cNvSpPr txBox="1"/>
          <p:nvPr/>
        </p:nvSpPr>
        <p:spPr>
          <a:xfrm>
            <a:off x="7205472" y="2514600"/>
            <a:ext cx="15179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One click hands the chat back. The bot knows what your team said.</a:t>
            </a:r>
            <a:endParaRPr lang="en-US" sz="1200" dirty="0"/>
          </a:p>
        </p:txBody>
      </p:sp>
      <p:sp>
        <p:nvSpPr>
          <p:cNvPr id="27" name="flow-note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</p:spPr>
      </p:sp>
      <p:sp>
        <p:nvSpPr>
          <p:cNvPr id="28" name="flow-note-t"/>
          <p:cNvSpPr txBox="1"/>
          <p:nvPr/>
        </p:nvSpPr>
        <p:spPr>
          <a:xfrm>
            <a:off x="685800" y="3977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While a person is handling the chat, the bot stays silent — your customer never gets two answers.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customer desk in action</a:t>
            </a:r>
            <a:endParaRPr lang="en-US" sz="3200" dirty="0"/>
          </a:p>
        </p:txBody>
      </p:sp>
      <p:sp>
        <p:nvSpPr>
          <p:cNvPr id="3" name="desk-points"/>
          <p:cNvSpPr txBox="1"/>
          <p:nvPr/>
        </p:nvSpPr>
        <p:spPr>
          <a:xfrm>
            <a:off x="457200" y="1188720"/>
            <a:ext cx="30175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Answers in the customer’s language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accent4"/>
                </a:solidFill>
              </a:rPr>
              <a:t>English, Hindi, Hinglish — text or voice notes.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Hands over with a summary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accent4"/>
                </a:solidFill>
              </a:rPr>
              <a:t>Your team sees why the customer needs a person.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Quiet while your team replies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accent4"/>
                </a:solidFill>
              </a:rPr>
              <a:t>Then picks up exactly where they left off.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Test before you go live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accent4"/>
                </a:solidFill>
              </a:rPr>
              <a:t>“Test as a customer” runs the full flow in the browser.</a:t>
            </a:r>
            <a:endParaRPr lang="en-US" sz="1500" dirty="0"/>
          </a:p>
        </p:txBody>
      </p:sp>
      <p:pic>
        <p:nvPicPr>
          <p:cNvPr id="4" name="desk-shot" descr="Customer desk settings and the test-as-a-customer chat, showing a staff reply and the bot resum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1188720"/>
            <a:ext cx="5029200" cy="3482924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Answers only from your documents</a:t>
            </a:r>
            <a:endParaRPr lang="en-US" sz="3200" dirty="0"/>
          </a:p>
        </p:txBody>
      </p:sp>
      <p:sp>
        <p:nvSpPr>
          <p:cNvPr id="3" name="circle-kb-0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icon-kb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30" y="1360170"/>
            <a:ext cx="251460" cy="251460"/>
          </a:xfrm>
          <a:prstGeom prst="rect">
            <a:avLst/>
          </a:prstGeom>
        </p:spPr>
      </p:pic>
      <p:sp>
        <p:nvSpPr>
          <p:cNvPr id="5" name="kb-h-0"/>
          <p:cNvSpPr txBox="1"/>
          <p:nvPr/>
        </p:nvSpPr>
        <p:spPr>
          <a:xfrm>
            <a:off x="1143000" y="11887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Add your content</a:t>
            </a:r>
            <a:endParaRPr lang="en-US" sz="1500" dirty="0"/>
          </a:p>
        </p:txBody>
      </p:sp>
      <p:sp>
        <p:nvSpPr>
          <p:cNvPr id="6" name="kb-b-0"/>
          <p:cNvSpPr txBox="1"/>
          <p:nvPr/>
        </p:nvSpPr>
        <p:spPr>
          <a:xfrm>
            <a:off x="1143000" y="14904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PDF, Word, web pages, or paste your FAQs and price list.</a:t>
            </a:r>
            <a:endParaRPr lang="en-US" sz="1200" dirty="0"/>
          </a:p>
        </p:txBody>
      </p:sp>
      <p:sp>
        <p:nvSpPr>
          <p:cNvPr id="7" name="circle-kb-1"/>
          <p:cNvSpPr/>
          <p:nvPr/>
        </p:nvSpPr>
        <p:spPr>
          <a:xfrm>
            <a:off x="457200" y="2084832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-kb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" y="2210562"/>
            <a:ext cx="251460" cy="251460"/>
          </a:xfrm>
          <a:prstGeom prst="rect">
            <a:avLst/>
          </a:prstGeom>
        </p:spPr>
      </p:pic>
      <p:sp>
        <p:nvSpPr>
          <p:cNvPr id="9" name="kb-h-1"/>
          <p:cNvSpPr txBox="1"/>
          <p:nvPr/>
        </p:nvSpPr>
        <p:spPr>
          <a:xfrm>
            <a:off x="1143000" y="20391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Searched by meaning</a:t>
            </a:r>
            <a:endParaRPr lang="en-US" sz="1500" dirty="0"/>
          </a:p>
        </p:txBody>
      </p:sp>
      <p:sp>
        <p:nvSpPr>
          <p:cNvPr id="10" name="kb-b-1"/>
          <p:cNvSpPr txBox="1"/>
          <p:nvPr/>
        </p:nvSpPr>
        <p:spPr>
          <a:xfrm>
            <a:off x="1143000" y="234086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“kitna lagega cleaning ka” finds “Teeth cleaning: ₹1,500”.</a:t>
            </a:r>
            <a:endParaRPr lang="en-US" sz="1200" dirty="0"/>
          </a:p>
        </p:txBody>
      </p:sp>
      <p:sp>
        <p:nvSpPr>
          <p:cNvPr id="11" name="circle-kb-2"/>
          <p:cNvSpPr/>
          <p:nvPr/>
        </p:nvSpPr>
        <p:spPr>
          <a:xfrm>
            <a:off x="457200" y="2935224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con-kb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" y="3060954"/>
            <a:ext cx="251460" cy="251460"/>
          </a:xfrm>
          <a:prstGeom prst="rect">
            <a:avLst/>
          </a:prstGeom>
        </p:spPr>
      </p:pic>
      <p:sp>
        <p:nvSpPr>
          <p:cNvPr id="13" name="kb-h-2"/>
          <p:cNvSpPr txBox="1"/>
          <p:nvPr/>
        </p:nvSpPr>
        <p:spPr>
          <a:xfrm>
            <a:off x="1143000" y="288950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Answer with the source</a:t>
            </a:r>
            <a:endParaRPr lang="en-US" sz="1500" dirty="0"/>
          </a:p>
        </p:txBody>
      </p:sp>
      <p:sp>
        <p:nvSpPr>
          <p:cNvPr id="14" name="kb-b-2"/>
          <p:cNvSpPr txBox="1"/>
          <p:nvPr/>
        </p:nvSpPr>
        <p:spPr>
          <a:xfrm>
            <a:off x="1143000" y="319125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Every answer names the document and page.</a:t>
            </a:r>
            <a:endParaRPr lang="en-US" sz="1200" dirty="0"/>
          </a:p>
        </p:txBody>
      </p:sp>
      <p:sp>
        <p:nvSpPr>
          <p:cNvPr id="15" name="circle-kb-3"/>
          <p:cNvSpPr/>
          <p:nvPr/>
        </p:nvSpPr>
        <p:spPr>
          <a:xfrm>
            <a:off x="457200" y="378561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kb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" y="3911346"/>
            <a:ext cx="251460" cy="251460"/>
          </a:xfrm>
          <a:prstGeom prst="rect">
            <a:avLst/>
          </a:prstGeom>
        </p:spPr>
      </p:pic>
      <p:sp>
        <p:nvSpPr>
          <p:cNvPr id="17" name="kb-h-3"/>
          <p:cNvSpPr txBox="1"/>
          <p:nvPr/>
        </p:nvSpPr>
        <p:spPr>
          <a:xfrm>
            <a:off x="1143000" y="373989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 guessing</a:t>
            </a:r>
            <a:endParaRPr lang="en-US" sz="1500" dirty="0"/>
          </a:p>
        </p:txBody>
      </p:sp>
      <p:sp>
        <p:nvSpPr>
          <p:cNvPr id="18" name="kb-b-3"/>
          <p:cNvSpPr txBox="1"/>
          <p:nvPr/>
        </p:nvSpPr>
        <p:spPr>
          <a:xfrm>
            <a:off x="1143000" y="40416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Not in your documents? It says so and hands over.</a:t>
            </a:r>
            <a:endParaRPr lang="en-US" sz="1200" dirty="0"/>
          </a:p>
        </p:txBody>
      </p:sp>
      <p:pic>
        <p:nvPicPr>
          <p:cNvPr id="19" name="kb-shot" descr="Knowledge page: upload files, add a web page, and test a question with matching passag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1188720"/>
            <a:ext cx="4754880" cy="2578755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20" name="kb-caption"/>
          <p:cNvSpPr txBox="1"/>
          <p:nvPr/>
        </p:nvSpPr>
        <p:spPr>
          <a:xfrm>
            <a:off x="3931920" y="3950355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“Test a question” shows exactly which passages the bot will use — before any customer asks.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 assistant for your team, too</a:t>
            </a:r>
            <a:endParaRPr lang="en-US" sz="3200" dirty="0"/>
          </a:p>
        </p:txBody>
      </p:sp>
      <p:sp>
        <p:nvSpPr>
          <p:cNvPr id="3" name="agent-0"/>
          <p:cNvSpPr/>
          <p:nvPr/>
        </p:nvSpPr>
        <p:spPr>
          <a:xfrm>
            <a:off x="457200" y="1143000"/>
            <a:ext cx="1975104" cy="676656"/>
          </a:xfrm>
          <a:prstGeom prst="roundRect">
            <a:avLst>
              <a:gd name="adj" fmla="val 16216"/>
            </a:avLst>
          </a:prstGeom>
          <a:solidFill>
            <a:schemeClr val="bg2"/>
          </a:solidFill>
          <a:ln/>
        </p:spPr>
      </p:sp>
      <p:sp>
        <p:nvSpPr>
          <p:cNvPr id="4" name="circle-agent-0"/>
          <p:cNvSpPr/>
          <p:nvPr/>
        </p:nvSpPr>
        <p:spPr>
          <a:xfrm>
            <a:off x="566928" y="128016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con-agent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380744"/>
            <a:ext cx="201168" cy="201168"/>
          </a:xfrm>
          <a:prstGeom prst="rect">
            <a:avLst/>
          </a:prstGeom>
        </p:spPr>
      </p:pic>
      <p:sp>
        <p:nvSpPr>
          <p:cNvPr id="6" name="agent-h-0"/>
          <p:cNvSpPr txBox="1"/>
          <p:nvPr/>
        </p:nvSpPr>
        <p:spPr>
          <a:xfrm>
            <a:off x="1060704" y="12344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Email</a:t>
            </a:r>
            <a:endParaRPr lang="en-US" sz="1300" dirty="0"/>
          </a:p>
        </p:txBody>
      </p:sp>
      <p:sp>
        <p:nvSpPr>
          <p:cNvPr id="7" name="agent-b-0"/>
          <p:cNvSpPr txBox="1"/>
          <p:nvPr/>
        </p:nvSpPr>
        <p:spPr>
          <a:xfrm>
            <a:off x="1060704" y="149961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Read, summarise, draft, reply</a:t>
            </a:r>
            <a:endParaRPr lang="en-US" sz="1000" dirty="0"/>
          </a:p>
        </p:txBody>
      </p:sp>
      <p:sp>
        <p:nvSpPr>
          <p:cNvPr id="8" name="agent-1"/>
          <p:cNvSpPr/>
          <p:nvPr/>
        </p:nvSpPr>
        <p:spPr>
          <a:xfrm>
            <a:off x="2542032" y="1143000"/>
            <a:ext cx="1975104" cy="676656"/>
          </a:xfrm>
          <a:prstGeom prst="roundRect">
            <a:avLst>
              <a:gd name="adj" fmla="val 16216"/>
            </a:avLst>
          </a:prstGeom>
          <a:solidFill>
            <a:schemeClr val="bg2"/>
          </a:solidFill>
          <a:ln/>
        </p:spPr>
      </p:sp>
      <p:sp>
        <p:nvSpPr>
          <p:cNvPr id="9" name="circle-agent-1"/>
          <p:cNvSpPr/>
          <p:nvPr/>
        </p:nvSpPr>
        <p:spPr>
          <a:xfrm>
            <a:off x="2651760" y="128016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con-agent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344" y="1380744"/>
            <a:ext cx="201168" cy="201168"/>
          </a:xfrm>
          <a:prstGeom prst="rect">
            <a:avLst/>
          </a:prstGeom>
        </p:spPr>
      </p:pic>
      <p:sp>
        <p:nvSpPr>
          <p:cNvPr id="11" name="agent-h-1"/>
          <p:cNvSpPr txBox="1"/>
          <p:nvPr/>
        </p:nvSpPr>
        <p:spPr>
          <a:xfrm>
            <a:off x="3145536" y="12344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Calendar</a:t>
            </a:r>
            <a:endParaRPr lang="en-US" sz="1300" dirty="0"/>
          </a:p>
        </p:txBody>
      </p:sp>
      <p:sp>
        <p:nvSpPr>
          <p:cNvPr id="12" name="agent-b-1"/>
          <p:cNvSpPr txBox="1"/>
          <p:nvPr/>
        </p:nvSpPr>
        <p:spPr>
          <a:xfrm>
            <a:off x="3145536" y="149961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Agenda, free slots, invites</a:t>
            </a:r>
            <a:endParaRPr lang="en-US" sz="1000" dirty="0"/>
          </a:p>
        </p:txBody>
      </p:sp>
      <p:sp>
        <p:nvSpPr>
          <p:cNvPr id="13" name="agent-2"/>
          <p:cNvSpPr/>
          <p:nvPr/>
        </p:nvSpPr>
        <p:spPr>
          <a:xfrm>
            <a:off x="4626864" y="1143000"/>
            <a:ext cx="1975104" cy="676656"/>
          </a:xfrm>
          <a:prstGeom prst="roundRect">
            <a:avLst>
              <a:gd name="adj" fmla="val 16216"/>
            </a:avLst>
          </a:prstGeom>
          <a:solidFill>
            <a:schemeClr val="bg2"/>
          </a:solidFill>
          <a:ln/>
        </p:spPr>
      </p:sp>
      <p:sp>
        <p:nvSpPr>
          <p:cNvPr id="14" name="circle-agent-2"/>
          <p:cNvSpPr/>
          <p:nvPr/>
        </p:nvSpPr>
        <p:spPr>
          <a:xfrm>
            <a:off x="4736592" y="128016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con-agent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176" y="1380744"/>
            <a:ext cx="201168" cy="201168"/>
          </a:xfrm>
          <a:prstGeom prst="rect">
            <a:avLst/>
          </a:prstGeom>
        </p:spPr>
      </p:pic>
      <p:sp>
        <p:nvSpPr>
          <p:cNvPr id="16" name="agent-h-2"/>
          <p:cNvSpPr txBox="1"/>
          <p:nvPr/>
        </p:nvSpPr>
        <p:spPr>
          <a:xfrm>
            <a:off x="5230368" y="12344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Knowledge</a:t>
            </a:r>
            <a:endParaRPr lang="en-US" sz="1300" dirty="0"/>
          </a:p>
        </p:txBody>
      </p:sp>
      <p:sp>
        <p:nvSpPr>
          <p:cNvPr id="17" name="agent-b-2"/>
          <p:cNvSpPr txBox="1"/>
          <p:nvPr/>
        </p:nvSpPr>
        <p:spPr>
          <a:xfrm>
            <a:off x="5230368" y="149961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Your documents, cited</a:t>
            </a:r>
            <a:endParaRPr lang="en-US" sz="1000" dirty="0"/>
          </a:p>
        </p:txBody>
      </p:sp>
      <p:sp>
        <p:nvSpPr>
          <p:cNvPr id="18" name="agent-3"/>
          <p:cNvSpPr/>
          <p:nvPr/>
        </p:nvSpPr>
        <p:spPr>
          <a:xfrm>
            <a:off x="6711696" y="1143000"/>
            <a:ext cx="1975104" cy="676656"/>
          </a:xfrm>
          <a:prstGeom prst="roundRect">
            <a:avLst>
              <a:gd name="adj" fmla="val 16216"/>
            </a:avLst>
          </a:prstGeom>
          <a:solidFill>
            <a:schemeClr val="bg2"/>
          </a:solidFill>
          <a:ln/>
        </p:spPr>
      </p:sp>
      <p:sp>
        <p:nvSpPr>
          <p:cNvPr id="19" name="circle-agent-3"/>
          <p:cNvSpPr/>
          <p:nvPr/>
        </p:nvSpPr>
        <p:spPr>
          <a:xfrm>
            <a:off x="6821424" y="128016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con-agent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1380744"/>
            <a:ext cx="201168" cy="201168"/>
          </a:xfrm>
          <a:prstGeom prst="rect">
            <a:avLst/>
          </a:prstGeom>
        </p:spPr>
      </p:pic>
      <p:sp>
        <p:nvSpPr>
          <p:cNvPr id="21" name="agent-h-3"/>
          <p:cNvSpPr txBox="1"/>
          <p:nvPr/>
        </p:nvSpPr>
        <p:spPr>
          <a:xfrm>
            <a:off x="7315200" y="12344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Research</a:t>
            </a:r>
            <a:endParaRPr lang="en-US" sz="1300" dirty="0"/>
          </a:p>
        </p:txBody>
      </p:sp>
      <p:sp>
        <p:nvSpPr>
          <p:cNvPr id="22" name="agent-b-3"/>
          <p:cNvSpPr txBox="1"/>
          <p:nvPr/>
        </p:nvSpPr>
        <p:spPr>
          <a:xfrm>
            <a:off x="7315200" y="149961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Web and news, with sources</a:t>
            </a:r>
            <a:endParaRPr lang="en-US" sz="1000" dirty="0"/>
          </a:p>
        </p:txBody>
      </p:sp>
      <p:sp>
        <p:nvSpPr>
          <p:cNvPr id="23" name="agent-4"/>
          <p:cNvSpPr/>
          <p:nvPr/>
        </p:nvSpPr>
        <p:spPr>
          <a:xfrm>
            <a:off x="457200" y="1929384"/>
            <a:ext cx="1975104" cy="676656"/>
          </a:xfrm>
          <a:prstGeom prst="roundRect">
            <a:avLst>
              <a:gd name="adj" fmla="val 16216"/>
            </a:avLst>
          </a:prstGeom>
          <a:solidFill>
            <a:schemeClr val="bg2"/>
          </a:solidFill>
          <a:ln/>
        </p:spPr>
      </p:sp>
      <p:sp>
        <p:nvSpPr>
          <p:cNvPr id="24" name="circle-agent-4"/>
          <p:cNvSpPr/>
          <p:nvPr/>
        </p:nvSpPr>
        <p:spPr>
          <a:xfrm>
            <a:off x="566928" y="2066544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icon-agent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2167128"/>
            <a:ext cx="201168" cy="201168"/>
          </a:xfrm>
          <a:prstGeom prst="rect">
            <a:avLst/>
          </a:prstGeom>
        </p:spPr>
      </p:pic>
      <p:sp>
        <p:nvSpPr>
          <p:cNvPr id="26" name="agent-h-4"/>
          <p:cNvSpPr txBox="1"/>
          <p:nvPr/>
        </p:nvSpPr>
        <p:spPr>
          <a:xfrm>
            <a:off x="1060704" y="20208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Tasks &amp; contacts</a:t>
            </a:r>
            <a:endParaRPr lang="en-US" sz="1300" dirty="0"/>
          </a:p>
        </p:txBody>
      </p:sp>
      <p:sp>
        <p:nvSpPr>
          <p:cNvPr id="27" name="agent-b-4"/>
          <p:cNvSpPr txBox="1"/>
          <p:nvPr/>
        </p:nvSpPr>
        <p:spPr>
          <a:xfrm>
            <a:off x="1060704" y="2286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To-dos, Google Sheet sync</a:t>
            </a:r>
            <a:endParaRPr lang="en-US" sz="1000" dirty="0"/>
          </a:p>
        </p:txBody>
      </p:sp>
      <p:sp>
        <p:nvSpPr>
          <p:cNvPr id="28" name="agent-5"/>
          <p:cNvSpPr/>
          <p:nvPr/>
        </p:nvSpPr>
        <p:spPr>
          <a:xfrm>
            <a:off x="2542032" y="1929384"/>
            <a:ext cx="1975104" cy="676656"/>
          </a:xfrm>
          <a:prstGeom prst="roundRect">
            <a:avLst>
              <a:gd name="adj" fmla="val 16216"/>
            </a:avLst>
          </a:prstGeom>
          <a:solidFill>
            <a:schemeClr val="bg2"/>
          </a:solidFill>
          <a:ln/>
        </p:spPr>
      </p:sp>
      <p:sp>
        <p:nvSpPr>
          <p:cNvPr id="29" name="circle-agent-5"/>
          <p:cNvSpPr/>
          <p:nvPr/>
        </p:nvSpPr>
        <p:spPr>
          <a:xfrm>
            <a:off x="2651760" y="2066544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icon-agent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2344" y="2167128"/>
            <a:ext cx="201168" cy="201168"/>
          </a:xfrm>
          <a:prstGeom prst="rect">
            <a:avLst/>
          </a:prstGeom>
        </p:spPr>
      </p:pic>
      <p:sp>
        <p:nvSpPr>
          <p:cNvPr id="31" name="agent-h-5"/>
          <p:cNvSpPr txBox="1"/>
          <p:nvPr/>
        </p:nvSpPr>
        <p:spPr>
          <a:xfrm>
            <a:off x="3145536" y="20208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Expenses</a:t>
            </a:r>
            <a:endParaRPr lang="en-US" sz="1300" dirty="0"/>
          </a:p>
        </p:txBody>
      </p:sp>
      <p:sp>
        <p:nvSpPr>
          <p:cNvPr id="32" name="agent-b-5"/>
          <p:cNvSpPr txBox="1"/>
          <p:nvPr/>
        </p:nvSpPr>
        <p:spPr>
          <a:xfrm>
            <a:off x="3145536" y="2286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Log from a receipt photo</a:t>
            </a:r>
            <a:endParaRPr lang="en-US" sz="1000" dirty="0"/>
          </a:p>
        </p:txBody>
      </p:sp>
      <p:sp>
        <p:nvSpPr>
          <p:cNvPr id="33" name="agent-6"/>
          <p:cNvSpPr/>
          <p:nvPr/>
        </p:nvSpPr>
        <p:spPr>
          <a:xfrm>
            <a:off x="4626864" y="1929384"/>
            <a:ext cx="1975104" cy="676656"/>
          </a:xfrm>
          <a:prstGeom prst="roundRect">
            <a:avLst>
              <a:gd name="adj" fmla="val 16216"/>
            </a:avLst>
          </a:prstGeom>
          <a:solidFill>
            <a:schemeClr val="bg2"/>
          </a:solidFill>
          <a:ln/>
        </p:spPr>
      </p:sp>
      <p:sp>
        <p:nvSpPr>
          <p:cNvPr id="34" name="circle-agent-6"/>
          <p:cNvSpPr/>
          <p:nvPr/>
        </p:nvSpPr>
        <p:spPr>
          <a:xfrm>
            <a:off x="4736592" y="2066544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5" name="icon-agent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7176" y="2167128"/>
            <a:ext cx="201168" cy="201168"/>
          </a:xfrm>
          <a:prstGeom prst="rect">
            <a:avLst/>
          </a:prstGeom>
        </p:spPr>
      </p:pic>
      <p:sp>
        <p:nvSpPr>
          <p:cNvPr id="36" name="agent-h-6"/>
          <p:cNvSpPr txBox="1"/>
          <p:nvPr/>
        </p:nvSpPr>
        <p:spPr>
          <a:xfrm>
            <a:off x="5230368" y="20208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Reminders</a:t>
            </a:r>
            <a:endParaRPr lang="en-US" sz="1300" dirty="0"/>
          </a:p>
        </p:txBody>
      </p:sp>
      <p:sp>
        <p:nvSpPr>
          <p:cNvPr id="37" name="agent-b-6"/>
          <p:cNvSpPr txBox="1"/>
          <p:nvPr/>
        </p:nvSpPr>
        <p:spPr>
          <a:xfrm>
            <a:off x="5230368" y="2286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On WhatsApp, Telegram, web</a:t>
            </a:r>
            <a:endParaRPr lang="en-US" sz="1000" dirty="0"/>
          </a:p>
        </p:txBody>
      </p:sp>
      <p:sp>
        <p:nvSpPr>
          <p:cNvPr id="38" name="agent-7"/>
          <p:cNvSpPr/>
          <p:nvPr/>
        </p:nvSpPr>
        <p:spPr>
          <a:xfrm>
            <a:off x="6711696" y="1929384"/>
            <a:ext cx="1975104" cy="676656"/>
          </a:xfrm>
          <a:prstGeom prst="roundRect">
            <a:avLst>
              <a:gd name="adj" fmla="val 16216"/>
            </a:avLst>
          </a:prstGeom>
          <a:solidFill>
            <a:schemeClr val="bg2"/>
          </a:solidFill>
          <a:ln/>
        </p:spPr>
      </p:sp>
      <p:sp>
        <p:nvSpPr>
          <p:cNvPr id="39" name="circle-agent-7"/>
          <p:cNvSpPr/>
          <p:nvPr/>
        </p:nvSpPr>
        <p:spPr>
          <a:xfrm>
            <a:off x="6821424" y="2066544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0" name="icon-agent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22008" y="2167128"/>
            <a:ext cx="201168" cy="201168"/>
          </a:xfrm>
          <a:prstGeom prst="rect">
            <a:avLst/>
          </a:prstGeom>
        </p:spPr>
      </p:pic>
      <p:sp>
        <p:nvSpPr>
          <p:cNvPr id="41" name="agent-h-7"/>
          <p:cNvSpPr txBox="1"/>
          <p:nvPr/>
        </p:nvSpPr>
        <p:spPr>
          <a:xfrm>
            <a:off x="7315200" y="20208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Notes &amp; memory</a:t>
            </a:r>
            <a:endParaRPr lang="en-US" sz="1300" dirty="0"/>
          </a:p>
        </p:txBody>
      </p:sp>
      <p:sp>
        <p:nvSpPr>
          <p:cNvPr id="42" name="agent-b-7"/>
          <p:cNvSpPr txBox="1"/>
          <p:nvPr/>
        </p:nvSpPr>
        <p:spPr>
          <a:xfrm>
            <a:off x="7315200" y="2286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Remembers preferences</a:t>
            </a:r>
            <a:endParaRPr lang="en-US" sz="1000" dirty="0"/>
          </a:p>
        </p:txBody>
      </p:sp>
      <p:sp>
        <p:nvSpPr>
          <p:cNvPr id="43" name="agent-8"/>
          <p:cNvSpPr/>
          <p:nvPr/>
        </p:nvSpPr>
        <p:spPr>
          <a:xfrm>
            <a:off x="457200" y="2715768"/>
            <a:ext cx="1975104" cy="676656"/>
          </a:xfrm>
          <a:prstGeom prst="roundRect">
            <a:avLst>
              <a:gd name="adj" fmla="val 16216"/>
            </a:avLst>
          </a:prstGeom>
          <a:solidFill>
            <a:schemeClr val="bg2"/>
          </a:solidFill>
          <a:ln/>
        </p:spPr>
      </p:sp>
      <p:sp>
        <p:nvSpPr>
          <p:cNvPr id="44" name="circle-agent-8"/>
          <p:cNvSpPr/>
          <p:nvPr/>
        </p:nvSpPr>
        <p:spPr>
          <a:xfrm>
            <a:off x="566928" y="2852928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5" name="icon-agent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512" y="2953512"/>
            <a:ext cx="201168" cy="201168"/>
          </a:xfrm>
          <a:prstGeom prst="rect">
            <a:avLst/>
          </a:prstGeom>
        </p:spPr>
      </p:pic>
      <p:sp>
        <p:nvSpPr>
          <p:cNvPr id="46" name="agent-h-8"/>
          <p:cNvSpPr txBox="1"/>
          <p:nvPr/>
        </p:nvSpPr>
        <p:spPr>
          <a:xfrm>
            <a:off x="1060704" y="28072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Travel</a:t>
            </a:r>
            <a:endParaRPr lang="en-US" sz="1300" dirty="0"/>
          </a:p>
        </p:txBody>
      </p:sp>
      <p:sp>
        <p:nvSpPr>
          <p:cNvPr id="47" name="agent-b-8"/>
          <p:cNvSpPr txBox="1"/>
          <p:nvPr/>
        </p:nvSpPr>
        <p:spPr>
          <a:xfrm>
            <a:off x="1060704" y="307238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Flights, hotels, trip plans</a:t>
            </a:r>
            <a:endParaRPr lang="en-US" sz="1000" dirty="0"/>
          </a:p>
        </p:txBody>
      </p:sp>
      <p:sp>
        <p:nvSpPr>
          <p:cNvPr id="48" name="agent-9"/>
          <p:cNvSpPr/>
          <p:nvPr/>
        </p:nvSpPr>
        <p:spPr>
          <a:xfrm>
            <a:off x="2542032" y="2715768"/>
            <a:ext cx="1975104" cy="676656"/>
          </a:xfrm>
          <a:prstGeom prst="roundRect">
            <a:avLst>
              <a:gd name="adj" fmla="val 16216"/>
            </a:avLst>
          </a:prstGeom>
          <a:solidFill>
            <a:schemeClr val="bg2"/>
          </a:solidFill>
          <a:ln/>
        </p:spPr>
      </p:sp>
      <p:sp>
        <p:nvSpPr>
          <p:cNvPr id="49" name="circle-agent-9"/>
          <p:cNvSpPr/>
          <p:nvPr/>
        </p:nvSpPr>
        <p:spPr>
          <a:xfrm>
            <a:off x="2651760" y="2852928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0" name="icon-agent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52344" y="2953512"/>
            <a:ext cx="201168" cy="201168"/>
          </a:xfrm>
          <a:prstGeom prst="rect">
            <a:avLst/>
          </a:prstGeom>
        </p:spPr>
      </p:pic>
      <p:sp>
        <p:nvSpPr>
          <p:cNvPr id="51" name="agent-h-9"/>
          <p:cNvSpPr txBox="1"/>
          <p:nvPr/>
        </p:nvSpPr>
        <p:spPr>
          <a:xfrm>
            <a:off x="3145536" y="28072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Shopping</a:t>
            </a:r>
            <a:endParaRPr lang="en-US" sz="1300" dirty="0"/>
          </a:p>
        </p:txBody>
      </p:sp>
      <p:sp>
        <p:nvSpPr>
          <p:cNvPr id="52" name="agent-b-9"/>
          <p:cNvSpPr txBox="1"/>
          <p:nvPr/>
        </p:nvSpPr>
        <p:spPr>
          <a:xfrm>
            <a:off x="3145536" y="307238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Price compare, drop alerts</a:t>
            </a:r>
            <a:endParaRPr lang="en-US" sz="1000" dirty="0"/>
          </a:p>
        </p:txBody>
      </p:sp>
      <p:sp>
        <p:nvSpPr>
          <p:cNvPr id="53" name="agent-10"/>
          <p:cNvSpPr/>
          <p:nvPr/>
        </p:nvSpPr>
        <p:spPr>
          <a:xfrm>
            <a:off x="4626864" y="2715768"/>
            <a:ext cx="1975104" cy="676656"/>
          </a:xfrm>
          <a:prstGeom prst="roundRect">
            <a:avLst>
              <a:gd name="adj" fmla="val 16216"/>
            </a:avLst>
          </a:prstGeom>
          <a:solidFill>
            <a:schemeClr val="bg2"/>
          </a:solidFill>
          <a:ln/>
        </p:spPr>
      </p:sp>
      <p:sp>
        <p:nvSpPr>
          <p:cNvPr id="54" name="circle-agent-10"/>
          <p:cNvSpPr/>
          <p:nvPr/>
        </p:nvSpPr>
        <p:spPr>
          <a:xfrm>
            <a:off x="4736592" y="2852928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5" name="icon-agent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37176" y="2953512"/>
            <a:ext cx="201168" cy="201168"/>
          </a:xfrm>
          <a:prstGeom prst="rect">
            <a:avLst/>
          </a:prstGeom>
        </p:spPr>
      </p:pic>
      <p:sp>
        <p:nvSpPr>
          <p:cNvPr id="56" name="agent-h-10"/>
          <p:cNvSpPr txBox="1"/>
          <p:nvPr/>
        </p:nvSpPr>
        <p:spPr>
          <a:xfrm>
            <a:off x="5230368" y="28072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Documents</a:t>
            </a:r>
            <a:endParaRPr lang="en-US" sz="1300" dirty="0"/>
          </a:p>
        </p:txBody>
      </p:sp>
      <p:sp>
        <p:nvSpPr>
          <p:cNvPr id="57" name="agent-b-10"/>
          <p:cNvSpPr txBox="1"/>
          <p:nvPr/>
        </p:nvSpPr>
        <p:spPr>
          <a:xfrm>
            <a:off x="5230368" y="307238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Summarise, extract, translate</a:t>
            </a:r>
            <a:endParaRPr lang="en-US" sz="1000" dirty="0"/>
          </a:p>
        </p:txBody>
      </p:sp>
      <p:sp>
        <p:nvSpPr>
          <p:cNvPr id="58" name="agent-11"/>
          <p:cNvSpPr/>
          <p:nvPr/>
        </p:nvSpPr>
        <p:spPr>
          <a:xfrm>
            <a:off x="6711696" y="2715768"/>
            <a:ext cx="1975104" cy="676656"/>
          </a:xfrm>
          <a:prstGeom prst="roundRect">
            <a:avLst>
              <a:gd name="adj" fmla="val 16216"/>
            </a:avLst>
          </a:prstGeom>
          <a:solidFill>
            <a:schemeClr val="accent5"/>
          </a:solidFill>
          <a:ln/>
        </p:spPr>
      </p:sp>
      <p:sp>
        <p:nvSpPr>
          <p:cNvPr id="59" name="circle-agent-11"/>
          <p:cNvSpPr/>
          <p:nvPr/>
        </p:nvSpPr>
        <p:spPr>
          <a:xfrm>
            <a:off x="6821424" y="285292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0" name="icon-agent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22008" y="2953512"/>
            <a:ext cx="201168" cy="201168"/>
          </a:xfrm>
          <a:prstGeom prst="rect">
            <a:avLst/>
          </a:prstGeom>
        </p:spPr>
      </p:pic>
      <p:sp>
        <p:nvSpPr>
          <p:cNvPr id="61" name="agent-h-11"/>
          <p:cNvSpPr txBox="1"/>
          <p:nvPr/>
        </p:nvSpPr>
        <p:spPr>
          <a:xfrm>
            <a:off x="7315200" y="28072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Your own agents</a:t>
            </a:r>
            <a:endParaRPr lang="en-US" sz="1300" dirty="0"/>
          </a:p>
        </p:txBody>
      </p:sp>
      <p:sp>
        <p:nvSpPr>
          <p:cNvPr id="62" name="agent-b-11"/>
          <p:cNvSpPr txBox="1"/>
          <p:nvPr/>
        </p:nvSpPr>
        <p:spPr>
          <a:xfrm>
            <a:off x="7315200" y="307238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Built in the admin console</a:t>
            </a:r>
            <a:endParaRPr lang="en-US" sz="1000" dirty="0"/>
          </a:p>
        </p:txBody>
      </p:sp>
      <p:sp>
        <p:nvSpPr>
          <p:cNvPr id="63" name="auto-band"/>
          <p:cNvSpPr/>
          <p:nvPr/>
        </p:nvSpPr>
        <p:spPr>
          <a:xfrm>
            <a:off x="457200" y="3584448"/>
            <a:ext cx="82296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64" name="circle-auto"/>
          <p:cNvSpPr/>
          <p:nvPr/>
        </p:nvSpPr>
        <p:spPr>
          <a:xfrm>
            <a:off x="685800" y="3794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5" name="icon-auto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2960" y="3931920"/>
            <a:ext cx="274320" cy="274320"/>
          </a:xfrm>
          <a:prstGeom prst="rect">
            <a:avLst/>
          </a:prstGeom>
        </p:spPr>
      </p:pic>
      <p:sp>
        <p:nvSpPr>
          <p:cNvPr id="66" name="auto-h"/>
          <p:cNvSpPr txBox="1"/>
          <p:nvPr/>
        </p:nvSpPr>
        <p:spPr>
          <a:xfrm>
            <a:off x="1417320" y="372160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It works without being asked</a:t>
            </a:r>
            <a:endParaRPr lang="en-US" sz="1500" dirty="0"/>
          </a:p>
        </p:txBody>
      </p:sp>
      <p:sp>
        <p:nvSpPr>
          <p:cNvPr id="67" name="auto-b"/>
          <p:cNvSpPr txBox="1"/>
          <p:nvPr/>
        </p:nvSpPr>
        <p:spPr>
          <a:xfrm>
            <a:off x="1417320" y="4041648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5E4"/>
                </a:solidFill>
              </a:rPr>
              <a:t>Morning brief · urgent-mail alerts · meeting prep · follow-up nudges · price-drop alerts · weekly review — delivered on WhatsApp or Telegram.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You stay in control</a:t>
            </a:r>
            <a:endParaRPr lang="en-US" sz="3200" dirty="0"/>
          </a:p>
        </p:txBody>
      </p:sp>
      <p:sp>
        <p:nvSpPr>
          <p:cNvPr id="3" name="ctl-0"/>
          <p:cNvSpPr/>
          <p:nvPr/>
        </p:nvSpPr>
        <p:spPr>
          <a:xfrm>
            <a:off x="457200" y="1188720"/>
            <a:ext cx="2615184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4" name="circle-ctl-0"/>
          <p:cNvSpPr/>
          <p:nvPr/>
        </p:nvSpPr>
        <p:spPr>
          <a:xfrm>
            <a:off x="685800" y="1417320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con-ctl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536192"/>
            <a:ext cx="237744" cy="237744"/>
          </a:xfrm>
          <a:prstGeom prst="rect">
            <a:avLst/>
          </a:prstGeom>
        </p:spPr>
      </p:pic>
      <p:sp>
        <p:nvSpPr>
          <p:cNvPr id="6" name="ctl-h-0"/>
          <p:cNvSpPr txBox="1"/>
          <p:nvPr/>
        </p:nvSpPr>
        <p:spPr>
          <a:xfrm>
            <a:off x="1280160" y="14173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Approval before action</a:t>
            </a:r>
            <a:endParaRPr lang="en-US" sz="1400" dirty="0"/>
          </a:p>
        </p:txBody>
      </p:sp>
      <p:sp>
        <p:nvSpPr>
          <p:cNvPr id="7" name="ctl-b-0"/>
          <p:cNvSpPr txBox="1"/>
          <p:nvPr/>
        </p:nvSpPr>
        <p:spPr>
          <a:xfrm>
            <a:off x="685800" y="20116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Sending email, deleting, or any tool you choose waits for a person to approve.</a:t>
            </a:r>
            <a:endParaRPr lang="en-US" sz="1200" dirty="0"/>
          </a:p>
        </p:txBody>
      </p:sp>
      <p:sp>
        <p:nvSpPr>
          <p:cNvPr id="8" name="ctl-1"/>
          <p:cNvSpPr/>
          <p:nvPr/>
        </p:nvSpPr>
        <p:spPr>
          <a:xfrm>
            <a:off x="3273552" y="1188720"/>
            <a:ext cx="2615184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9" name="circle-ctl-1"/>
          <p:cNvSpPr/>
          <p:nvPr/>
        </p:nvSpPr>
        <p:spPr>
          <a:xfrm>
            <a:off x="3502152" y="1417320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con-ctl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1536192"/>
            <a:ext cx="237744" cy="237744"/>
          </a:xfrm>
          <a:prstGeom prst="rect">
            <a:avLst/>
          </a:prstGeom>
        </p:spPr>
      </p:pic>
      <p:sp>
        <p:nvSpPr>
          <p:cNvPr id="11" name="ctl-h-1"/>
          <p:cNvSpPr txBox="1"/>
          <p:nvPr/>
        </p:nvSpPr>
        <p:spPr>
          <a:xfrm>
            <a:off x="4096512" y="14173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Customers stay in their lane</a:t>
            </a:r>
            <a:endParaRPr lang="en-US" sz="1400" dirty="0"/>
          </a:p>
        </p:txBody>
      </p:sp>
      <p:sp>
        <p:nvSpPr>
          <p:cNvPr id="12" name="ctl-b-1"/>
          <p:cNvSpPr txBox="1"/>
          <p:nvPr/>
        </p:nvSpPr>
        <p:spPr>
          <a:xfrm>
            <a:off x="3502152" y="20116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Customer chats can only use safe tools — never your mailbox, tasks or files.</a:t>
            </a:r>
            <a:endParaRPr lang="en-US" sz="1200" dirty="0"/>
          </a:p>
        </p:txBody>
      </p:sp>
      <p:sp>
        <p:nvSpPr>
          <p:cNvPr id="13" name="ctl-2"/>
          <p:cNvSpPr/>
          <p:nvPr/>
        </p:nvSpPr>
        <p:spPr>
          <a:xfrm>
            <a:off x="6089904" y="1188720"/>
            <a:ext cx="2615184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4" name="circle-ctl-2"/>
          <p:cNvSpPr/>
          <p:nvPr/>
        </p:nvSpPr>
        <p:spPr>
          <a:xfrm>
            <a:off x="6318504" y="1417320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con-ctl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1536192"/>
            <a:ext cx="237744" cy="237744"/>
          </a:xfrm>
          <a:prstGeom prst="rect">
            <a:avLst/>
          </a:prstGeom>
        </p:spPr>
      </p:pic>
      <p:sp>
        <p:nvSpPr>
          <p:cNvPr id="16" name="ctl-h-2"/>
          <p:cNvSpPr txBox="1"/>
          <p:nvPr/>
        </p:nvSpPr>
        <p:spPr>
          <a:xfrm>
            <a:off x="6912864" y="14173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Roles for your team</a:t>
            </a:r>
            <a:endParaRPr lang="en-US" sz="1400" dirty="0"/>
          </a:p>
        </p:txBody>
      </p:sp>
      <p:sp>
        <p:nvSpPr>
          <p:cNvPr id="17" name="ctl-b-2"/>
          <p:cNvSpPr txBox="1"/>
          <p:nvPr/>
        </p:nvSpPr>
        <p:spPr>
          <a:xfrm>
            <a:off x="6318504" y="20116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Owner, admin, agent and member. Invite links that expire after 7 days.</a:t>
            </a:r>
            <a:endParaRPr lang="en-US" sz="1200" dirty="0"/>
          </a:p>
        </p:txBody>
      </p:sp>
      <p:sp>
        <p:nvSpPr>
          <p:cNvPr id="18" name="ctl-3"/>
          <p:cNvSpPr/>
          <p:nvPr/>
        </p:nvSpPr>
        <p:spPr>
          <a:xfrm>
            <a:off x="457200" y="2907792"/>
            <a:ext cx="2615184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9" name="circle-ctl-3"/>
          <p:cNvSpPr/>
          <p:nvPr/>
        </p:nvSpPr>
        <p:spPr>
          <a:xfrm>
            <a:off x="685800" y="3136392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con-ctl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255264"/>
            <a:ext cx="237744" cy="237744"/>
          </a:xfrm>
          <a:prstGeom prst="rect">
            <a:avLst/>
          </a:prstGeom>
        </p:spPr>
      </p:pic>
      <p:sp>
        <p:nvSpPr>
          <p:cNvPr id="21" name="ctl-h-3"/>
          <p:cNvSpPr txBox="1"/>
          <p:nvPr/>
        </p:nvSpPr>
        <p:spPr>
          <a:xfrm>
            <a:off x="1280160" y="31363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Full audit log</a:t>
            </a:r>
            <a:endParaRPr lang="en-US" sz="1400" dirty="0"/>
          </a:p>
        </p:txBody>
      </p:sp>
      <p:sp>
        <p:nvSpPr>
          <p:cNvPr id="22" name="ctl-b-3"/>
          <p:cNvSpPr txBox="1"/>
          <p:nvPr/>
        </p:nvSpPr>
        <p:spPr>
          <a:xfrm>
            <a:off x="685800" y="373075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Every action, take-over and reply is recorded and searchable.</a:t>
            </a:r>
            <a:endParaRPr lang="en-US" sz="1200" dirty="0"/>
          </a:p>
        </p:txBody>
      </p:sp>
      <p:sp>
        <p:nvSpPr>
          <p:cNvPr id="23" name="ctl-4"/>
          <p:cNvSpPr/>
          <p:nvPr/>
        </p:nvSpPr>
        <p:spPr>
          <a:xfrm>
            <a:off x="3273552" y="2907792"/>
            <a:ext cx="2615184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24" name="circle-ctl-4"/>
          <p:cNvSpPr/>
          <p:nvPr/>
        </p:nvSpPr>
        <p:spPr>
          <a:xfrm>
            <a:off x="3502152" y="3136392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icon-ctl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1024" y="3255264"/>
            <a:ext cx="237744" cy="237744"/>
          </a:xfrm>
          <a:prstGeom prst="rect">
            <a:avLst/>
          </a:prstGeom>
        </p:spPr>
      </p:pic>
      <p:sp>
        <p:nvSpPr>
          <p:cNvPr id="26" name="ctl-h-4"/>
          <p:cNvSpPr txBox="1"/>
          <p:nvPr/>
        </p:nvSpPr>
        <p:spPr>
          <a:xfrm>
            <a:off x="4096512" y="31363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Your data, kept separate</a:t>
            </a:r>
            <a:endParaRPr lang="en-US" sz="1400" dirty="0"/>
          </a:p>
        </p:txBody>
      </p:sp>
      <p:sp>
        <p:nvSpPr>
          <p:cNvPr id="27" name="ctl-b-4"/>
          <p:cNvSpPr txBox="1"/>
          <p:nvPr/>
        </p:nvSpPr>
        <p:spPr>
          <a:xfrm>
            <a:off x="3502152" y="373075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Documents and conversations are isolated per organisation.</a:t>
            </a:r>
            <a:endParaRPr lang="en-US" sz="1200" dirty="0"/>
          </a:p>
        </p:txBody>
      </p:sp>
      <p:sp>
        <p:nvSpPr>
          <p:cNvPr id="28" name="ctl-5"/>
          <p:cNvSpPr/>
          <p:nvPr/>
        </p:nvSpPr>
        <p:spPr>
          <a:xfrm>
            <a:off x="6089904" y="2907792"/>
            <a:ext cx="2615184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29" name="circle-ctl-5"/>
          <p:cNvSpPr/>
          <p:nvPr/>
        </p:nvSpPr>
        <p:spPr>
          <a:xfrm>
            <a:off x="6318504" y="3136392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icon-ctl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7376" y="3255264"/>
            <a:ext cx="237744" cy="237744"/>
          </a:xfrm>
          <a:prstGeom prst="rect">
            <a:avLst/>
          </a:prstGeom>
        </p:spPr>
      </p:pic>
      <p:sp>
        <p:nvSpPr>
          <p:cNvPr id="31" name="ctl-h-5"/>
          <p:cNvSpPr txBox="1"/>
          <p:nvPr/>
        </p:nvSpPr>
        <p:spPr>
          <a:xfrm>
            <a:off x="6912864" y="31363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Your own AI account</a:t>
            </a:r>
            <a:endParaRPr lang="en-US" sz="1400" dirty="0"/>
          </a:p>
        </p:txBody>
      </p:sp>
      <p:sp>
        <p:nvSpPr>
          <p:cNvPr id="32" name="ctl-b-5"/>
          <p:cNvSpPr txBox="1"/>
          <p:nvPr/>
        </p:nvSpPr>
        <p:spPr>
          <a:xfrm>
            <a:off x="6318504" y="373075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Optionally use your own OpenAI key, stored encrypted.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Always on, safely hosted</a:t>
            </a:r>
            <a:endParaRPr lang="en-US" sz="3200" dirty="0"/>
          </a:p>
        </p:txBody>
      </p:sp>
      <p:sp>
        <p:nvSpPr>
          <p:cNvPr id="3" name="host-0"/>
          <p:cNvSpPr/>
          <p:nvPr/>
        </p:nvSpPr>
        <p:spPr>
          <a:xfrm>
            <a:off x="457200" y="1188720"/>
            <a:ext cx="1828800" cy="196596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4" name="circle-host-0"/>
          <p:cNvSpPr/>
          <p:nvPr/>
        </p:nvSpPr>
        <p:spPr>
          <a:xfrm>
            <a:off x="1097280" y="132588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icon-host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463040"/>
            <a:ext cx="274320" cy="274320"/>
          </a:xfrm>
          <a:prstGeom prst="rect">
            <a:avLst/>
          </a:prstGeom>
        </p:spPr>
      </p:pic>
      <p:sp>
        <p:nvSpPr>
          <p:cNvPr id="6" name="host-h-0"/>
          <p:cNvSpPr txBox="1"/>
          <p:nvPr/>
        </p:nvSpPr>
        <p:spPr>
          <a:xfrm>
            <a:off x="566928" y="196596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Customers &amp; team</a:t>
            </a:r>
            <a:endParaRPr lang="en-US" sz="1400" dirty="0"/>
          </a:p>
        </p:txBody>
      </p:sp>
      <p:sp>
        <p:nvSpPr>
          <p:cNvPr id="7" name="host-b-0"/>
          <p:cNvSpPr txBox="1"/>
          <p:nvPr/>
        </p:nvSpPr>
        <p:spPr>
          <a:xfrm>
            <a:off x="594360" y="2304288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WhatsApp, Telegram and the web app — from any phone or browser.</a:t>
            </a:r>
            <a:endParaRPr lang="en-US" sz="1100" dirty="0"/>
          </a:p>
        </p:txBody>
      </p:sp>
      <p:sp>
        <p:nvSpPr>
          <p:cNvPr id="8" name="host-arrow-0"/>
          <p:cNvSpPr/>
          <p:nvPr/>
        </p:nvSpPr>
        <p:spPr>
          <a:xfrm>
            <a:off x="2313432" y="2167128"/>
            <a:ext cx="237744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9" name="host-1"/>
          <p:cNvSpPr/>
          <p:nvPr/>
        </p:nvSpPr>
        <p:spPr>
          <a:xfrm>
            <a:off x="2578608" y="1188720"/>
            <a:ext cx="1828800" cy="196596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0" name="circle-host-1"/>
          <p:cNvSpPr/>
          <p:nvPr/>
        </p:nvSpPr>
        <p:spPr>
          <a:xfrm>
            <a:off x="3218688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host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463040"/>
            <a:ext cx="274320" cy="274320"/>
          </a:xfrm>
          <a:prstGeom prst="rect">
            <a:avLst/>
          </a:prstGeom>
        </p:spPr>
      </p:pic>
      <p:sp>
        <p:nvSpPr>
          <p:cNvPr id="12" name="host-h-1"/>
          <p:cNvSpPr txBox="1"/>
          <p:nvPr/>
        </p:nvSpPr>
        <p:spPr>
          <a:xfrm>
            <a:off x="2688336" y="196596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One secure entrance</a:t>
            </a:r>
            <a:endParaRPr lang="en-US" sz="1400" dirty="0"/>
          </a:p>
        </p:txBody>
      </p:sp>
      <p:sp>
        <p:nvSpPr>
          <p:cNvPr id="13" name="host-b-1"/>
          <p:cNvSpPr txBox="1"/>
          <p:nvPr/>
        </p:nvSpPr>
        <p:spPr>
          <a:xfrm>
            <a:off x="2715768" y="2304288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Encrypted HTTPS only. Nothing else on the server is reachable from the internet.</a:t>
            </a:r>
            <a:endParaRPr lang="en-US" sz="1100" dirty="0"/>
          </a:p>
        </p:txBody>
      </p:sp>
      <p:sp>
        <p:nvSpPr>
          <p:cNvPr id="14" name="host-arrow-1"/>
          <p:cNvSpPr/>
          <p:nvPr/>
        </p:nvSpPr>
        <p:spPr>
          <a:xfrm>
            <a:off x="4434840" y="2167128"/>
            <a:ext cx="237744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5" name="host-2"/>
          <p:cNvSpPr/>
          <p:nvPr/>
        </p:nvSpPr>
        <p:spPr>
          <a:xfrm>
            <a:off x="4700016" y="1188720"/>
            <a:ext cx="1828800" cy="196596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6" name="circle-host-2"/>
          <p:cNvSpPr/>
          <p:nvPr/>
        </p:nvSpPr>
        <p:spPr>
          <a:xfrm>
            <a:off x="5340096" y="13258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con-host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256" y="1463040"/>
            <a:ext cx="274320" cy="274320"/>
          </a:xfrm>
          <a:prstGeom prst="rect">
            <a:avLst/>
          </a:prstGeom>
        </p:spPr>
      </p:pic>
      <p:sp>
        <p:nvSpPr>
          <p:cNvPr id="18" name="host-h-2"/>
          <p:cNvSpPr txBox="1"/>
          <p:nvPr/>
        </p:nvSpPr>
        <p:spPr>
          <a:xfrm>
            <a:off x="4809744" y="196596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SwarmAI</a:t>
            </a:r>
            <a:endParaRPr lang="en-US" sz="1400" dirty="0"/>
          </a:p>
        </p:txBody>
      </p:sp>
      <p:sp>
        <p:nvSpPr>
          <p:cNvPr id="19" name="host-b-2"/>
          <p:cNvSpPr txBox="1"/>
          <p:nvPr/>
        </p:nvSpPr>
        <p:spPr>
          <a:xfrm>
            <a:off x="4837176" y="2304288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AI agents, workflows and your data on a private network inside the server.</a:t>
            </a:r>
            <a:endParaRPr lang="en-US" sz="1100" dirty="0"/>
          </a:p>
        </p:txBody>
      </p:sp>
      <p:sp>
        <p:nvSpPr>
          <p:cNvPr id="20" name="host-arrow-2"/>
          <p:cNvSpPr/>
          <p:nvPr/>
        </p:nvSpPr>
        <p:spPr>
          <a:xfrm>
            <a:off x="6556248" y="2167128"/>
            <a:ext cx="237744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1" name="host-3"/>
          <p:cNvSpPr/>
          <p:nvPr/>
        </p:nvSpPr>
        <p:spPr>
          <a:xfrm>
            <a:off x="6821424" y="1188720"/>
            <a:ext cx="1828800" cy="196596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22" name="circle-host-3"/>
          <p:cNvSpPr/>
          <p:nvPr/>
        </p:nvSpPr>
        <p:spPr>
          <a:xfrm>
            <a:off x="7461504" y="13258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3" name="icon-host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8664" y="1463040"/>
            <a:ext cx="274320" cy="274320"/>
          </a:xfrm>
          <a:prstGeom prst="rect">
            <a:avLst/>
          </a:prstGeom>
        </p:spPr>
      </p:pic>
      <p:sp>
        <p:nvSpPr>
          <p:cNvPr id="24" name="host-h-3"/>
          <p:cNvSpPr txBox="1"/>
          <p:nvPr/>
        </p:nvSpPr>
        <p:spPr>
          <a:xfrm>
            <a:off x="6931152" y="196596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Backups &amp; alerts</a:t>
            </a:r>
            <a:endParaRPr lang="en-US" sz="1400" dirty="0"/>
          </a:p>
        </p:txBody>
      </p:sp>
      <p:sp>
        <p:nvSpPr>
          <p:cNvPr id="25" name="host-b-3"/>
          <p:cNvSpPr txBox="1"/>
          <p:nvPr/>
        </p:nvSpPr>
        <p:spPr>
          <a:xfrm>
            <a:off x="6958584" y="2304288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Every night, kept 14 days. Your team is told on Telegram if anything fails.</a:t>
            </a:r>
            <a:endParaRPr lang="en-US" sz="1100" dirty="0"/>
          </a:p>
        </p:txBody>
      </p:sp>
      <p:sp>
        <p:nvSpPr>
          <p:cNvPr id="26" name="hostpt-0"/>
          <p:cNvSpPr/>
          <p:nvPr/>
        </p:nvSpPr>
        <p:spPr>
          <a:xfrm>
            <a:off x="457200" y="3383280"/>
            <a:ext cx="2615184" cy="1143000"/>
          </a:xfrm>
          <a:prstGeom prst="roundRect">
            <a:avLst>
              <a:gd name="adj" fmla="val 9600"/>
            </a:avLst>
          </a:prstGeom>
          <a:solidFill>
            <a:schemeClr val="accent5"/>
          </a:solidFill>
          <a:ln/>
        </p:spPr>
      </p:sp>
      <p:sp>
        <p:nvSpPr>
          <p:cNvPr id="27" name="circle-hostpt-0"/>
          <p:cNvSpPr/>
          <p:nvPr/>
        </p:nvSpPr>
        <p:spPr>
          <a:xfrm>
            <a:off x="640080" y="35661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icon-hostpt-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671316"/>
            <a:ext cx="210312" cy="210312"/>
          </a:xfrm>
          <a:prstGeom prst="rect">
            <a:avLst/>
          </a:prstGeom>
        </p:spPr>
      </p:pic>
      <p:sp>
        <p:nvSpPr>
          <p:cNvPr id="29" name="hostpt-h-0"/>
          <p:cNvSpPr txBox="1"/>
          <p:nvPr/>
        </p:nvSpPr>
        <p:spPr>
          <a:xfrm>
            <a:off x="1170432" y="35204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Runs 24×7</a:t>
            </a:r>
            <a:endParaRPr lang="en-US" sz="1400" dirty="0"/>
          </a:p>
        </p:txBody>
      </p:sp>
      <p:sp>
        <p:nvSpPr>
          <p:cNvPr id="30" name="hostpt-b-0"/>
          <p:cNvSpPr txBox="1"/>
          <p:nvPr/>
        </p:nvSpPr>
        <p:spPr>
          <a:xfrm>
            <a:off x="1170432" y="3813048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 the cloud — restarts itself after a crash or reboot. Your laptop can be off.</a:t>
            </a:r>
            <a:endParaRPr lang="en-US" sz="1100" dirty="0"/>
          </a:p>
        </p:txBody>
      </p:sp>
      <p:sp>
        <p:nvSpPr>
          <p:cNvPr id="31" name="hostpt-1"/>
          <p:cNvSpPr/>
          <p:nvPr/>
        </p:nvSpPr>
        <p:spPr>
          <a:xfrm>
            <a:off x="3273552" y="3383280"/>
            <a:ext cx="2615184" cy="1143000"/>
          </a:xfrm>
          <a:prstGeom prst="roundRect">
            <a:avLst>
              <a:gd name="adj" fmla="val 9600"/>
            </a:avLst>
          </a:prstGeom>
          <a:solidFill>
            <a:schemeClr val="accent5"/>
          </a:solidFill>
          <a:ln/>
        </p:spPr>
      </p:sp>
      <p:sp>
        <p:nvSpPr>
          <p:cNvPr id="32" name="circle-hostpt-1"/>
          <p:cNvSpPr/>
          <p:nvPr/>
        </p:nvSpPr>
        <p:spPr>
          <a:xfrm>
            <a:off x="3456432" y="35661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3" name="icon-hostpt-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1588" y="3671316"/>
            <a:ext cx="210312" cy="210312"/>
          </a:xfrm>
          <a:prstGeom prst="rect">
            <a:avLst/>
          </a:prstGeom>
        </p:spPr>
      </p:pic>
      <p:sp>
        <p:nvSpPr>
          <p:cNvPr id="34" name="hostpt-h-1"/>
          <p:cNvSpPr txBox="1"/>
          <p:nvPr/>
        </p:nvSpPr>
        <p:spPr>
          <a:xfrm>
            <a:off x="3986784" y="35204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Invite-only access</a:t>
            </a:r>
            <a:endParaRPr lang="en-US" sz="1400" dirty="0"/>
          </a:p>
        </p:txBody>
      </p:sp>
      <p:sp>
        <p:nvSpPr>
          <p:cNvPr id="35" name="hostpt-b-1"/>
          <p:cNvSpPr txBox="1"/>
          <p:nvPr/>
        </p:nvSpPr>
        <p:spPr>
          <a:xfrm>
            <a:off x="3986784" y="3813048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Only people you invite can create an account on your SwarmAI.</a:t>
            </a:r>
            <a:endParaRPr lang="en-US" sz="1100" dirty="0"/>
          </a:p>
        </p:txBody>
      </p:sp>
      <p:sp>
        <p:nvSpPr>
          <p:cNvPr id="36" name="hostpt-2"/>
          <p:cNvSpPr/>
          <p:nvPr/>
        </p:nvSpPr>
        <p:spPr>
          <a:xfrm>
            <a:off x="6089904" y="3383280"/>
            <a:ext cx="2615184" cy="1143000"/>
          </a:xfrm>
          <a:prstGeom prst="roundRect">
            <a:avLst>
              <a:gd name="adj" fmla="val 9600"/>
            </a:avLst>
          </a:prstGeom>
          <a:solidFill>
            <a:schemeClr val="accent5"/>
          </a:solidFill>
          <a:ln/>
        </p:spPr>
      </p:sp>
      <p:sp>
        <p:nvSpPr>
          <p:cNvPr id="37" name="circle-hostpt-2"/>
          <p:cNvSpPr/>
          <p:nvPr/>
        </p:nvSpPr>
        <p:spPr>
          <a:xfrm>
            <a:off x="6272784" y="35661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8" name="icon-hostpt-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7940" y="3671316"/>
            <a:ext cx="210312" cy="210312"/>
          </a:xfrm>
          <a:prstGeom prst="rect">
            <a:avLst/>
          </a:prstGeom>
        </p:spPr>
      </p:pic>
      <p:sp>
        <p:nvSpPr>
          <p:cNvPr id="39" name="hostpt-h-2"/>
          <p:cNvSpPr txBox="1"/>
          <p:nvPr/>
        </p:nvSpPr>
        <p:spPr>
          <a:xfrm>
            <a:off x="6803136" y="35204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Or in your own cloud</a:t>
            </a:r>
            <a:endParaRPr lang="en-US" sz="1400" dirty="0"/>
          </a:p>
        </p:txBody>
      </p:sp>
      <p:sp>
        <p:nvSpPr>
          <p:cNvPr id="40" name="hostpt-b-2"/>
          <p:cNvSpPr txBox="1"/>
          <p:nvPr/>
        </p:nvSpPr>
        <p:spPr>
          <a:xfrm>
            <a:off x="6803136" y="3813048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The same setup runs on your server with your own AI account.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Set up without writing code</a:t>
            </a:r>
            <a:endParaRPr lang="en-US" sz="3200" dirty="0"/>
          </a:p>
        </p:txBody>
      </p:sp>
      <p:pic>
        <p:nvPicPr>
          <p:cNvPr id="3" name="admin-shot" descr="Admin console agents page with on/off switches and per-agent settin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754880" cy="326898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pic>
        <p:nvPicPr>
          <p:cNvPr id="4" name="admin-check-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298448"/>
            <a:ext cx="237744" cy="237744"/>
          </a:xfrm>
          <a:prstGeom prst="rect">
            <a:avLst/>
          </a:prstGeom>
        </p:spPr>
      </p:pic>
      <p:sp>
        <p:nvSpPr>
          <p:cNvPr id="5" name="admin-item-0"/>
          <p:cNvSpPr txBox="1"/>
          <p:nvPr/>
        </p:nvSpPr>
        <p:spPr>
          <a:xfrm>
            <a:off x="5897880" y="12344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Switch agents on or off</a:t>
            </a:r>
            <a:endParaRPr lang="en-US" sz="1300" dirty="0"/>
          </a:p>
        </p:txBody>
      </p:sp>
      <p:pic>
        <p:nvPicPr>
          <p:cNvPr id="6" name="admin-check-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773936"/>
            <a:ext cx="237744" cy="237744"/>
          </a:xfrm>
          <a:prstGeom prst="rect">
            <a:avLst/>
          </a:prstGeom>
        </p:spPr>
      </p:pic>
      <p:sp>
        <p:nvSpPr>
          <p:cNvPr id="7" name="admin-item-1"/>
          <p:cNvSpPr txBox="1"/>
          <p:nvPr/>
        </p:nvSpPr>
        <p:spPr>
          <a:xfrm>
            <a:off x="5897880" y="170992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Add house rules: tone, language, what never to say</a:t>
            </a:r>
            <a:endParaRPr lang="en-US" sz="1300" dirty="0"/>
          </a:p>
        </p:txBody>
      </p:sp>
      <p:pic>
        <p:nvPicPr>
          <p:cNvPr id="8" name="admin-check-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249424"/>
            <a:ext cx="237744" cy="237744"/>
          </a:xfrm>
          <a:prstGeom prst="rect">
            <a:avLst/>
          </a:prstGeom>
        </p:spPr>
      </p:pic>
      <p:sp>
        <p:nvSpPr>
          <p:cNvPr id="9" name="admin-item-2"/>
          <p:cNvSpPr txBox="1"/>
          <p:nvPr/>
        </p:nvSpPr>
        <p:spPr>
          <a:xfrm>
            <a:off x="5897880" y="2185416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Choose models and which tools need approval</a:t>
            </a:r>
            <a:endParaRPr lang="en-US" sz="1300" dirty="0"/>
          </a:p>
        </p:txBody>
      </p:sp>
      <p:pic>
        <p:nvPicPr>
          <p:cNvPr id="10" name="admin-check-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724912"/>
            <a:ext cx="237744" cy="237744"/>
          </a:xfrm>
          <a:prstGeom prst="rect">
            <a:avLst/>
          </a:prstGeom>
        </p:spPr>
      </p:pic>
      <p:sp>
        <p:nvSpPr>
          <p:cNvPr id="11" name="admin-item-3"/>
          <p:cNvSpPr txBox="1"/>
          <p:nvPr/>
        </p:nvSpPr>
        <p:spPr>
          <a:xfrm>
            <a:off x="5897880" y="2660904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Create your own agents</a:t>
            </a:r>
            <a:endParaRPr lang="en-US" sz="1300" dirty="0"/>
          </a:p>
        </p:txBody>
      </p:sp>
      <p:pic>
        <p:nvPicPr>
          <p:cNvPr id="12" name="admin-check-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3200400"/>
            <a:ext cx="237744" cy="237744"/>
          </a:xfrm>
          <a:prstGeom prst="rect">
            <a:avLst/>
          </a:prstGeom>
        </p:spPr>
      </p:pic>
      <p:sp>
        <p:nvSpPr>
          <p:cNvPr id="13" name="admin-item-4"/>
          <p:cNvSpPr txBox="1"/>
          <p:nvPr/>
        </p:nvSpPr>
        <p:spPr>
          <a:xfrm>
            <a:off x="5897880" y="313639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Apply an industry pack in one click</a:t>
            </a:r>
            <a:endParaRPr lang="en-US" sz="1300" dirty="0"/>
          </a:p>
        </p:txBody>
      </p:sp>
      <p:pic>
        <p:nvPicPr>
          <p:cNvPr id="14" name="admin-check-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3675888"/>
            <a:ext cx="237744" cy="237744"/>
          </a:xfrm>
          <a:prstGeom prst="rect">
            <a:avLst/>
          </a:prstGeom>
        </p:spPr>
      </p:pic>
      <p:sp>
        <p:nvSpPr>
          <p:cNvPr id="15" name="admin-item-5"/>
          <p:cNvSpPr txBox="1"/>
          <p:nvPr/>
        </p:nvSpPr>
        <p:spPr>
          <a:xfrm>
            <a:off x="5897880" y="36118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Invite your team and set roles</a:t>
            </a:r>
            <a:endParaRPr lang="en-US" sz="1300" dirty="0"/>
          </a:p>
        </p:txBody>
      </p:sp>
      <p:pic>
        <p:nvPicPr>
          <p:cNvPr id="16" name="admin-check-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2120" y="4151376"/>
            <a:ext cx="237744" cy="237744"/>
          </a:xfrm>
          <a:prstGeom prst="rect">
            <a:avLst/>
          </a:prstGeom>
        </p:spPr>
      </p:pic>
      <p:sp>
        <p:nvSpPr>
          <p:cNvPr id="17" name="admin-item-6"/>
          <p:cNvSpPr txBox="1"/>
          <p:nvPr/>
        </p:nvSpPr>
        <p:spPr>
          <a:xfrm>
            <a:off x="5897880" y="408736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See usage, approvals and the audit log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Ready-made industry packs</a:t>
            </a:r>
            <a:endParaRPr lang="en-US" sz="3200" dirty="0"/>
          </a:p>
        </p:txBody>
      </p:sp>
      <p:sp>
        <p:nvSpPr>
          <p:cNvPr id="3" name="packs-now"/>
          <p:cNvSpPr txBox="1"/>
          <p:nvPr/>
        </p:nvSpPr>
        <p:spPr>
          <a:xfrm>
            <a:off x="45720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AVAILABLE NOW</a:t>
            </a:r>
            <a:endParaRPr lang="en-US" sz="1100" dirty="0"/>
          </a:p>
        </p:txBody>
      </p:sp>
      <p:sp>
        <p:nvSpPr>
          <p:cNvPr id="4" name="pack-0"/>
          <p:cNvSpPr/>
          <p:nvPr/>
        </p:nvSpPr>
        <p:spPr>
          <a:xfrm>
            <a:off x="457200" y="1463040"/>
            <a:ext cx="4663440" cy="1426464"/>
          </a:xfrm>
          <a:prstGeom prst="roundRect">
            <a:avLst>
              <a:gd name="adj" fmla="val 7692"/>
            </a:avLst>
          </a:prstGeom>
          <a:solidFill>
            <a:schemeClr val="accent6"/>
          </a:solidFill>
          <a:ln/>
        </p:spPr>
      </p:sp>
      <p:sp>
        <p:nvSpPr>
          <p:cNvPr id="5" name="circle-pack-0"/>
          <p:cNvSpPr/>
          <p:nvPr/>
        </p:nvSpPr>
        <p:spPr>
          <a:xfrm>
            <a:off x="658368" y="1664208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con-pack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801368"/>
            <a:ext cx="274320" cy="274320"/>
          </a:xfrm>
          <a:prstGeom prst="rect">
            <a:avLst/>
          </a:prstGeom>
        </p:spPr>
      </p:pic>
      <p:sp>
        <p:nvSpPr>
          <p:cNvPr id="7" name="pack-h-0"/>
          <p:cNvSpPr txBox="1"/>
          <p:nvPr/>
        </p:nvSpPr>
        <p:spPr>
          <a:xfrm>
            <a:off x="1371600" y="162763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WhatsApp Support Desk</a:t>
            </a:r>
            <a:endParaRPr lang="en-US" sz="1600" dirty="0"/>
          </a:p>
        </p:txBody>
      </p:sp>
      <p:sp>
        <p:nvSpPr>
          <p:cNvPr id="8" name="pack-b-0"/>
          <p:cNvSpPr txBox="1"/>
          <p:nvPr/>
        </p:nvSpPr>
        <p:spPr>
          <a:xfrm>
            <a:off x="1371600" y="196596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Product, order and policy questions answered from your documents. Complaints, refunds and cancellations go straight to your team with the order details collected.</a:t>
            </a:r>
            <a:endParaRPr lang="en-US" sz="1200" dirty="0"/>
          </a:p>
        </p:txBody>
      </p:sp>
      <p:sp>
        <p:nvSpPr>
          <p:cNvPr id="9" name="pack-1"/>
          <p:cNvSpPr/>
          <p:nvPr/>
        </p:nvSpPr>
        <p:spPr>
          <a:xfrm>
            <a:off x="457200" y="3035808"/>
            <a:ext cx="4663440" cy="1426464"/>
          </a:xfrm>
          <a:prstGeom prst="roundRect">
            <a:avLst>
              <a:gd name="adj" fmla="val 7692"/>
            </a:avLst>
          </a:prstGeom>
          <a:solidFill>
            <a:schemeClr val="accent6"/>
          </a:solidFill>
          <a:ln/>
        </p:spPr>
      </p:sp>
      <p:sp>
        <p:nvSpPr>
          <p:cNvPr id="10" name="circle-pack-1"/>
          <p:cNvSpPr/>
          <p:nvPr/>
        </p:nvSpPr>
        <p:spPr>
          <a:xfrm>
            <a:off x="658368" y="3236976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con-pack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3374136"/>
            <a:ext cx="274320" cy="274320"/>
          </a:xfrm>
          <a:prstGeom prst="rect">
            <a:avLst/>
          </a:prstGeom>
        </p:spPr>
      </p:pic>
      <p:sp>
        <p:nvSpPr>
          <p:cNvPr id="12" name="pack-h-1"/>
          <p:cNvSpPr txBox="1"/>
          <p:nvPr/>
        </p:nvSpPr>
        <p:spPr>
          <a:xfrm>
            <a:off x="1371600" y="32004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Clinic Front Desk</a:t>
            </a:r>
            <a:endParaRPr lang="en-US" sz="1600" dirty="0"/>
          </a:p>
        </p:txBody>
      </p:sp>
      <p:sp>
        <p:nvSpPr>
          <p:cNvPr id="13" name="pack-b-1"/>
          <p:cNvSpPr txBox="1"/>
          <p:nvPr/>
        </p:nvSpPr>
        <p:spPr>
          <a:xfrm>
            <a:off x="1371600" y="3538728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Timings, fees, doctors and test preparation. Never gives medical advice. Appointment requests go to the front desk; emergencies get the 112 message.</a:t>
            </a:r>
            <a:endParaRPr lang="en-US" sz="1200" dirty="0"/>
          </a:p>
        </p:txBody>
      </p:sp>
      <p:sp>
        <p:nvSpPr>
          <p:cNvPr id="14" name="packs-next"/>
          <p:cNvSpPr txBox="1"/>
          <p:nvPr/>
        </p:nvSpPr>
        <p:spPr>
          <a:xfrm>
            <a:off x="548640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ON THE ROADMAP</a:t>
            </a:r>
            <a:endParaRPr lang="en-US" sz="1100" dirty="0"/>
          </a:p>
        </p:txBody>
      </p:sp>
      <p:sp>
        <p:nvSpPr>
          <p:cNvPr id="15" name="next-0"/>
          <p:cNvSpPr/>
          <p:nvPr/>
        </p:nvSpPr>
        <p:spPr>
          <a:xfrm>
            <a:off x="5486400" y="1463040"/>
            <a:ext cx="3200400" cy="411480"/>
          </a:xfrm>
          <a:prstGeom prst="roundRect">
            <a:avLst>
              <a:gd name="adj" fmla="val 26667"/>
            </a:avLst>
          </a:prstGeom>
          <a:solidFill>
            <a:schemeClr val="bg2"/>
          </a:solidFill>
          <a:ln/>
        </p:spPr>
      </p:sp>
      <p:pic>
        <p:nvPicPr>
          <p:cNvPr id="16" name="next-icon-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48" y="1554480"/>
            <a:ext cx="228600" cy="228600"/>
          </a:xfrm>
          <a:prstGeom prst="rect">
            <a:avLst/>
          </a:prstGeom>
        </p:spPr>
      </p:pic>
      <p:sp>
        <p:nvSpPr>
          <p:cNvPr id="17" name="next-t-0"/>
          <p:cNvSpPr txBox="1"/>
          <p:nvPr/>
        </p:nvSpPr>
        <p:spPr>
          <a:xfrm>
            <a:off x="6035040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Sales &amp; leads</a:t>
            </a:r>
            <a:endParaRPr lang="en-US" sz="1300" dirty="0"/>
          </a:p>
        </p:txBody>
      </p:sp>
      <p:sp>
        <p:nvSpPr>
          <p:cNvPr id="18" name="next-1"/>
          <p:cNvSpPr/>
          <p:nvPr/>
        </p:nvSpPr>
        <p:spPr>
          <a:xfrm>
            <a:off x="5486400" y="1970532"/>
            <a:ext cx="3200400" cy="411480"/>
          </a:xfrm>
          <a:prstGeom prst="roundRect">
            <a:avLst>
              <a:gd name="adj" fmla="val 26667"/>
            </a:avLst>
          </a:prstGeom>
          <a:solidFill>
            <a:schemeClr val="bg2"/>
          </a:solidFill>
          <a:ln/>
        </p:spPr>
      </p:sp>
      <p:pic>
        <p:nvPicPr>
          <p:cNvPr id="19" name="next-icon-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1848" y="2061972"/>
            <a:ext cx="228600" cy="228600"/>
          </a:xfrm>
          <a:prstGeom prst="rect">
            <a:avLst/>
          </a:prstGeom>
        </p:spPr>
      </p:pic>
      <p:sp>
        <p:nvSpPr>
          <p:cNvPr id="20" name="next-t-1"/>
          <p:cNvSpPr txBox="1"/>
          <p:nvPr/>
        </p:nvSpPr>
        <p:spPr>
          <a:xfrm>
            <a:off x="6035040" y="19705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Collections</a:t>
            </a:r>
            <a:endParaRPr lang="en-US" sz="1300" dirty="0"/>
          </a:p>
        </p:txBody>
      </p:sp>
      <p:sp>
        <p:nvSpPr>
          <p:cNvPr id="21" name="next-2"/>
          <p:cNvSpPr/>
          <p:nvPr/>
        </p:nvSpPr>
        <p:spPr>
          <a:xfrm>
            <a:off x="5486400" y="2478024"/>
            <a:ext cx="3200400" cy="411480"/>
          </a:xfrm>
          <a:prstGeom prst="roundRect">
            <a:avLst>
              <a:gd name="adj" fmla="val 26667"/>
            </a:avLst>
          </a:prstGeom>
          <a:solidFill>
            <a:schemeClr val="bg2"/>
          </a:solidFill>
          <a:ln/>
        </p:spPr>
      </p:sp>
      <p:pic>
        <p:nvPicPr>
          <p:cNvPr id="22" name="next-icon-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1848" y="2569464"/>
            <a:ext cx="228600" cy="228600"/>
          </a:xfrm>
          <a:prstGeom prst="rect">
            <a:avLst/>
          </a:prstGeom>
        </p:spPr>
      </p:pic>
      <p:sp>
        <p:nvSpPr>
          <p:cNvPr id="23" name="next-t-2"/>
          <p:cNvSpPr txBox="1"/>
          <p:nvPr/>
        </p:nvSpPr>
        <p:spPr>
          <a:xfrm>
            <a:off x="6035040" y="247802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HR &amp; hiring</a:t>
            </a:r>
            <a:endParaRPr lang="en-US" sz="1300" dirty="0"/>
          </a:p>
        </p:txBody>
      </p:sp>
      <p:sp>
        <p:nvSpPr>
          <p:cNvPr id="24" name="next-3"/>
          <p:cNvSpPr/>
          <p:nvPr/>
        </p:nvSpPr>
        <p:spPr>
          <a:xfrm>
            <a:off x="5486400" y="2985516"/>
            <a:ext cx="3200400" cy="411480"/>
          </a:xfrm>
          <a:prstGeom prst="roundRect">
            <a:avLst>
              <a:gd name="adj" fmla="val 26667"/>
            </a:avLst>
          </a:prstGeom>
          <a:solidFill>
            <a:schemeClr val="bg2"/>
          </a:solidFill>
          <a:ln/>
        </p:spPr>
      </p:sp>
      <p:pic>
        <p:nvPicPr>
          <p:cNvPr id="25" name="next-icon-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3076956"/>
            <a:ext cx="228600" cy="228600"/>
          </a:xfrm>
          <a:prstGeom prst="rect">
            <a:avLst/>
          </a:prstGeom>
        </p:spPr>
      </p:pic>
      <p:sp>
        <p:nvSpPr>
          <p:cNvPr id="26" name="next-t-3"/>
          <p:cNvSpPr txBox="1"/>
          <p:nvPr/>
        </p:nvSpPr>
        <p:spPr>
          <a:xfrm>
            <a:off x="6035040" y="298551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Real estate</a:t>
            </a:r>
            <a:endParaRPr lang="en-US" sz="1300" dirty="0"/>
          </a:p>
        </p:txBody>
      </p:sp>
      <p:sp>
        <p:nvSpPr>
          <p:cNvPr id="27" name="next-4"/>
          <p:cNvSpPr/>
          <p:nvPr/>
        </p:nvSpPr>
        <p:spPr>
          <a:xfrm>
            <a:off x="5486400" y="3493008"/>
            <a:ext cx="3200400" cy="411480"/>
          </a:xfrm>
          <a:prstGeom prst="roundRect">
            <a:avLst>
              <a:gd name="adj" fmla="val 26667"/>
            </a:avLst>
          </a:prstGeom>
          <a:solidFill>
            <a:schemeClr val="bg2"/>
          </a:solidFill>
          <a:ln/>
        </p:spPr>
      </p:sp>
      <p:pic>
        <p:nvPicPr>
          <p:cNvPr id="28" name="next-icon-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41848" y="3584448"/>
            <a:ext cx="228600" cy="228600"/>
          </a:xfrm>
          <a:prstGeom prst="rect">
            <a:avLst/>
          </a:prstGeom>
        </p:spPr>
      </p:pic>
      <p:sp>
        <p:nvSpPr>
          <p:cNvPr id="29" name="next-t-4"/>
          <p:cNvSpPr txBox="1"/>
          <p:nvPr/>
        </p:nvSpPr>
        <p:spPr>
          <a:xfrm>
            <a:off x="6035040" y="34930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Education</a:t>
            </a:r>
            <a:endParaRPr lang="en-US" sz="1300" dirty="0"/>
          </a:p>
        </p:txBody>
      </p:sp>
      <p:sp>
        <p:nvSpPr>
          <p:cNvPr id="30" name="next-5"/>
          <p:cNvSpPr/>
          <p:nvPr/>
        </p:nvSpPr>
        <p:spPr>
          <a:xfrm>
            <a:off x="5486400" y="4000500"/>
            <a:ext cx="3200400" cy="411480"/>
          </a:xfrm>
          <a:prstGeom prst="roundRect">
            <a:avLst>
              <a:gd name="adj" fmla="val 26667"/>
            </a:avLst>
          </a:prstGeom>
          <a:solidFill>
            <a:schemeClr val="bg2"/>
          </a:solidFill>
          <a:ln/>
        </p:spPr>
      </p:sp>
      <p:pic>
        <p:nvPicPr>
          <p:cNvPr id="31" name="next-icon-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41848" y="4091940"/>
            <a:ext cx="228600" cy="228600"/>
          </a:xfrm>
          <a:prstGeom prst="rect">
            <a:avLst/>
          </a:prstGeom>
        </p:spPr>
      </p:pic>
      <p:sp>
        <p:nvSpPr>
          <p:cNvPr id="32" name="next-t-5"/>
          <p:cNvSpPr txBox="1"/>
          <p:nvPr/>
        </p:nvSpPr>
        <p:spPr>
          <a:xfrm>
            <a:off x="6035040" y="40005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D2C commerce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Live in four weeks</a:t>
            </a:r>
            <a:endParaRPr lang="en-US" sz="3200" dirty="0"/>
          </a:p>
        </p:txBody>
      </p:sp>
      <p:sp>
        <p:nvSpPr>
          <p:cNvPr id="3" name="timeline"/>
          <p:cNvSpPr/>
          <p:nvPr/>
        </p:nvSpPr>
        <p:spPr>
          <a:xfrm>
            <a:off x="777240" y="1481328"/>
            <a:ext cx="630936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4" name="dot-0"/>
          <p:cNvSpPr/>
          <p:nvPr/>
        </p:nvSpPr>
        <p:spPr>
          <a:xfrm>
            <a:off x="640080" y="1344168"/>
            <a:ext cx="274320" cy="27432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" name="wk-0"/>
          <p:cNvSpPr txBox="1"/>
          <p:nvPr/>
        </p:nvSpPr>
        <p:spPr>
          <a:xfrm>
            <a:off x="457200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Week 1</a:t>
            </a:r>
            <a:endParaRPr lang="en-US" sz="1200" dirty="0"/>
          </a:p>
        </p:txBody>
      </p:sp>
      <p:sp>
        <p:nvSpPr>
          <p:cNvPr id="6" name="wk-h-0"/>
          <p:cNvSpPr txBox="1"/>
          <p:nvPr/>
        </p:nvSpPr>
        <p:spPr>
          <a:xfrm>
            <a:off x="45720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Discover &amp; load</a:t>
            </a:r>
            <a:endParaRPr lang="en-US" sz="1600" dirty="0"/>
          </a:p>
        </p:txBody>
      </p:sp>
      <p:sp>
        <p:nvSpPr>
          <p:cNvPr id="7" name="wk-b-0"/>
          <p:cNvSpPr txBox="1"/>
          <p:nvPr/>
        </p:nvSpPr>
        <p:spPr>
          <a:xfrm>
            <a:off x="457200" y="23774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Your top questions, hand-over rules and documents go into the knowledge base.</a:t>
            </a:r>
            <a:endParaRPr lang="en-US" sz="1200" dirty="0"/>
          </a:p>
        </p:txBody>
      </p:sp>
      <p:sp>
        <p:nvSpPr>
          <p:cNvPr id="8" name="dot-1"/>
          <p:cNvSpPr/>
          <p:nvPr/>
        </p:nvSpPr>
        <p:spPr>
          <a:xfrm>
            <a:off x="2743200" y="1344168"/>
            <a:ext cx="274320" cy="27432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9" name="wk-1"/>
          <p:cNvSpPr txBox="1"/>
          <p:nvPr/>
        </p:nvSpPr>
        <p:spPr>
          <a:xfrm>
            <a:off x="2560320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Week 2</a:t>
            </a:r>
            <a:endParaRPr lang="en-US" sz="1200" dirty="0"/>
          </a:p>
        </p:txBody>
      </p:sp>
      <p:sp>
        <p:nvSpPr>
          <p:cNvPr id="10" name="wk-h-1"/>
          <p:cNvSpPr txBox="1"/>
          <p:nvPr/>
        </p:nvSpPr>
        <p:spPr>
          <a:xfrm>
            <a:off x="256032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Configure &amp; test</a:t>
            </a:r>
            <a:endParaRPr lang="en-US" sz="1600" dirty="0"/>
          </a:p>
        </p:txBody>
      </p:sp>
      <p:sp>
        <p:nvSpPr>
          <p:cNvPr id="11" name="wk-b-1"/>
          <p:cNvSpPr txBox="1"/>
          <p:nvPr/>
        </p:nvSpPr>
        <p:spPr>
          <a:xfrm>
            <a:off x="2560320" y="23774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Greeting, tone and pack set up. Your team tests as customers.</a:t>
            </a:r>
            <a:endParaRPr lang="en-US" sz="1200" dirty="0"/>
          </a:p>
        </p:txBody>
      </p:sp>
      <p:sp>
        <p:nvSpPr>
          <p:cNvPr id="12" name="dot-2"/>
          <p:cNvSpPr/>
          <p:nvPr/>
        </p:nvSpPr>
        <p:spPr>
          <a:xfrm>
            <a:off x="4846320" y="1344168"/>
            <a:ext cx="274320" cy="27432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3" name="wk-2"/>
          <p:cNvSpPr txBox="1"/>
          <p:nvPr/>
        </p:nvSpPr>
        <p:spPr>
          <a:xfrm>
            <a:off x="4663440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Week 3</a:t>
            </a:r>
            <a:endParaRPr lang="en-US" sz="1200" dirty="0"/>
          </a:p>
        </p:txBody>
      </p:sp>
      <p:sp>
        <p:nvSpPr>
          <p:cNvPr id="14" name="wk-h-2"/>
          <p:cNvSpPr txBox="1"/>
          <p:nvPr/>
        </p:nvSpPr>
        <p:spPr>
          <a:xfrm>
            <a:off x="466344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Soft launch</a:t>
            </a:r>
            <a:endParaRPr lang="en-US" sz="1600" dirty="0"/>
          </a:p>
        </p:txBody>
      </p:sp>
      <p:sp>
        <p:nvSpPr>
          <p:cNvPr id="15" name="wk-b-2"/>
          <p:cNvSpPr txBox="1"/>
          <p:nvPr/>
        </p:nvSpPr>
        <p:spPr>
          <a:xfrm>
            <a:off x="4663440" y="23774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Live on your WhatsApp number. Your team handles hand-overs from the Inbox.</a:t>
            </a:r>
            <a:endParaRPr lang="en-US" sz="1200" dirty="0"/>
          </a:p>
        </p:txBody>
      </p:sp>
      <p:sp>
        <p:nvSpPr>
          <p:cNvPr id="16" name="dot-3"/>
          <p:cNvSpPr/>
          <p:nvPr/>
        </p:nvSpPr>
        <p:spPr>
          <a:xfrm>
            <a:off x="6949440" y="1344168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7" name="wk-3"/>
          <p:cNvSpPr txBox="1"/>
          <p:nvPr/>
        </p:nvSpPr>
        <p:spPr>
          <a:xfrm>
            <a:off x="6766560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Week 4</a:t>
            </a:r>
            <a:endParaRPr lang="en-US" sz="1200" dirty="0"/>
          </a:p>
        </p:txBody>
      </p:sp>
      <p:sp>
        <p:nvSpPr>
          <p:cNvPr id="18" name="wk-h-3"/>
          <p:cNvSpPr txBox="1"/>
          <p:nvPr/>
        </p:nvSpPr>
        <p:spPr>
          <a:xfrm>
            <a:off x="676656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Review &amp; go live</a:t>
            </a:r>
            <a:endParaRPr lang="en-US" sz="1600" dirty="0"/>
          </a:p>
        </p:txBody>
      </p:sp>
      <p:sp>
        <p:nvSpPr>
          <p:cNvPr id="19" name="wk-b-3"/>
          <p:cNvSpPr txBox="1"/>
          <p:nvPr/>
        </p:nvSpPr>
        <p:spPr>
          <a:xfrm>
            <a:off x="6766560" y="23774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We review the numbers together, fill knowledge gaps and switch fully on.</a:t>
            </a:r>
            <a:endParaRPr lang="en-US" sz="1200" dirty="0"/>
          </a:p>
        </p:txBody>
      </p:sp>
      <p:sp>
        <p:nvSpPr>
          <p:cNvPr id="20" name="kpi-label"/>
          <p:cNvSpPr txBox="1"/>
          <p:nvPr/>
        </p:nvSpPr>
        <p:spPr>
          <a:xfrm>
            <a:off x="45720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WHAT WE MEASURE</a:t>
            </a:r>
            <a:endParaRPr lang="en-US" sz="1100" dirty="0"/>
          </a:p>
        </p:txBody>
      </p:sp>
      <p:sp>
        <p:nvSpPr>
          <p:cNvPr id="21" name="kpi-0"/>
          <p:cNvSpPr/>
          <p:nvPr/>
        </p:nvSpPr>
        <p:spPr>
          <a:xfrm>
            <a:off x="457200" y="3749040"/>
            <a:ext cx="1965960" cy="685800"/>
          </a:xfrm>
          <a:prstGeom prst="roundRect">
            <a:avLst>
              <a:gd name="adj" fmla="val 16000"/>
            </a:avLst>
          </a:prstGeom>
          <a:solidFill>
            <a:schemeClr val="accent5"/>
          </a:solidFill>
          <a:ln/>
        </p:spPr>
      </p:sp>
      <p:sp>
        <p:nvSpPr>
          <p:cNvPr id="22" name="kpi-t-0"/>
          <p:cNvSpPr txBox="1"/>
          <p:nvPr/>
        </p:nvSpPr>
        <p:spPr>
          <a:xfrm>
            <a:off x="594360" y="37490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Questions answered by the bot</a:t>
            </a:r>
            <a:endParaRPr lang="en-US" sz="1300" dirty="0"/>
          </a:p>
        </p:txBody>
      </p:sp>
      <p:sp>
        <p:nvSpPr>
          <p:cNvPr id="23" name="kpi-1"/>
          <p:cNvSpPr/>
          <p:nvPr/>
        </p:nvSpPr>
        <p:spPr>
          <a:xfrm>
            <a:off x="2560320" y="3749040"/>
            <a:ext cx="1965960" cy="685800"/>
          </a:xfrm>
          <a:prstGeom prst="roundRect">
            <a:avLst>
              <a:gd name="adj" fmla="val 16000"/>
            </a:avLst>
          </a:prstGeom>
          <a:solidFill>
            <a:schemeClr val="accent5"/>
          </a:solidFill>
          <a:ln/>
        </p:spPr>
      </p:sp>
      <p:sp>
        <p:nvSpPr>
          <p:cNvPr id="24" name="kpi-t-1"/>
          <p:cNvSpPr txBox="1"/>
          <p:nvPr/>
        </p:nvSpPr>
        <p:spPr>
          <a:xfrm>
            <a:off x="2697480" y="37490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First-reply time</a:t>
            </a:r>
            <a:endParaRPr lang="en-US" sz="1300" dirty="0"/>
          </a:p>
        </p:txBody>
      </p:sp>
      <p:sp>
        <p:nvSpPr>
          <p:cNvPr id="25" name="kpi-2"/>
          <p:cNvSpPr/>
          <p:nvPr/>
        </p:nvSpPr>
        <p:spPr>
          <a:xfrm>
            <a:off x="4663440" y="3749040"/>
            <a:ext cx="1965960" cy="685800"/>
          </a:xfrm>
          <a:prstGeom prst="roundRect">
            <a:avLst>
              <a:gd name="adj" fmla="val 16000"/>
            </a:avLst>
          </a:prstGeom>
          <a:solidFill>
            <a:schemeClr val="accent5"/>
          </a:solidFill>
          <a:ln/>
        </p:spPr>
      </p:sp>
      <p:sp>
        <p:nvSpPr>
          <p:cNvPr id="26" name="kpi-t-2"/>
          <p:cNvSpPr txBox="1"/>
          <p:nvPr/>
        </p:nvSpPr>
        <p:spPr>
          <a:xfrm>
            <a:off x="4800600" y="37490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Chats handed to your team</a:t>
            </a:r>
            <a:endParaRPr lang="en-US" sz="1300" dirty="0"/>
          </a:p>
        </p:txBody>
      </p:sp>
      <p:sp>
        <p:nvSpPr>
          <p:cNvPr id="27" name="kpi-3"/>
          <p:cNvSpPr/>
          <p:nvPr/>
        </p:nvSpPr>
        <p:spPr>
          <a:xfrm>
            <a:off x="6766560" y="3749040"/>
            <a:ext cx="1965960" cy="685800"/>
          </a:xfrm>
          <a:prstGeom prst="roundRect">
            <a:avLst>
              <a:gd name="adj" fmla="val 16000"/>
            </a:avLst>
          </a:prstGeom>
          <a:solidFill>
            <a:schemeClr val="accent5"/>
          </a:solidFill>
          <a:ln/>
        </p:spPr>
      </p:sp>
      <p:sp>
        <p:nvSpPr>
          <p:cNvPr id="28" name="kpi-t-3"/>
          <p:cNvSpPr txBox="1"/>
          <p:nvPr/>
        </p:nvSpPr>
        <p:spPr>
          <a:xfrm>
            <a:off x="6903720" y="37490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Customer satisfaction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Simple, predictable pricing</a:t>
            </a:r>
            <a:endParaRPr lang="en-US" sz="3200" dirty="0"/>
          </a:p>
        </p:txBody>
      </p:sp>
      <p:sp>
        <p:nvSpPr>
          <p:cNvPr id="3" name="plan-0"/>
          <p:cNvSpPr/>
          <p:nvPr/>
        </p:nvSpPr>
        <p:spPr>
          <a:xfrm>
            <a:off x="457200" y="1143000"/>
            <a:ext cx="2615184" cy="3108960"/>
          </a:xfrm>
          <a:prstGeom prst="roundRect">
            <a:avLst>
              <a:gd name="adj" fmla="val 4196"/>
            </a:avLst>
          </a:prstGeom>
          <a:solidFill>
            <a:schemeClr val="bg2"/>
          </a:solidFill>
          <a:ln/>
        </p:spPr>
      </p:sp>
      <p:sp>
        <p:nvSpPr>
          <p:cNvPr id="4" name="plan-name-0"/>
          <p:cNvSpPr txBox="1"/>
          <p:nvPr/>
        </p:nvSpPr>
        <p:spPr>
          <a:xfrm>
            <a:off x="685800" y="12984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Starter</a:t>
            </a:r>
            <a:endParaRPr lang="en-US" sz="1600" dirty="0"/>
          </a:p>
        </p:txBody>
      </p:sp>
      <p:sp>
        <p:nvSpPr>
          <p:cNvPr id="5" name="plan-price-0"/>
          <p:cNvSpPr txBox="1"/>
          <p:nvPr/>
        </p:nvSpPr>
        <p:spPr>
          <a:xfrm>
            <a:off x="685800" y="1645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₹4,999</a:t>
            </a:r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 /month</a:t>
            </a:r>
            <a:endParaRPr lang="en-US" sz="1400" dirty="0"/>
          </a:p>
        </p:txBody>
      </p:sp>
      <p:sp>
        <p:nvSpPr>
          <p:cNvPr id="6" name="plan-feats-0"/>
          <p:cNvSpPr txBox="1"/>
          <p:nvPr/>
        </p:nvSpPr>
        <p:spPr>
          <a:xfrm>
            <a:off x="685800" y="23317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1 channel (WhatsApp or Telegram)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3 team seats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500 customer chats / month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50 documents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Email support</a:t>
            </a:r>
            <a:endParaRPr lang="en-US" sz="1200" dirty="0"/>
          </a:p>
        </p:txBody>
      </p:sp>
      <p:sp>
        <p:nvSpPr>
          <p:cNvPr id="7" name="plan-1"/>
          <p:cNvSpPr/>
          <p:nvPr/>
        </p:nvSpPr>
        <p:spPr>
          <a:xfrm>
            <a:off x="3273552" y="1143000"/>
            <a:ext cx="2615184" cy="3108960"/>
          </a:xfrm>
          <a:prstGeom prst="roundRect">
            <a:avLst>
              <a:gd name="adj" fmla="val 4196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plan-name-1"/>
          <p:cNvSpPr txBox="1"/>
          <p:nvPr/>
        </p:nvSpPr>
        <p:spPr>
          <a:xfrm>
            <a:off x="3502152" y="12984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Growth</a:t>
            </a:r>
            <a:endParaRPr lang="en-US" sz="1600" dirty="0"/>
          </a:p>
        </p:txBody>
      </p:sp>
      <p:sp>
        <p:nvSpPr>
          <p:cNvPr id="9" name="plan-price-1"/>
          <p:cNvSpPr txBox="1"/>
          <p:nvPr/>
        </p:nvSpPr>
        <p:spPr>
          <a:xfrm>
            <a:off x="3502152" y="1645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₹12,999</a:t>
            </a:r>
            <a:pPr indent="0" marL="0">
              <a:buNone/>
            </a:pPr>
            <a:r>
              <a:rPr lang="en-US" sz="1200" dirty="0">
                <a:solidFill>
                  <a:srgbClr val="E7E5E4"/>
                </a:solidFill>
              </a:rPr>
              <a:t> /month</a:t>
            </a:r>
            <a:endParaRPr lang="en-US" sz="1400" dirty="0"/>
          </a:p>
        </p:txBody>
      </p:sp>
      <p:sp>
        <p:nvSpPr>
          <p:cNvPr id="10" name="plan-feats-1"/>
          <p:cNvSpPr txBox="1"/>
          <p:nvPr/>
        </p:nvSpPr>
        <p:spPr>
          <a:xfrm>
            <a:off x="3502152" y="23317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WhatsApp + Telegram + web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10 team seats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3,000 customer chats / month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Industry pack + custom agents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Team assistant for staff</a:t>
            </a:r>
            <a:endParaRPr lang="en-US" sz="1200" dirty="0"/>
          </a:p>
        </p:txBody>
      </p:sp>
      <p:sp>
        <p:nvSpPr>
          <p:cNvPr id="11" name="plan-2"/>
          <p:cNvSpPr/>
          <p:nvPr/>
        </p:nvSpPr>
        <p:spPr>
          <a:xfrm>
            <a:off x="6089904" y="1143000"/>
            <a:ext cx="2615184" cy="3108960"/>
          </a:xfrm>
          <a:prstGeom prst="roundRect">
            <a:avLst>
              <a:gd name="adj" fmla="val 4196"/>
            </a:avLst>
          </a:prstGeom>
          <a:solidFill>
            <a:schemeClr val="bg2"/>
          </a:solidFill>
          <a:ln/>
        </p:spPr>
      </p:sp>
      <p:sp>
        <p:nvSpPr>
          <p:cNvPr id="12" name="plan-name-2"/>
          <p:cNvSpPr txBox="1"/>
          <p:nvPr/>
        </p:nvSpPr>
        <p:spPr>
          <a:xfrm>
            <a:off x="6318504" y="12984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Enterprise</a:t>
            </a:r>
            <a:endParaRPr lang="en-US" sz="1600" dirty="0"/>
          </a:p>
        </p:txBody>
      </p:sp>
      <p:sp>
        <p:nvSpPr>
          <p:cNvPr id="13" name="plan-price-2"/>
          <p:cNvSpPr txBox="1"/>
          <p:nvPr/>
        </p:nvSpPr>
        <p:spPr>
          <a:xfrm>
            <a:off x="6318504" y="1645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Custom</a:t>
            </a:r>
            <a:pPr indent="0" marL="0">
              <a:buNone/>
            </a:pPr>
            <a:endParaRPr lang="en-US" sz="1400" dirty="0"/>
          </a:p>
        </p:txBody>
      </p:sp>
      <p:sp>
        <p:nvSpPr>
          <p:cNvPr id="14" name="plan-feats-2"/>
          <p:cNvSpPr txBox="1"/>
          <p:nvPr/>
        </p:nvSpPr>
        <p:spPr>
          <a:xfrm>
            <a:off x="6318504" y="23317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Unlimited seats and chats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Your own cloud or server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Your own AI account and keys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Custom integrations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Priority support</a:t>
            </a:r>
            <a:endParaRPr lang="en-US" sz="1200" dirty="0"/>
          </a:p>
        </p:txBody>
      </p:sp>
      <p:sp>
        <p:nvSpPr>
          <p:cNvPr id="15" name="pricing-note"/>
          <p:cNvSpPr txBox="1"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All plans are hosted 24×7 with HTTPS and nightly backups. One-time setup from ₹25,000 per pack. WhatsApp charges from Meta are billed at cost. Prices exclude GST and are indicative — the final quote follows the discovery call.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Let’s start with a 4-week pilot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D3D1"/>
                </a:solidFill>
              </a:rPr>
              <a:t>1.  A 30-minute call about your customers’ top questions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6D3D1"/>
                </a:solidFill>
              </a:rPr>
              <a:t>2.  You share your FAQs, price list and policies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6D3D1"/>
                </a:solidFill>
              </a:rPr>
              <a:t>3.  Within a week, you test SwarmAI on your own data</a:t>
            </a:r>
            <a:endParaRPr lang="en-US" sz="1800" dirty="0"/>
          </a:p>
        </p:txBody>
      </p:sp>
      <p:sp>
        <p:nvSpPr>
          <p:cNvPr id="4" name="contact"/>
          <p:cNvSpPr txBox="1"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[Your name]  ·  [email]  ·  [phone]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warmAI">
  <a:themeElements>
    <a:clrScheme name="SwarmAI">
      <a:dk1>
        <a:srgbClr val="1C1917"/>
      </a:dk1>
      <a:lt1>
        <a:srgbClr val="FFFFFF"/>
      </a:lt1>
      <a:dk2>
        <a:srgbClr val="0F4C47"/>
      </a:dk2>
      <a:lt2>
        <a:srgbClr val="F4F4F5"/>
      </a:lt2>
      <a:accent1>
        <a:srgbClr val="D97706"/>
      </a:accent1>
      <a:accent2>
        <a:srgbClr val="0F766E"/>
      </a:accent2>
      <a:accent3>
        <a:srgbClr val="DC2626"/>
      </a:accent3>
      <a:accent4>
        <a:srgbClr val="71717A"/>
      </a:accent4>
      <a:accent5>
        <a:srgbClr val="FDECC8"/>
      </a:accent5>
      <a:accent6>
        <a:srgbClr val="D5EFEC"/>
      </a:accent6>
      <a:hlink>
        <a:srgbClr val="0F766E"/>
      </a:hlink>
      <a:folHlink>
        <a:srgbClr val="71717A"/>
      </a:folHlink>
    </a:clrScheme>
    <a:fontScheme name="SwarmAI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SwarmAI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SwarmAI — AI customer desk on WhatsApp</dc:title>
  <dc:subject>PptxGenJS Presentation</dc:subject>
  <dc:creator>SwarmAI</dc:creator>
  <cp:lastModifiedBy>SwarmAI</cp:lastModifiedBy>
  <cp:revision>1</cp:revision>
  <dcterms:created xsi:type="dcterms:W3CDTF">2026-10-18T13:22:15Z</dcterms:created>
  <dcterms:modified xsi:type="dcterms:W3CDTF">2026-10-18T13:22:15Z</dcterms:modified>
</cp:coreProperties>
</file>