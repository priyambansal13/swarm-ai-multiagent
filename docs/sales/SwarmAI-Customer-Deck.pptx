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581d6bb-f4f1-9bed-b705-144a534b5011}">
          <p14:sldIdLst>
            <p14:sldId id="256"/>
            <p14:sldId id="257"/>
            <p14:sldId id="258"/>
          </p14:sldIdLst>
        </p14:section>
        <p14:section name="Product" id="{d52756a6-4855-6e9b-953c-6ad8c19d7ab4}">
          <p14:sldIdLst>
            <p14:sldId id="259"/>
            <p14:sldId id="260"/>
            <p14:sldId id="261"/>
            <p14:sldId id="262"/>
            <p14:sldId id="263"/>
            <p14:sldId id="264"/>
            <p14:sldId id="265"/>
            <p14:sldId id="266"/>
            <p14:sldId id="267"/>
          </p14:sldIdLst>
        </p14:section>
        <p14:section name="Working together" id="{7f676ff0-5fc8-f323-80a7-738b9272b8ab}">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SwarmAI puts an AI assistant on the channels your customers already use — WhatsApp, Telegram and the web. It answers from your own documents, and the moment it is unsure, or the customer wants a person, it hands the chat to your team. Nothing that matters happens without a human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customer how many WhatsApp messages they get a day, how many are repeat questions, and what happens to messages that arrive after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products on one platform. Most customers start with the customer desk plus the knowledge base; the team assistant is an add-on for owners and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loop. Steps 1–2 handle the repeat questions automatically. Steps 3–5 are what makes it safe: the bot knows its limits and your team stays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from the admin console with a demo dental clinic. On the right, a staff member answered a refund question, handed the chat back, and the bot answered the follow-up using what the staff member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Technically this is retrieval-augmented generation (RAG): documents are split into passages, embedded, stored in a vector index per organisation, and the most relevant passages are given to the model with an instruction to answer only from them and cite them. Scanned image-only PDFs need OCR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message can use several agents at once: “log ₹450 lunch, remind me at 5 to call Ravi, and what’s the weather in Pune tomorrow”. Email and calendar connect per person to their own Google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Studio (StoryForge) is for anyone who makes short videos — marketing teams, coaches, clinics, creators. Type a topic: it searches the latest news and web sources, summarises them with linked facts and suggests angles, then writes a script timed to the chosen length for Shorts or Reels, in the chosen language and tone. Everything is downloadable. The same research and scripting are available to AI assistants like Claude Desktop through MCP. Search uses free sources; the writing uses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objection is “what if the AI does something wrong?”. Answer: anything with a side effect is a proposal a human approves, customers physically cannot reach internal tools, and every action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run: one cloud server with a single encrypted entrance; everything else (AI agents, workflow engine, database) is on a private network inside it. Containers restart automatically, health is checked continuously, the database is backed up every night and the team gets a Telegram message if a backup fails. Sign-up is invite-only on hosted servers. For clients who need it, the same setup runs in their own cloud with their own AI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client changes later — greeting, hand-over message, instructions, documents — is done in the admin console. Changes reach the bot within about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pack is a preset: agents, instructions, greeting and hand-over rules for an industry. We load your documents on top and tune it during the pilot. Roadmap packs are built on request with the first client in that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provide: your FAQs, price list and policies; a WhatsApp Business number verified with Meta; and one or two staff for the Inbox. We agree the target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prices — confirm before sending. A pilot can be offered as the setup fee plus the first month at Starter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7680960" cy="1188720"/>
          </a:xfrm>
          <a:prstGeom prst="rect">
            <a:avLst/>
          </a:prstGeom>
          <a:noFill/>
          <a:ln/>
        </p:spPr>
        <p:txBody>
          <a:bodyPr wrap="square" rtlCol="0"/>
          <a:lstStyle>
            <a:lvl1pPr indent="0" marL="0">
              <a:buNone/>
              <a:defRPr lang="en-US" sz="1800" dirty="0">
                <a:solidFill>
                  <a:srgbClr val="D6D3D1"/>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457200" y="4754880"/>
            <a:ext cx="2743200" cy="274320"/>
          </a:xfrm>
          <a:prstGeom prst="rect">
            <a:avLst/>
          </a:prstGeom>
          <a:noFill/>
          <a:ln/>
        </p:spPr>
        <p:txBody>
          <a:bodyPr wrap="square" lIns="0" tIns="0" rIns="0" bIns="0" rtlCol="0" anchor="ctr"/>
          <a:lstStyle/>
          <a:p>
            <a:pPr indent="0" marL="0">
              <a:buNone/>
            </a:pPr>
            <a:r>
              <a:rPr lang="en-US" sz="1000" b="1" dirty="0">
                <a:solidFill>
                  <a:schemeClr val="accent4"/>
                </a:solidFill>
              </a:rPr>
              <a:t>SwarmAI</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3.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lIns="0" tIns="0" rIns="0" bIns="0" rtlCol="0" anchor="b"/>
          <a:lstStyle/>
          <a:p>
            <a:pPr algn="l" indent="0" marL="0">
              <a:buNone/>
            </a:pPr>
            <a:r>
              <a:rPr lang="en-US" sz="4000" b="1" dirty="0">
                <a:solidFill>
                  <a:schemeClr val="bg1"/>
                </a:solidFill>
              </a:rPr>
              <a:t>AI staff on WhatsApp that answers your customers — and knows when to call your team</a:t>
            </a:r>
            <a:endParaRPr lang="en-US" sz="4000" dirty="0"/>
          </a:p>
        </p:txBody>
      </p:sp>
      <p:sp>
        <p:nvSpPr>
          <p:cNvPr id="3" name="Text 0"/>
          <p:cNvSpPr/>
          <p:nvPr>
            <p:ph idx="101" type="body" hasCustomPrompt="1"/>
          </p:nvPr>
        </p:nvSpPr>
        <p:spPr>
          <a:xfrm>
            <a:off x="548640" y="2926080"/>
            <a:ext cx="7680960" cy="1188720"/>
          </a:xfrm>
          <a:prstGeom prst="rect">
            <a:avLst/>
          </a:prstGeom>
          <a:noFill/>
          <a:ln/>
        </p:spPr>
        <p:txBody>
          <a:bodyPr wrap="square" lIns="0" tIns="0" rIns="0" bIns="0" rtlCol="0" anchor="t"/>
          <a:lstStyle/>
          <a:p>
            <a:pPr indent="0" marL="0">
              <a:buNone/>
            </a:pPr>
            <a:r>
              <a:rPr lang="en-US" sz="1800" dirty="0">
                <a:solidFill>
                  <a:srgbClr val="D6D3D1"/>
                </a:solidFill>
              </a:rPr>
              <a:t>Customer desk  ·  Knowledge base  ·  Team assistant</a:t>
            </a:r>
            <a:endParaRPr lang="en-US" sz="1800" dirty="0"/>
          </a:p>
        </p:txBody>
      </p:sp>
      <p:sp>
        <p:nvSpPr>
          <p:cNvPr id="4" name="circle-logo"/>
          <p:cNvSpPr/>
          <p:nvPr/>
        </p:nvSpPr>
        <p:spPr>
          <a:xfrm>
            <a:off x="548640" y="502920"/>
            <a:ext cx="685800" cy="685800"/>
          </a:xfrm>
          <a:prstGeom prst="ellipse">
            <a:avLst/>
          </a:prstGeom>
          <a:solidFill>
            <a:schemeClr val="accent1"/>
          </a:solidFill>
          <a:ln/>
        </p:spPr>
      </p:sp>
      <p:pic>
        <p:nvPicPr>
          <p:cNvPr id="5" name="icon-logo" descr="preencoded.png">    </p:cNvPr>
          <p:cNvPicPr>
            <a:picLocks noChangeAspect="1"/>
          </p:cNvPicPr>
          <p:nvPr/>
        </p:nvPicPr>
        <p:blipFill>
          <a:blip r:embed="rId1"/>
          <a:stretch>
            <a:fillRect/>
          </a:stretch>
        </p:blipFill>
        <p:spPr>
          <a:xfrm>
            <a:off x="720090" y="674370"/>
            <a:ext cx="342900" cy="342900"/>
          </a:xfrm>
          <a:prstGeom prst="rect">
            <a:avLst/>
          </a:prstGeom>
        </p:spPr>
      </p:pic>
      <p:sp>
        <p:nvSpPr>
          <p:cNvPr id="6" name="brand"/>
          <p:cNvSpPr txBox="1"/>
          <p:nvPr/>
        </p:nvSpPr>
        <p:spPr>
          <a:xfrm>
            <a:off x="1371600" y="640080"/>
            <a:ext cx="2743200" cy="411480"/>
          </a:xfrm>
          <a:prstGeom prst="rect">
            <a:avLst/>
          </a:prstGeom>
          <a:noFill/>
          <a:ln/>
        </p:spPr>
        <p:txBody>
          <a:bodyPr wrap="square" lIns="0" tIns="0" rIns="0" bIns="0" rtlCol="0" anchor="ctr"/>
          <a:lstStyle/>
          <a:p>
            <a:pPr indent="0" marL="0">
              <a:buNone/>
            </a:pPr>
            <a:r>
              <a:rPr lang="en-US" sz="2200" b="1" dirty="0">
                <a:solidFill>
                  <a:schemeClr val="bg1"/>
                </a:solidFill>
              </a:rPr>
              <a:t>SwarmAI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Your customers message you all day</a:t>
            </a:r>
            <a:endParaRPr lang="en-US" sz="3200" dirty="0"/>
          </a:p>
        </p:txBody>
      </p:sp>
      <p:sp>
        <p:nvSpPr>
          <p:cNvPr id="3" name="problem-0"/>
          <p:cNvSpPr/>
          <p:nvPr/>
        </p:nvSpPr>
        <p:spPr>
          <a:xfrm>
            <a:off x="457200" y="1234440"/>
            <a:ext cx="2615184" cy="2606040"/>
          </a:xfrm>
          <a:prstGeom prst="roundRect">
            <a:avLst>
              <a:gd name="adj" fmla="val 4211"/>
            </a:avLst>
          </a:prstGeom>
          <a:solidFill>
            <a:schemeClr val="bg2"/>
          </a:solidFill>
          <a:ln/>
        </p:spPr>
      </p:sp>
      <p:sp>
        <p:nvSpPr>
          <p:cNvPr id="4" name="circle-problem-0"/>
          <p:cNvSpPr/>
          <p:nvPr/>
        </p:nvSpPr>
        <p:spPr>
          <a:xfrm>
            <a:off x="731520" y="1463040"/>
            <a:ext cx="566928" cy="566928"/>
          </a:xfrm>
          <a:prstGeom prst="ellipse">
            <a:avLst/>
          </a:prstGeom>
          <a:solidFill>
            <a:schemeClr val="accent3"/>
          </a:solidFill>
          <a:ln/>
        </p:spPr>
      </p:sp>
      <p:pic>
        <p:nvPicPr>
          <p:cNvPr id="5" name="icon-problem-0" descr="preencoded.png">    </p:cNvPr>
          <p:cNvPicPr>
            <a:picLocks noChangeAspect="1"/>
          </p:cNvPicPr>
          <p:nvPr/>
        </p:nvPicPr>
        <p:blipFill>
          <a:blip r:embed="rId1"/>
          <a:stretch>
            <a:fillRect/>
          </a:stretch>
        </p:blipFill>
        <p:spPr>
          <a:xfrm>
            <a:off x="873252" y="1604772"/>
            <a:ext cx="283464" cy="283464"/>
          </a:xfrm>
          <a:prstGeom prst="rect">
            <a:avLst/>
          </a:prstGeom>
        </p:spPr>
      </p:pic>
      <p:sp>
        <p:nvSpPr>
          <p:cNvPr id="6" name="problem-h-0"/>
          <p:cNvSpPr txBox="1"/>
          <p:nvPr/>
        </p:nvSpPr>
        <p:spPr>
          <a:xfrm>
            <a:off x="731520" y="2194560"/>
            <a:ext cx="2103120" cy="548640"/>
          </a:xfrm>
          <a:prstGeom prst="rect">
            <a:avLst/>
          </a:prstGeom>
          <a:noFill/>
          <a:ln/>
        </p:spPr>
        <p:txBody>
          <a:bodyPr wrap="square" lIns="0" tIns="0" rIns="0" bIns="0" rtlCol="0" anchor="t"/>
          <a:lstStyle/>
          <a:p>
            <a:pPr indent="0" marL="0">
              <a:buNone/>
            </a:pPr>
            <a:r>
              <a:rPr lang="en-US" sz="1700" b="1" dirty="0">
                <a:solidFill>
                  <a:schemeClr val="tx1"/>
                </a:solidFill>
              </a:rPr>
              <a:t>Same questions, every day</a:t>
            </a:r>
            <a:endParaRPr lang="en-US" sz="1700" dirty="0"/>
          </a:p>
        </p:txBody>
      </p:sp>
      <p:sp>
        <p:nvSpPr>
          <p:cNvPr id="7" name="problem-b-0"/>
          <p:cNvSpPr txBox="1"/>
          <p:nvPr/>
        </p:nvSpPr>
        <p:spPr>
          <a:xfrm>
            <a:off x="731520" y="2743200"/>
            <a:ext cx="2103120" cy="1005840"/>
          </a:xfrm>
          <a:prstGeom prst="rect">
            <a:avLst/>
          </a:prstGeom>
          <a:noFill/>
          <a:ln/>
        </p:spPr>
        <p:txBody>
          <a:bodyPr wrap="square" lIns="0" tIns="0" rIns="0" bIns="0" rtlCol="0" anchor="t"/>
          <a:lstStyle/>
          <a:p>
            <a:pPr indent="0" marL="0">
              <a:buNone/>
            </a:pPr>
            <a:r>
              <a:rPr lang="en-US" sz="1300" dirty="0">
                <a:solidFill>
                  <a:schemeClr val="accent4"/>
                </a:solidFill>
              </a:rPr>
              <a:t>Timings, prices, “where is my order”, directions — your staff answer them again and again.</a:t>
            </a:r>
            <a:endParaRPr lang="en-US" sz="1300" dirty="0"/>
          </a:p>
        </p:txBody>
      </p:sp>
      <p:sp>
        <p:nvSpPr>
          <p:cNvPr id="8" name="problem-1"/>
          <p:cNvSpPr/>
          <p:nvPr/>
        </p:nvSpPr>
        <p:spPr>
          <a:xfrm>
            <a:off x="3273552" y="1234440"/>
            <a:ext cx="2615184" cy="2606040"/>
          </a:xfrm>
          <a:prstGeom prst="roundRect">
            <a:avLst>
              <a:gd name="adj" fmla="val 4211"/>
            </a:avLst>
          </a:prstGeom>
          <a:solidFill>
            <a:schemeClr val="bg2"/>
          </a:solidFill>
          <a:ln/>
        </p:spPr>
      </p:sp>
      <p:sp>
        <p:nvSpPr>
          <p:cNvPr id="9" name="circle-problem-1"/>
          <p:cNvSpPr/>
          <p:nvPr/>
        </p:nvSpPr>
        <p:spPr>
          <a:xfrm>
            <a:off x="3547872" y="1463040"/>
            <a:ext cx="566928" cy="566928"/>
          </a:xfrm>
          <a:prstGeom prst="ellipse">
            <a:avLst/>
          </a:prstGeom>
          <a:solidFill>
            <a:schemeClr val="accent3"/>
          </a:solidFill>
          <a:ln/>
        </p:spPr>
      </p:sp>
      <p:pic>
        <p:nvPicPr>
          <p:cNvPr id="10" name="icon-problem-1" descr="preencoded.png">    </p:cNvPr>
          <p:cNvPicPr>
            <a:picLocks noChangeAspect="1"/>
          </p:cNvPicPr>
          <p:nvPr/>
        </p:nvPicPr>
        <p:blipFill>
          <a:blip r:embed="rId2"/>
          <a:stretch>
            <a:fillRect/>
          </a:stretch>
        </p:blipFill>
        <p:spPr>
          <a:xfrm>
            <a:off x="3689604" y="1604772"/>
            <a:ext cx="283464" cy="283464"/>
          </a:xfrm>
          <a:prstGeom prst="rect">
            <a:avLst/>
          </a:prstGeom>
        </p:spPr>
      </p:pic>
      <p:sp>
        <p:nvSpPr>
          <p:cNvPr id="11" name="problem-h-1"/>
          <p:cNvSpPr txBox="1"/>
          <p:nvPr/>
        </p:nvSpPr>
        <p:spPr>
          <a:xfrm>
            <a:off x="3547872" y="2194560"/>
            <a:ext cx="2103120" cy="548640"/>
          </a:xfrm>
          <a:prstGeom prst="rect">
            <a:avLst/>
          </a:prstGeom>
          <a:noFill/>
          <a:ln/>
        </p:spPr>
        <p:txBody>
          <a:bodyPr wrap="square" lIns="0" tIns="0" rIns="0" bIns="0" rtlCol="0" anchor="t"/>
          <a:lstStyle/>
          <a:p>
            <a:pPr indent="0" marL="0">
              <a:buNone/>
            </a:pPr>
            <a:r>
              <a:rPr lang="en-US" sz="1700" b="1" dirty="0">
                <a:solidFill>
                  <a:schemeClr val="tx1"/>
                </a:solidFill>
              </a:rPr>
              <a:t>Messages after hours wait</a:t>
            </a:r>
            <a:endParaRPr lang="en-US" sz="1700" dirty="0"/>
          </a:p>
        </p:txBody>
      </p:sp>
      <p:sp>
        <p:nvSpPr>
          <p:cNvPr id="12" name="problem-b-1"/>
          <p:cNvSpPr txBox="1"/>
          <p:nvPr/>
        </p:nvSpPr>
        <p:spPr>
          <a:xfrm>
            <a:off x="3547872" y="2743200"/>
            <a:ext cx="2103120" cy="1005840"/>
          </a:xfrm>
          <a:prstGeom prst="rect">
            <a:avLst/>
          </a:prstGeom>
          <a:noFill/>
          <a:ln/>
        </p:spPr>
        <p:txBody>
          <a:bodyPr wrap="square" lIns="0" tIns="0" rIns="0" bIns="0" rtlCol="0" anchor="t"/>
          <a:lstStyle/>
          <a:p>
            <a:pPr indent="0" marL="0">
              <a:buNone/>
            </a:pPr>
            <a:r>
              <a:rPr lang="en-US" sz="1300" dirty="0">
                <a:solidFill>
                  <a:schemeClr val="accent4"/>
                </a:solidFill>
              </a:rPr>
              <a:t>A customer who writes at 10 pm hears back the next morning — or goes to a competitor.</a:t>
            </a:r>
            <a:endParaRPr lang="en-US" sz="1300" dirty="0"/>
          </a:p>
        </p:txBody>
      </p:sp>
      <p:sp>
        <p:nvSpPr>
          <p:cNvPr id="13" name="problem-2"/>
          <p:cNvSpPr/>
          <p:nvPr/>
        </p:nvSpPr>
        <p:spPr>
          <a:xfrm>
            <a:off x="6089904" y="1234440"/>
            <a:ext cx="2615184" cy="2606040"/>
          </a:xfrm>
          <a:prstGeom prst="roundRect">
            <a:avLst>
              <a:gd name="adj" fmla="val 4211"/>
            </a:avLst>
          </a:prstGeom>
          <a:solidFill>
            <a:schemeClr val="bg2"/>
          </a:solidFill>
          <a:ln/>
        </p:spPr>
      </p:sp>
      <p:sp>
        <p:nvSpPr>
          <p:cNvPr id="14" name="circle-problem-2"/>
          <p:cNvSpPr/>
          <p:nvPr/>
        </p:nvSpPr>
        <p:spPr>
          <a:xfrm>
            <a:off x="6364224" y="1463040"/>
            <a:ext cx="566928" cy="566928"/>
          </a:xfrm>
          <a:prstGeom prst="ellipse">
            <a:avLst/>
          </a:prstGeom>
          <a:solidFill>
            <a:schemeClr val="accent3"/>
          </a:solidFill>
          <a:ln/>
        </p:spPr>
      </p:sp>
      <p:pic>
        <p:nvPicPr>
          <p:cNvPr id="15" name="icon-problem-2" descr="preencoded.png">    </p:cNvPr>
          <p:cNvPicPr>
            <a:picLocks noChangeAspect="1"/>
          </p:cNvPicPr>
          <p:nvPr/>
        </p:nvPicPr>
        <p:blipFill>
          <a:blip r:embed="rId3"/>
          <a:stretch>
            <a:fillRect/>
          </a:stretch>
        </p:blipFill>
        <p:spPr>
          <a:xfrm>
            <a:off x="6505956" y="1604772"/>
            <a:ext cx="283464" cy="283464"/>
          </a:xfrm>
          <a:prstGeom prst="rect">
            <a:avLst/>
          </a:prstGeom>
        </p:spPr>
      </p:pic>
      <p:sp>
        <p:nvSpPr>
          <p:cNvPr id="16" name="problem-h-2"/>
          <p:cNvSpPr txBox="1"/>
          <p:nvPr/>
        </p:nvSpPr>
        <p:spPr>
          <a:xfrm>
            <a:off x="6364224" y="2194560"/>
            <a:ext cx="2103120" cy="548640"/>
          </a:xfrm>
          <a:prstGeom prst="rect">
            <a:avLst/>
          </a:prstGeom>
          <a:noFill/>
          <a:ln/>
        </p:spPr>
        <p:txBody>
          <a:bodyPr wrap="square" lIns="0" tIns="0" rIns="0" bIns="0" rtlCol="0" anchor="t"/>
          <a:lstStyle/>
          <a:p>
            <a:pPr indent="0" marL="0">
              <a:buNone/>
            </a:pPr>
            <a:r>
              <a:rPr lang="en-US" sz="1700" b="1" dirty="0">
                <a:solidFill>
                  <a:schemeClr val="tx1"/>
                </a:solidFill>
              </a:rPr>
              <a:t>Chats scattered on phones</a:t>
            </a:r>
            <a:endParaRPr lang="en-US" sz="1700" dirty="0"/>
          </a:p>
        </p:txBody>
      </p:sp>
      <p:sp>
        <p:nvSpPr>
          <p:cNvPr id="17" name="problem-b-2"/>
          <p:cNvSpPr txBox="1"/>
          <p:nvPr/>
        </p:nvSpPr>
        <p:spPr>
          <a:xfrm>
            <a:off x="6364224" y="2743200"/>
            <a:ext cx="2103120" cy="1005840"/>
          </a:xfrm>
          <a:prstGeom prst="rect">
            <a:avLst/>
          </a:prstGeom>
          <a:noFill/>
          <a:ln/>
        </p:spPr>
        <p:txBody>
          <a:bodyPr wrap="square" lIns="0" tIns="0" rIns="0" bIns="0" rtlCol="0" anchor="t"/>
          <a:lstStyle/>
          <a:p>
            <a:pPr indent="0" marL="0">
              <a:buNone/>
            </a:pPr>
            <a:r>
              <a:rPr lang="en-US" sz="1300" dirty="0">
                <a:solidFill>
                  <a:schemeClr val="accent4"/>
                </a:solidFill>
              </a:rPr>
              <a:t>Staff reply from personal phones. Nobody sees who answered what, or which chat is still open.</a:t>
            </a:r>
            <a:endParaRPr lang="en-US" sz="1300" dirty="0"/>
          </a:p>
        </p:txBody>
      </p:sp>
      <p:sp>
        <p:nvSpPr>
          <p:cNvPr id="18" name="problem-result"/>
          <p:cNvSpPr txBox="1"/>
          <p:nvPr/>
        </p:nvSpPr>
        <p:spPr>
          <a:xfrm>
            <a:off x="457200" y="4069080"/>
            <a:ext cx="8229600" cy="365760"/>
          </a:xfrm>
          <a:prstGeom prst="rect">
            <a:avLst/>
          </a:prstGeom>
          <a:noFill/>
          <a:ln/>
        </p:spPr>
        <p:txBody>
          <a:bodyPr wrap="square" lIns="0" tIns="0" rIns="0" bIns="0" rtlCol="0" anchor="t"/>
          <a:lstStyle/>
          <a:p>
            <a:pPr indent="0" marL="0">
              <a:buNone/>
            </a:pPr>
            <a:r>
              <a:rPr lang="en-US" sz="1600" i="1" dirty="0">
                <a:solidFill>
                  <a:schemeClr val="tx2"/>
                </a:solidFill>
              </a:rPr>
              <a:t>The result: slow replies, tired staff and leads that never come back.</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Meet SwarmAI</a:t>
            </a:r>
            <a:endParaRPr lang="en-US" sz="3200" dirty="0"/>
          </a:p>
        </p:txBody>
      </p:sp>
      <p:sp>
        <p:nvSpPr>
          <p:cNvPr id="3" name="meet-lead"/>
          <p:cNvSpPr txBox="1"/>
          <p:nvPr/>
        </p:nvSpPr>
        <p:spPr>
          <a:xfrm>
            <a:off x="457200" y="1234440"/>
            <a:ext cx="3291840" cy="1828800"/>
          </a:xfrm>
          <a:prstGeom prst="rect">
            <a:avLst/>
          </a:prstGeom>
          <a:noFill/>
          <a:ln/>
        </p:spPr>
        <p:txBody>
          <a:bodyPr wrap="square" lIns="0" tIns="0" rIns="0" bIns="0" rtlCol="0" anchor="t"/>
          <a:lstStyle/>
          <a:p>
            <a:pPr indent="0" marL="0">
              <a:buNone/>
            </a:pPr>
            <a:r>
              <a:rPr lang="en-US" sz="2100" b="1" dirty="0">
                <a:solidFill>
                  <a:schemeClr val="tx2"/>
                </a:solidFill>
              </a:rPr>
              <a:t>A team of AI agents that works on the channels your customers already use — and always lets your people take over.</a:t>
            </a:r>
            <a:endParaRPr lang="en-US" sz="2100" dirty="0"/>
          </a:p>
        </p:txBody>
      </p:sp>
      <p:sp>
        <p:nvSpPr>
          <p:cNvPr id="4" name="chip-0"/>
          <p:cNvSpPr/>
          <p:nvPr/>
        </p:nvSpPr>
        <p:spPr>
          <a:xfrm>
            <a:off x="457200" y="3291840"/>
            <a:ext cx="1554480" cy="457200"/>
          </a:xfrm>
          <a:prstGeom prst="roundRect">
            <a:avLst>
              <a:gd name="adj" fmla="val 24000"/>
            </a:avLst>
          </a:prstGeom>
          <a:solidFill>
            <a:schemeClr val="accent6"/>
          </a:solidFill>
          <a:ln/>
        </p:spPr>
      </p:sp>
      <p:pic>
        <p:nvPicPr>
          <p:cNvPr id="5" name="chip-icon-0" descr="preencoded.png">    </p:cNvPr>
          <p:cNvPicPr>
            <a:picLocks noChangeAspect="1"/>
          </p:cNvPicPr>
          <p:nvPr/>
        </p:nvPicPr>
        <p:blipFill>
          <a:blip r:embed="rId1"/>
          <a:stretch>
            <a:fillRect/>
          </a:stretch>
        </p:blipFill>
        <p:spPr>
          <a:xfrm>
            <a:off x="576072" y="3401568"/>
            <a:ext cx="237744" cy="237744"/>
          </a:xfrm>
          <a:prstGeom prst="rect">
            <a:avLst/>
          </a:prstGeom>
        </p:spPr>
      </p:pic>
      <p:sp>
        <p:nvSpPr>
          <p:cNvPr id="6" name="chip-t-0"/>
          <p:cNvSpPr txBox="1"/>
          <p:nvPr/>
        </p:nvSpPr>
        <p:spPr>
          <a:xfrm>
            <a:off x="886968" y="3291840"/>
            <a:ext cx="1097280" cy="457200"/>
          </a:xfrm>
          <a:prstGeom prst="rect">
            <a:avLst/>
          </a:prstGeom>
          <a:noFill/>
          <a:ln/>
        </p:spPr>
        <p:txBody>
          <a:bodyPr wrap="square" lIns="0" tIns="0" rIns="0" bIns="0" rtlCol="0" anchor="ctr"/>
          <a:lstStyle/>
          <a:p>
            <a:pPr indent="0" marL="0">
              <a:buNone/>
            </a:pPr>
            <a:r>
              <a:rPr lang="en-US" sz="1200" b="1" dirty="0">
                <a:solidFill>
                  <a:schemeClr val="tx2"/>
                </a:solidFill>
              </a:rPr>
              <a:t>WhatsApp</a:t>
            </a:r>
            <a:endParaRPr lang="en-US" sz="1200" dirty="0"/>
          </a:p>
        </p:txBody>
      </p:sp>
      <p:sp>
        <p:nvSpPr>
          <p:cNvPr id="7" name="chip-1"/>
          <p:cNvSpPr/>
          <p:nvPr/>
        </p:nvSpPr>
        <p:spPr>
          <a:xfrm>
            <a:off x="2103120" y="3291840"/>
            <a:ext cx="1554480" cy="457200"/>
          </a:xfrm>
          <a:prstGeom prst="roundRect">
            <a:avLst>
              <a:gd name="adj" fmla="val 24000"/>
            </a:avLst>
          </a:prstGeom>
          <a:solidFill>
            <a:schemeClr val="accent6"/>
          </a:solidFill>
          <a:ln/>
        </p:spPr>
      </p:sp>
      <p:pic>
        <p:nvPicPr>
          <p:cNvPr id="8" name="chip-icon-1" descr="preencoded.png">    </p:cNvPr>
          <p:cNvPicPr>
            <a:picLocks noChangeAspect="1"/>
          </p:cNvPicPr>
          <p:nvPr/>
        </p:nvPicPr>
        <p:blipFill>
          <a:blip r:embed="rId2"/>
          <a:stretch>
            <a:fillRect/>
          </a:stretch>
        </p:blipFill>
        <p:spPr>
          <a:xfrm>
            <a:off x="2221992" y="3401568"/>
            <a:ext cx="237744" cy="237744"/>
          </a:xfrm>
          <a:prstGeom prst="rect">
            <a:avLst/>
          </a:prstGeom>
        </p:spPr>
      </p:pic>
      <p:sp>
        <p:nvSpPr>
          <p:cNvPr id="9" name="chip-t-1"/>
          <p:cNvSpPr txBox="1"/>
          <p:nvPr/>
        </p:nvSpPr>
        <p:spPr>
          <a:xfrm>
            <a:off x="2532888" y="3291840"/>
            <a:ext cx="1097280" cy="457200"/>
          </a:xfrm>
          <a:prstGeom prst="rect">
            <a:avLst/>
          </a:prstGeom>
          <a:noFill/>
          <a:ln/>
        </p:spPr>
        <p:txBody>
          <a:bodyPr wrap="square" lIns="0" tIns="0" rIns="0" bIns="0" rtlCol="0" anchor="ctr"/>
          <a:lstStyle/>
          <a:p>
            <a:pPr indent="0" marL="0">
              <a:buNone/>
            </a:pPr>
            <a:r>
              <a:rPr lang="en-US" sz="1200" b="1" dirty="0">
                <a:solidFill>
                  <a:schemeClr val="tx2"/>
                </a:solidFill>
              </a:rPr>
              <a:t>Telegram</a:t>
            </a:r>
            <a:endParaRPr lang="en-US" sz="1200" dirty="0"/>
          </a:p>
        </p:txBody>
      </p:sp>
      <p:sp>
        <p:nvSpPr>
          <p:cNvPr id="10" name="chip-2"/>
          <p:cNvSpPr/>
          <p:nvPr/>
        </p:nvSpPr>
        <p:spPr>
          <a:xfrm>
            <a:off x="457200" y="3858768"/>
            <a:ext cx="1554480" cy="457200"/>
          </a:xfrm>
          <a:prstGeom prst="roundRect">
            <a:avLst>
              <a:gd name="adj" fmla="val 24000"/>
            </a:avLst>
          </a:prstGeom>
          <a:solidFill>
            <a:schemeClr val="accent6"/>
          </a:solidFill>
          <a:ln/>
        </p:spPr>
      </p:sp>
      <p:pic>
        <p:nvPicPr>
          <p:cNvPr id="11" name="chip-icon-2" descr="preencoded.png">    </p:cNvPr>
          <p:cNvPicPr>
            <a:picLocks noChangeAspect="1"/>
          </p:cNvPicPr>
          <p:nvPr/>
        </p:nvPicPr>
        <p:blipFill>
          <a:blip r:embed="rId3"/>
          <a:stretch>
            <a:fillRect/>
          </a:stretch>
        </p:blipFill>
        <p:spPr>
          <a:xfrm>
            <a:off x="576072" y="3968496"/>
            <a:ext cx="237744" cy="237744"/>
          </a:xfrm>
          <a:prstGeom prst="rect">
            <a:avLst/>
          </a:prstGeom>
        </p:spPr>
      </p:pic>
      <p:sp>
        <p:nvSpPr>
          <p:cNvPr id="12" name="chip-t-2"/>
          <p:cNvSpPr txBox="1"/>
          <p:nvPr/>
        </p:nvSpPr>
        <p:spPr>
          <a:xfrm>
            <a:off x="886968" y="3858768"/>
            <a:ext cx="1097280" cy="457200"/>
          </a:xfrm>
          <a:prstGeom prst="rect">
            <a:avLst/>
          </a:prstGeom>
          <a:noFill/>
          <a:ln/>
        </p:spPr>
        <p:txBody>
          <a:bodyPr wrap="square" lIns="0" tIns="0" rIns="0" bIns="0" rtlCol="0" anchor="ctr"/>
          <a:lstStyle/>
          <a:p>
            <a:pPr indent="0" marL="0">
              <a:buNone/>
            </a:pPr>
            <a:r>
              <a:rPr lang="en-US" sz="1200" b="1" dirty="0">
                <a:solidFill>
                  <a:schemeClr val="tx2"/>
                </a:solidFill>
              </a:rPr>
              <a:t>Web app</a:t>
            </a:r>
            <a:endParaRPr lang="en-US" sz="1200" dirty="0"/>
          </a:p>
        </p:txBody>
      </p:sp>
      <p:sp>
        <p:nvSpPr>
          <p:cNvPr id="13" name="chip-3"/>
          <p:cNvSpPr/>
          <p:nvPr/>
        </p:nvSpPr>
        <p:spPr>
          <a:xfrm>
            <a:off x="2103120" y="3858768"/>
            <a:ext cx="1554480" cy="457200"/>
          </a:xfrm>
          <a:prstGeom prst="roundRect">
            <a:avLst>
              <a:gd name="adj" fmla="val 24000"/>
            </a:avLst>
          </a:prstGeom>
          <a:solidFill>
            <a:schemeClr val="accent6"/>
          </a:solidFill>
          <a:ln/>
        </p:spPr>
      </p:sp>
      <p:pic>
        <p:nvPicPr>
          <p:cNvPr id="14" name="chip-icon-3" descr="preencoded.png">    </p:cNvPr>
          <p:cNvPicPr>
            <a:picLocks noChangeAspect="1"/>
          </p:cNvPicPr>
          <p:nvPr/>
        </p:nvPicPr>
        <p:blipFill>
          <a:blip r:embed="rId4"/>
          <a:stretch>
            <a:fillRect/>
          </a:stretch>
        </p:blipFill>
        <p:spPr>
          <a:xfrm>
            <a:off x="2221992" y="3968496"/>
            <a:ext cx="237744" cy="237744"/>
          </a:xfrm>
          <a:prstGeom prst="rect">
            <a:avLst/>
          </a:prstGeom>
        </p:spPr>
      </p:pic>
      <p:sp>
        <p:nvSpPr>
          <p:cNvPr id="15" name="chip-t-3"/>
          <p:cNvSpPr txBox="1"/>
          <p:nvPr/>
        </p:nvSpPr>
        <p:spPr>
          <a:xfrm>
            <a:off x="2532888" y="3858768"/>
            <a:ext cx="1097280" cy="457200"/>
          </a:xfrm>
          <a:prstGeom prst="rect">
            <a:avLst/>
          </a:prstGeom>
          <a:noFill/>
          <a:ln/>
        </p:spPr>
        <p:txBody>
          <a:bodyPr wrap="square" lIns="0" tIns="0" rIns="0" bIns="0" rtlCol="0" anchor="ctr"/>
          <a:lstStyle/>
          <a:p>
            <a:pPr indent="0" marL="0">
              <a:buNone/>
            </a:pPr>
            <a:r>
              <a:rPr lang="en-US" sz="1200" b="1" dirty="0">
                <a:solidFill>
                  <a:schemeClr val="tx2"/>
                </a:solidFill>
              </a:rPr>
              <a:t>Voice notes</a:t>
            </a:r>
            <a:endParaRPr lang="en-US" sz="1200" dirty="0"/>
          </a:p>
        </p:txBody>
      </p:sp>
      <p:sp>
        <p:nvSpPr>
          <p:cNvPr id="16" name="pillar-0"/>
          <p:cNvSpPr/>
          <p:nvPr/>
        </p:nvSpPr>
        <p:spPr>
          <a:xfrm>
            <a:off x="4114800" y="1234440"/>
            <a:ext cx="4572000" cy="978408"/>
          </a:xfrm>
          <a:prstGeom prst="roundRect">
            <a:avLst>
              <a:gd name="adj" fmla="val 11215"/>
            </a:avLst>
          </a:prstGeom>
          <a:solidFill>
            <a:schemeClr val="bg2"/>
          </a:solidFill>
          <a:ln/>
        </p:spPr>
      </p:sp>
      <p:sp>
        <p:nvSpPr>
          <p:cNvPr id="17" name="circle-pillar-0"/>
          <p:cNvSpPr/>
          <p:nvPr/>
        </p:nvSpPr>
        <p:spPr>
          <a:xfrm>
            <a:off x="4315968" y="1444752"/>
            <a:ext cx="548640" cy="548640"/>
          </a:xfrm>
          <a:prstGeom prst="ellipse">
            <a:avLst/>
          </a:prstGeom>
          <a:solidFill>
            <a:schemeClr val="accent2"/>
          </a:solidFill>
          <a:ln/>
        </p:spPr>
      </p:sp>
      <p:pic>
        <p:nvPicPr>
          <p:cNvPr id="18" name="icon-pillar-0" descr="preencoded.png">    </p:cNvPr>
          <p:cNvPicPr>
            <a:picLocks noChangeAspect="1"/>
          </p:cNvPicPr>
          <p:nvPr/>
        </p:nvPicPr>
        <p:blipFill>
          <a:blip r:embed="rId5"/>
          <a:stretch>
            <a:fillRect/>
          </a:stretch>
        </p:blipFill>
        <p:spPr>
          <a:xfrm>
            <a:off x="4453128" y="1581912"/>
            <a:ext cx="274320" cy="274320"/>
          </a:xfrm>
          <a:prstGeom prst="rect">
            <a:avLst/>
          </a:prstGeom>
        </p:spPr>
      </p:pic>
      <p:sp>
        <p:nvSpPr>
          <p:cNvPr id="19" name="pillar-h-0"/>
          <p:cNvSpPr txBox="1"/>
          <p:nvPr/>
        </p:nvSpPr>
        <p:spPr>
          <a:xfrm>
            <a:off x="5074920" y="1353312"/>
            <a:ext cx="3474720" cy="320040"/>
          </a:xfrm>
          <a:prstGeom prst="rect">
            <a:avLst/>
          </a:prstGeom>
          <a:noFill/>
          <a:ln/>
        </p:spPr>
        <p:txBody>
          <a:bodyPr wrap="square" lIns="0" tIns="0" rIns="0" bIns="0" rtlCol="0" anchor="t"/>
          <a:lstStyle/>
          <a:p>
            <a:pPr indent="0" marL="0">
              <a:buNone/>
            </a:pPr>
            <a:r>
              <a:rPr lang="en-US" sz="1600" b="1" dirty="0">
                <a:solidFill>
                  <a:schemeClr val="tx1"/>
                </a:solidFill>
              </a:rPr>
              <a:t>Customer desk</a:t>
            </a:r>
            <a:endParaRPr lang="en-US" sz="1600" dirty="0"/>
          </a:p>
        </p:txBody>
      </p:sp>
      <p:sp>
        <p:nvSpPr>
          <p:cNvPr id="20" name="pillar-b-0"/>
          <p:cNvSpPr txBox="1"/>
          <p:nvPr/>
        </p:nvSpPr>
        <p:spPr>
          <a:xfrm>
            <a:off x="5074920" y="1664208"/>
            <a:ext cx="3474720" cy="502920"/>
          </a:xfrm>
          <a:prstGeom prst="rect">
            <a:avLst/>
          </a:prstGeom>
          <a:noFill/>
          <a:ln/>
        </p:spPr>
        <p:txBody>
          <a:bodyPr wrap="square" lIns="0" tIns="0" rIns="0" bIns="0" rtlCol="0" anchor="t"/>
          <a:lstStyle/>
          <a:p>
            <a:pPr indent="0" marL="0">
              <a:buNone/>
            </a:pPr>
            <a:r>
              <a:rPr lang="en-US" sz="1200" dirty="0">
                <a:solidFill>
                  <a:schemeClr val="accent4"/>
                </a:solidFill>
              </a:rPr>
              <a:t>Answers customers 24×7 on WhatsApp and Telegram, and hands the chat to your team when needed.</a:t>
            </a:r>
            <a:endParaRPr lang="en-US" sz="1200" dirty="0"/>
          </a:p>
        </p:txBody>
      </p:sp>
      <p:sp>
        <p:nvSpPr>
          <p:cNvPr id="21" name="pillar-1"/>
          <p:cNvSpPr/>
          <p:nvPr/>
        </p:nvSpPr>
        <p:spPr>
          <a:xfrm>
            <a:off x="4114800" y="2350008"/>
            <a:ext cx="4572000" cy="978408"/>
          </a:xfrm>
          <a:prstGeom prst="roundRect">
            <a:avLst>
              <a:gd name="adj" fmla="val 11215"/>
            </a:avLst>
          </a:prstGeom>
          <a:solidFill>
            <a:schemeClr val="bg2"/>
          </a:solidFill>
          <a:ln/>
        </p:spPr>
      </p:sp>
      <p:sp>
        <p:nvSpPr>
          <p:cNvPr id="22" name="circle-pillar-1"/>
          <p:cNvSpPr/>
          <p:nvPr/>
        </p:nvSpPr>
        <p:spPr>
          <a:xfrm>
            <a:off x="4315968" y="2560320"/>
            <a:ext cx="548640" cy="548640"/>
          </a:xfrm>
          <a:prstGeom prst="ellipse">
            <a:avLst/>
          </a:prstGeom>
          <a:solidFill>
            <a:schemeClr val="accent2"/>
          </a:solidFill>
          <a:ln/>
        </p:spPr>
      </p:sp>
      <p:pic>
        <p:nvPicPr>
          <p:cNvPr id="23" name="icon-pillar-1" descr="preencoded.png">    </p:cNvPr>
          <p:cNvPicPr>
            <a:picLocks noChangeAspect="1"/>
          </p:cNvPicPr>
          <p:nvPr/>
        </p:nvPicPr>
        <p:blipFill>
          <a:blip r:embed="rId6"/>
          <a:stretch>
            <a:fillRect/>
          </a:stretch>
        </p:blipFill>
        <p:spPr>
          <a:xfrm>
            <a:off x="4453128" y="2697480"/>
            <a:ext cx="274320" cy="274320"/>
          </a:xfrm>
          <a:prstGeom prst="rect">
            <a:avLst/>
          </a:prstGeom>
        </p:spPr>
      </p:pic>
      <p:sp>
        <p:nvSpPr>
          <p:cNvPr id="24" name="pillar-h-1"/>
          <p:cNvSpPr txBox="1"/>
          <p:nvPr/>
        </p:nvSpPr>
        <p:spPr>
          <a:xfrm>
            <a:off x="5074920" y="2468880"/>
            <a:ext cx="3474720" cy="320040"/>
          </a:xfrm>
          <a:prstGeom prst="rect">
            <a:avLst/>
          </a:prstGeom>
          <a:noFill/>
          <a:ln/>
        </p:spPr>
        <p:txBody>
          <a:bodyPr wrap="square" lIns="0" tIns="0" rIns="0" bIns="0" rtlCol="0" anchor="t"/>
          <a:lstStyle/>
          <a:p>
            <a:pPr indent="0" marL="0">
              <a:buNone/>
            </a:pPr>
            <a:r>
              <a:rPr lang="en-US" sz="1600" b="1" dirty="0">
                <a:solidFill>
                  <a:schemeClr val="tx1"/>
                </a:solidFill>
              </a:rPr>
              <a:t>Knowledge base</a:t>
            </a:r>
            <a:endParaRPr lang="en-US" sz="1600" dirty="0"/>
          </a:p>
        </p:txBody>
      </p:sp>
      <p:sp>
        <p:nvSpPr>
          <p:cNvPr id="25" name="pillar-b-1"/>
          <p:cNvSpPr txBox="1"/>
          <p:nvPr/>
        </p:nvSpPr>
        <p:spPr>
          <a:xfrm>
            <a:off x="5074920" y="2779776"/>
            <a:ext cx="3474720" cy="502920"/>
          </a:xfrm>
          <a:prstGeom prst="rect">
            <a:avLst/>
          </a:prstGeom>
          <a:noFill/>
          <a:ln/>
        </p:spPr>
        <p:txBody>
          <a:bodyPr wrap="square" lIns="0" tIns="0" rIns="0" bIns="0" rtlCol="0" anchor="t"/>
          <a:lstStyle/>
          <a:p>
            <a:pPr indent="0" marL="0">
              <a:buNone/>
            </a:pPr>
            <a:r>
              <a:rPr lang="en-US" sz="1200" dirty="0">
                <a:solidFill>
                  <a:schemeClr val="accent4"/>
                </a:solidFill>
              </a:rPr>
              <a:t>Learns from your PDFs, Word files, web pages and FAQs — and quotes them, not the internet.</a:t>
            </a:r>
            <a:endParaRPr lang="en-US" sz="1200" dirty="0"/>
          </a:p>
        </p:txBody>
      </p:sp>
      <p:sp>
        <p:nvSpPr>
          <p:cNvPr id="26" name="pillar-2"/>
          <p:cNvSpPr/>
          <p:nvPr/>
        </p:nvSpPr>
        <p:spPr>
          <a:xfrm>
            <a:off x="4114800" y="3465576"/>
            <a:ext cx="4572000" cy="978408"/>
          </a:xfrm>
          <a:prstGeom prst="roundRect">
            <a:avLst>
              <a:gd name="adj" fmla="val 11215"/>
            </a:avLst>
          </a:prstGeom>
          <a:solidFill>
            <a:schemeClr val="bg2"/>
          </a:solidFill>
          <a:ln/>
        </p:spPr>
      </p:sp>
      <p:sp>
        <p:nvSpPr>
          <p:cNvPr id="27" name="circle-pillar-2"/>
          <p:cNvSpPr/>
          <p:nvPr/>
        </p:nvSpPr>
        <p:spPr>
          <a:xfrm>
            <a:off x="4315968" y="3675888"/>
            <a:ext cx="548640" cy="548640"/>
          </a:xfrm>
          <a:prstGeom prst="ellipse">
            <a:avLst/>
          </a:prstGeom>
          <a:solidFill>
            <a:schemeClr val="accent2"/>
          </a:solidFill>
          <a:ln/>
        </p:spPr>
      </p:sp>
      <p:pic>
        <p:nvPicPr>
          <p:cNvPr id="28" name="icon-pillar-2" descr="preencoded.png">    </p:cNvPr>
          <p:cNvPicPr>
            <a:picLocks noChangeAspect="1"/>
          </p:cNvPicPr>
          <p:nvPr/>
        </p:nvPicPr>
        <p:blipFill>
          <a:blip r:embed="rId7"/>
          <a:stretch>
            <a:fillRect/>
          </a:stretch>
        </p:blipFill>
        <p:spPr>
          <a:xfrm>
            <a:off x="4453128" y="3813048"/>
            <a:ext cx="274320" cy="274320"/>
          </a:xfrm>
          <a:prstGeom prst="rect">
            <a:avLst/>
          </a:prstGeom>
        </p:spPr>
      </p:pic>
      <p:sp>
        <p:nvSpPr>
          <p:cNvPr id="29" name="pillar-h-2"/>
          <p:cNvSpPr txBox="1"/>
          <p:nvPr/>
        </p:nvSpPr>
        <p:spPr>
          <a:xfrm>
            <a:off x="5074920" y="3584448"/>
            <a:ext cx="3474720" cy="320040"/>
          </a:xfrm>
          <a:prstGeom prst="rect">
            <a:avLst/>
          </a:prstGeom>
          <a:noFill/>
          <a:ln/>
        </p:spPr>
        <p:txBody>
          <a:bodyPr wrap="square" lIns="0" tIns="0" rIns="0" bIns="0" rtlCol="0" anchor="t"/>
          <a:lstStyle/>
          <a:p>
            <a:pPr indent="0" marL="0">
              <a:buNone/>
            </a:pPr>
            <a:r>
              <a:rPr lang="en-US" sz="1600" b="1" dirty="0">
                <a:solidFill>
                  <a:schemeClr val="tx1"/>
                </a:solidFill>
              </a:rPr>
              <a:t>Team assistant</a:t>
            </a:r>
            <a:endParaRPr lang="en-US" sz="1600" dirty="0"/>
          </a:p>
        </p:txBody>
      </p:sp>
      <p:sp>
        <p:nvSpPr>
          <p:cNvPr id="30" name="pillar-b-2"/>
          <p:cNvSpPr txBox="1"/>
          <p:nvPr/>
        </p:nvSpPr>
        <p:spPr>
          <a:xfrm>
            <a:off x="5074920" y="3895344"/>
            <a:ext cx="3474720" cy="502920"/>
          </a:xfrm>
          <a:prstGeom prst="rect">
            <a:avLst/>
          </a:prstGeom>
          <a:noFill/>
          <a:ln/>
        </p:spPr>
        <p:txBody>
          <a:bodyPr wrap="square" lIns="0" tIns="0" rIns="0" bIns="0" rtlCol="0" anchor="t"/>
          <a:lstStyle/>
          <a:p>
            <a:pPr indent="0" marL="0">
              <a:buNone/>
            </a:pPr>
            <a:r>
              <a:rPr lang="en-US" sz="1200" dirty="0">
                <a:solidFill>
                  <a:schemeClr val="accent4"/>
                </a:solidFill>
              </a:rPr>
              <a:t>Email, calendar, tasks, reminders, expenses and research for your own staff.</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How a customer conversation flows</a:t>
            </a:r>
            <a:endParaRPr lang="en-US" sz="3200" dirty="0"/>
          </a:p>
        </p:txBody>
      </p:sp>
      <p:sp>
        <p:nvSpPr>
          <p:cNvPr id="3" name="circle-step-0"/>
          <p:cNvSpPr/>
          <p:nvPr/>
        </p:nvSpPr>
        <p:spPr>
          <a:xfrm>
            <a:off x="914400" y="1280160"/>
            <a:ext cx="640080" cy="640080"/>
          </a:xfrm>
          <a:prstGeom prst="ellipse">
            <a:avLst/>
          </a:prstGeom>
          <a:solidFill>
            <a:schemeClr val="accent2"/>
          </a:solidFill>
          <a:ln/>
        </p:spPr>
      </p:sp>
      <p:pic>
        <p:nvPicPr>
          <p:cNvPr id="4" name="icon-step-0" descr="preencoded.png">    </p:cNvPr>
          <p:cNvPicPr>
            <a:picLocks noChangeAspect="1"/>
          </p:cNvPicPr>
          <p:nvPr/>
        </p:nvPicPr>
        <p:blipFill>
          <a:blip r:embed="rId1"/>
          <a:stretch>
            <a:fillRect/>
          </a:stretch>
        </p:blipFill>
        <p:spPr>
          <a:xfrm>
            <a:off x="1074420" y="1440180"/>
            <a:ext cx="320040" cy="320040"/>
          </a:xfrm>
          <a:prstGeom prst="rect">
            <a:avLst/>
          </a:prstGeom>
        </p:spPr>
      </p:pic>
      <p:sp>
        <p:nvSpPr>
          <p:cNvPr id="5" name="arrow-0"/>
          <p:cNvSpPr/>
          <p:nvPr/>
        </p:nvSpPr>
        <p:spPr>
          <a:xfrm>
            <a:off x="1645920" y="1600200"/>
            <a:ext cx="914400" cy="0"/>
          </a:xfrm>
          <a:prstGeom prst="line">
            <a:avLst/>
          </a:prstGeom>
          <a:noFill/>
          <a:ln w="15875">
            <a:solidFill>
              <a:schemeClr val="accent4"/>
            </a:solidFill>
            <a:prstDash val="dash"/>
            <a:tailEnd type="triangle"/>
          </a:ln>
        </p:spPr>
      </p:sp>
      <p:sp>
        <p:nvSpPr>
          <p:cNvPr id="6" name="step-h-0"/>
          <p:cNvSpPr txBox="1"/>
          <p:nvPr/>
        </p:nvSpPr>
        <p:spPr>
          <a:xfrm>
            <a:off x="457200" y="2103120"/>
            <a:ext cx="1554480" cy="365760"/>
          </a:xfrm>
          <a:prstGeom prst="rect">
            <a:avLst/>
          </a:prstGeom>
          <a:noFill/>
          <a:ln/>
        </p:spPr>
        <p:txBody>
          <a:bodyPr wrap="square" lIns="0" tIns="0" rIns="0" bIns="0" rtlCol="0" anchor="t"/>
          <a:lstStyle/>
          <a:p>
            <a:pPr algn="ctr" indent="0" marL="0">
              <a:buNone/>
            </a:pPr>
            <a:r>
              <a:rPr lang="en-US" sz="1500" b="1" dirty="0">
                <a:solidFill>
                  <a:schemeClr val="tx1"/>
                </a:solidFill>
              </a:rPr>
              <a:t>1. Customer writes</a:t>
            </a:r>
            <a:endParaRPr lang="en-US" sz="1500" dirty="0"/>
          </a:p>
        </p:txBody>
      </p:sp>
      <p:sp>
        <p:nvSpPr>
          <p:cNvPr id="7" name="step-b-0"/>
          <p:cNvSpPr txBox="1"/>
          <p:nvPr/>
        </p:nvSpPr>
        <p:spPr>
          <a:xfrm>
            <a:off x="475488" y="2514600"/>
            <a:ext cx="1517904" cy="1325880"/>
          </a:xfrm>
          <a:prstGeom prst="rect">
            <a:avLst/>
          </a:prstGeom>
          <a:noFill/>
          <a:ln/>
        </p:spPr>
        <p:txBody>
          <a:bodyPr wrap="square" lIns="0" tIns="0" rIns="0" bIns="0" rtlCol="0" anchor="t"/>
          <a:lstStyle/>
          <a:p>
            <a:pPr algn="ctr" indent="0" marL="0">
              <a:buNone/>
            </a:pPr>
            <a:r>
              <a:rPr lang="en-US" sz="1200" dirty="0">
                <a:solidFill>
                  <a:schemeClr val="accent4"/>
                </a:solidFill>
              </a:rPr>
              <a:t>On WhatsApp or Telegram — text or voice note, in their own language.</a:t>
            </a:r>
            <a:endParaRPr lang="en-US" sz="1200" dirty="0"/>
          </a:p>
        </p:txBody>
      </p:sp>
      <p:sp>
        <p:nvSpPr>
          <p:cNvPr id="8" name="circle-step-1"/>
          <p:cNvSpPr/>
          <p:nvPr/>
        </p:nvSpPr>
        <p:spPr>
          <a:xfrm>
            <a:off x="2596896" y="1280160"/>
            <a:ext cx="640080" cy="640080"/>
          </a:xfrm>
          <a:prstGeom prst="ellipse">
            <a:avLst/>
          </a:prstGeom>
          <a:solidFill>
            <a:schemeClr val="accent2"/>
          </a:solidFill>
          <a:ln/>
        </p:spPr>
      </p:sp>
      <p:pic>
        <p:nvPicPr>
          <p:cNvPr id="9" name="icon-step-1" descr="preencoded.png">    </p:cNvPr>
          <p:cNvPicPr>
            <a:picLocks noChangeAspect="1"/>
          </p:cNvPicPr>
          <p:nvPr/>
        </p:nvPicPr>
        <p:blipFill>
          <a:blip r:embed="rId2"/>
          <a:stretch>
            <a:fillRect/>
          </a:stretch>
        </p:blipFill>
        <p:spPr>
          <a:xfrm>
            <a:off x="2756916" y="1440180"/>
            <a:ext cx="320040" cy="320040"/>
          </a:xfrm>
          <a:prstGeom prst="rect">
            <a:avLst/>
          </a:prstGeom>
        </p:spPr>
      </p:pic>
      <p:sp>
        <p:nvSpPr>
          <p:cNvPr id="10" name="arrow-1"/>
          <p:cNvSpPr/>
          <p:nvPr/>
        </p:nvSpPr>
        <p:spPr>
          <a:xfrm>
            <a:off x="3328416" y="1600200"/>
            <a:ext cx="914400" cy="0"/>
          </a:xfrm>
          <a:prstGeom prst="line">
            <a:avLst/>
          </a:prstGeom>
          <a:noFill/>
          <a:ln w="15875">
            <a:solidFill>
              <a:schemeClr val="accent4"/>
            </a:solidFill>
            <a:prstDash val="dash"/>
            <a:tailEnd type="triangle"/>
          </a:ln>
        </p:spPr>
      </p:sp>
      <p:sp>
        <p:nvSpPr>
          <p:cNvPr id="11" name="step-h-1"/>
          <p:cNvSpPr txBox="1"/>
          <p:nvPr/>
        </p:nvSpPr>
        <p:spPr>
          <a:xfrm>
            <a:off x="2139696" y="2103120"/>
            <a:ext cx="1554480" cy="365760"/>
          </a:xfrm>
          <a:prstGeom prst="rect">
            <a:avLst/>
          </a:prstGeom>
          <a:noFill/>
          <a:ln/>
        </p:spPr>
        <p:txBody>
          <a:bodyPr wrap="square" lIns="0" tIns="0" rIns="0" bIns="0" rtlCol="0" anchor="t"/>
          <a:lstStyle/>
          <a:p>
            <a:pPr algn="ctr" indent="0" marL="0">
              <a:buNone/>
            </a:pPr>
            <a:r>
              <a:rPr lang="en-US" sz="1500" b="1" dirty="0">
                <a:solidFill>
                  <a:schemeClr val="tx1"/>
                </a:solidFill>
              </a:rPr>
              <a:t>2. Bot answers</a:t>
            </a:r>
            <a:endParaRPr lang="en-US" sz="1500" dirty="0"/>
          </a:p>
        </p:txBody>
      </p:sp>
      <p:sp>
        <p:nvSpPr>
          <p:cNvPr id="12" name="step-b-1"/>
          <p:cNvSpPr txBox="1"/>
          <p:nvPr/>
        </p:nvSpPr>
        <p:spPr>
          <a:xfrm>
            <a:off x="2157984" y="2514600"/>
            <a:ext cx="1517904" cy="1325880"/>
          </a:xfrm>
          <a:prstGeom prst="rect">
            <a:avLst/>
          </a:prstGeom>
          <a:noFill/>
          <a:ln/>
        </p:spPr>
        <p:txBody>
          <a:bodyPr wrap="square" lIns="0" tIns="0" rIns="0" bIns="0" rtlCol="0" anchor="t"/>
          <a:lstStyle/>
          <a:p>
            <a:pPr algn="ctr" indent="0" marL="0">
              <a:buNone/>
            </a:pPr>
            <a:r>
              <a:rPr lang="en-US" sz="1200" dirty="0">
                <a:solidFill>
                  <a:schemeClr val="accent4"/>
                </a:solidFill>
              </a:rPr>
              <a:t>From your documents, naming the source. If it isn’t there, it says so.</a:t>
            </a:r>
            <a:endParaRPr lang="en-US" sz="1200" dirty="0"/>
          </a:p>
        </p:txBody>
      </p:sp>
      <p:sp>
        <p:nvSpPr>
          <p:cNvPr id="13" name="circle-step-2"/>
          <p:cNvSpPr/>
          <p:nvPr/>
        </p:nvSpPr>
        <p:spPr>
          <a:xfrm>
            <a:off x="4279392" y="1280160"/>
            <a:ext cx="640080" cy="640080"/>
          </a:xfrm>
          <a:prstGeom prst="ellipse">
            <a:avLst/>
          </a:prstGeom>
          <a:solidFill>
            <a:schemeClr val="accent1"/>
          </a:solidFill>
          <a:ln/>
        </p:spPr>
      </p:sp>
      <p:pic>
        <p:nvPicPr>
          <p:cNvPr id="14" name="icon-step-2" descr="preencoded.png">    </p:cNvPr>
          <p:cNvPicPr>
            <a:picLocks noChangeAspect="1"/>
          </p:cNvPicPr>
          <p:nvPr/>
        </p:nvPicPr>
        <p:blipFill>
          <a:blip r:embed="rId3"/>
          <a:stretch>
            <a:fillRect/>
          </a:stretch>
        </p:blipFill>
        <p:spPr>
          <a:xfrm>
            <a:off x="4439412" y="1440180"/>
            <a:ext cx="320040" cy="320040"/>
          </a:xfrm>
          <a:prstGeom prst="rect">
            <a:avLst/>
          </a:prstGeom>
        </p:spPr>
      </p:pic>
      <p:sp>
        <p:nvSpPr>
          <p:cNvPr id="15" name="arrow-2"/>
          <p:cNvSpPr/>
          <p:nvPr/>
        </p:nvSpPr>
        <p:spPr>
          <a:xfrm>
            <a:off x="5010912" y="1600200"/>
            <a:ext cx="914400" cy="0"/>
          </a:xfrm>
          <a:prstGeom prst="line">
            <a:avLst/>
          </a:prstGeom>
          <a:noFill/>
          <a:ln w="15875">
            <a:solidFill>
              <a:schemeClr val="accent4"/>
            </a:solidFill>
            <a:prstDash val="dash"/>
            <a:tailEnd type="triangle"/>
          </a:ln>
        </p:spPr>
      </p:sp>
      <p:sp>
        <p:nvSpPr>
          <p:cNvPr id="16" name="step-h-2"/>
          <p:cNvSpPr txBox="1"/>
          <p:nvPr/>
        </p:nvSpPr>
        <p:spPr>
          <a:xfrm>
            <a:off x="3822192" y="2103120"/>
            <a:ext cx="1554480" cy="365760"/>
          </a:xfrm>
          <a:prstGeom prst="rect">
            <a:avLst/>
          </a:prstGeom>
          <a:noFill/>
          <a:ln/>
        </p:spPr>
        <p:txBody>
          <a:bodyPr wrap="square" lIns="0" tIns="0" rIns="0" bIns="0" rtlCol="0" anchor="t"/>
          <a:lstStyle/>
          <a:p>
            <a:pPr algn="ctr" indent="0" marL="0">
              <a:buNone/>
            </a:pPr>
            <a:r>
              <a:rPr lang="en-US" sz="1500" b="1" dirty="0">
                <a:solidFill>
                  <a:schemeClr val="tx1"/>
                </a:solidFill>
              </a:rPr>
              <a:t>3. Hands over</a:t>
            </a:r>
            <a:endParaRPr lang="en-US" sz="1500" dirty="0"/>
          </a:p>
        </p:txBody>
      </p:sp>
      <p:sp>
        <p:nvSpPr>
          <p:cNvPr id="17" name="step-b-2"/>
          <p:cNvSpPr txBox="1"/>
          <p:nvPr/>
        </p:nvSpPr>
        <p:spPr>
          <a:xfrm>
            <a:off x="3840480" y="2514600"/>
            <a:ext cx="1517904" cy="1325880"/>
          </a:xfrm>
          <a:prstGeom prst="rect">
            <a:avLst/>
          </a:prstGeom>
          <a:noFill/>
          <a:ln/>
        </p:spPr>
        <p:txBody>
          <a:bodyPr wrap="square" lIns="0" tIns="0" rIns="0" bIns="0" rtlCol="0" anchor="t"/>
          <a:lstStyle/>
          <a:p>
            <a:pPr algn="ctr" indent="0" marL="0">
              <a:buNone/>
            </a:pPr>
            <a:r>
              <a:rPr lang="en-US" sz="1200" dirty="0">
                <a:solidFill>
                  <a:schemeClr val="accent4"/>
                </a:solidFill>
              </a:rPr>
              <a:t>Customer asks for a person, is upset, wants a refund or booking — or the answer isn’t known.</a:t>
            </a:r>
            <a:endParaRPr lang="en-US" sz="1200" dirty="0"/>
          </a:p>
        </p:txBody>
      </p:sp>
      <p:sp>
        <p:nvSpPr>
          <p:cNvPr id="18" name="circle-step-3"/>
          <p:cNvSpPr/>
          <p:nvPr/>
        </p:nvSpPr>
        <p:spPr>
          <a:xfrm>
            <a:off x="5961888" y="1280160"/>
            <a:ext cx="640080" cy="640080"/>
          </a:xfrm>
          <a:prstGeom prst="ellipse">
            <a:avLst/>
          </a:prstGeom>
          <a:solidFill>
            <a:schemeClr val="accent1"/>
          </a:solidFill>
          <a:ln/>
        </p:spPr>
      </p:sp>
      <p:pic>
        <p:nvPicPr>
          <p:cNvPr id="19" name="icon-step-3" descr="preencoded.png">    </p:cNvPr>
          <p:cNvPicPr>
            <a:picLocks noChangeAspect="1"/>
          </p:cNvPicPr>
          <p:nvPr/>
        </p:nvPicPr>
        <p:blipFill>
          <a:blip r:embed="rId4"/>
          <a:stretch>
            <a:fillRect/>
          </a:stretch>
        </p:blipFill>
        <p:spPr>
          <a:xfrm>
            <a:off x="6121908" y="1440180"/>
            <a:ext cx="320040" cy="320040"/>
          </a:xfrm>
          <a:prstGeom prst="rect">
            <a:avLst/>
          </a:prstGeom>
        </p:spPr>
      </p:pic>
      <p:sp>
        <p:nvSpPr>
          <p:cNvPr id="20" name="arrow-3"/>
          <p:cNvSpPr/>
          <p:nvPr/>
        </p:nvSpPr>
        <p:spPr>
          <a:xfrm>
            <a:off x="6693408" y="1600200"/>
            <a:ext cx="914400" cy="0"/>
          </a:xfrm>
          <a:prstGeom prst="line">
            <a:avLst/>
          </a:prstGeom>
          <a:noFill/>
          <a:ln w="15875">
            <a:solidFill>
              <a:schemeClr val="accent4"/>
            </a:solidFill>
            <a:prstDash val="dash"/>
            <a:tailEnd type="triangle"/>
          </a:ln>
        </p:spPr>
      </p:sp>
      <p:sp>
        <p:nvSpPr>
          <p:cNvPr id="21" name="step-h-3"/>
          <p:cNvSpPr txBox="1"/>
          <p:nvPr/>
        </p:nvSpPr>
        <p:spPr>
          <a:xfrm>
            <a:off x="5504688" y="2103120"/>
            <a:ext cx="1554480" cy="365760"/>
          </a:xfrm>
          <a:prstGeom prst="rect">
            <a:avLst/>
          </a:prstGeom>
          <a:noFill/>
          <a:ln/>
        </p:spPr>
        <p:txBody>
          <a:bodyPr wrap="square" lIns="0" tIns="0" rIns="0" bIns="0" rtlCol="0" anchor="t"/>
          <a:lstStyle/>
          <a:p>
            <a:pPr algn="ctr" indent="0" marL="0">
              <a:buNone/>
            </a:pPr>
            <a:r>
              <a:rPr lang="en-US" sz="1500" b="1" dirty="0">
                <a:solidFill>
                  <a:schemeClr val="tx1"/>
                </a:solidFill>
              </a:rPr>
              <a:t>4. Team replies</a:t>
            </a:r>
            <a:endParaRPr lang="en-US" sz="1500" dirty="0"/>
          </a:p>
        </p:txBody>
      </p:sp>
      <p:sp>
        <p:nvSpPr>
          <p:cNvPr id="22" name="step-b-3"/>
          <p:cNvSpPr txBox="1"/>
          <p:nvPr/>
        </p:nvSpPr>
        <p:spPr>
          <a:xfrm>
            <a:off x="5522976" y="2514600"/>
            <a:ext cx="1517904" cy="1325880"/>
          </a:xfrm>
          <a:prstGeom prst="rect">
            <a:avLst/>
          </a:prstGeom>
          <a:noFill/>
          <a:ln/>
        </p:spPr>
        <p:txBody>
          <a:bodyPr wrap="square" lIns="0" tIns="0" rIns="0" bIns="0" rtlCol="0" anchor="t"/>
          <a:lstStyle/>
          <a:p>
            <a:pPr algn="ctr" indent="0" marL="0">
              <a:buNone/>
            </a:pPr>
            <a:r>
              <a:rPr lang="en-US" sz="1200" dirty="0">
                <a:solidFill>
                  <a:schemeClr val="accent4"/>
                </a:solidFill>
              </a:rPr>
              <a:t>Staff get an alert with a summary and reply from the Inbox, on the customer’s own chat.</a:t>
            </a:r>
            <a:endParaRPr lang="en-US" sz="1200" dirty="0"/>
          </a:p>
        </p:txBody>
      </p:sp>
      <p:sp>
        <p:nvSpPr>
          <p:cNvPr id="23" name="circle-step-4"/>
          <p:cNvSpPr/>
          <p:nvPr/>
        </p:nvSpPr>
        <p:spPr>
          <a:xfrm>
            <a:off x="7644384" y="1280160"/>
            <a:ext cx="640080" cy="640080"/>
          </a:xfrm>
          <a:prstGeom prst="ellipse">
            <a:avLst/>
          </a:prstGeom>
          <a:solidFill>
            <a:schemeClr val="accent2"/>
          </a:solidFill>
          <a:ln/>
        </p:spPr>
      </p:sp>
      <p:pic>
        <p:nvPicPr>
          <p:cNvPr id="24" name="icon-step-4" descr="preencoded.png">    </p:cNvPr>
          <p:cNvPicPr>
            <a:picLocks noChangeAspect="1"/>
          </p:cNvPicPr>
          <p:nvPr/>
        </p:nvPicPr>
        <p:blipFill>
          <a:blip r:embed="rId5"/>
          <a:stretch>
            <a:fillRect/>
          </a:stretch>
        </p:blipFill>
        <p:spPr>
          <a:xfrm>
            <a:off x="7804404" y="1440180"/>
            <a:ext cx="320040" cy="320040"/>
          </a:xfrm>
          <a:prstGeom prst="rect">
            <a:avLst/>
          </a:prstGeom>
        </p:spPr>
      </p:pic>
      <p:sp>
        <p:nvSpPr>
          <p:cNvPr id="25" name="step-h-4"/>
          <p:cNvSpPr txBox="1"/>
          <p:nvPr/>
        </p:nvSpPr>
        <p:spPr>
          <a:xfrm>
            <a:off x="7187184" y="2103120"/>
            <a:ext cx="1554480" cy="365760"/>
          </a:xfrm>
          <a:prstGeom prst="rect">
            <a:avLst/>
          </a:prstGeom>
          <a:noFill/>
          <a:ln/>
        </p:spPr>
        <p:txBody>
          <a:bodyPr wrap="square" lIns="0" tIns="0" rIns="0" bIns="0" rtlCol="0" anchor="t"/>
          <a:lstStyle/>
          <a:p>
            <a:pPr algn="ctr" indent="0" marL="0">
              <a:buNone/>
            </a:pPr>
            <a:r>
              <a:rPr lang="en-US" sz="1500" b="1" dirty="0">
                <a:solidFill>
                  <a:schemeClr val="tx1"/>
                </a:solidFill>
              </a:rPr>
              <a:t>5. Bot resumes</a:t>
            </a:r>
            <a:endParaRPr lang="en-US" sz="1500" dirty="0"/>
          </a:p>
        </p:txBody>
      </p:sp>
      <p:sp>
        <p:nvSpPr>
          <p:cNvPr id="26" name="step-b-4"/>
          <p:cNvSpPr txBox="1"/>
          <p:nvPr/>
        </p:nvSpPr>
        <p:spPr>
          <a:xfrm>
            <a:off x="7205472" y="2514600"/>
            <a:ext cx="1517904" cy="1325880"/>
          </a:xfrm>
          <a:prstGeom prst="rect">
            <a:avLst/>
          </a:prstGeom>
          <a:noFill/>
          <a:ln/>
        </p:spPr>
        <p:txBody>
          <a:bodyPr wrap="square" lIns="0" tIns="0" rIns="0" bIns="0" rtlCol="0" anchor="t"/>
          <a:lstStyle/>
          <a:p>
            <a:pPr algn="ctr" indent="0" marL="0">
              <a:buNone/>
            </a:pPr>
            <a:r>
              <a:rPr lang="en-US" sz="1200" dirty="0">
                <a:solidFill>
                  <a:schemeClr val="accent4"/>
                </a:solidFill>
              </a:rPr>
              <a:t>One click hands the chat back. The bot knows what your team said.</a:t>
            </a:r>
            <a:endParaRPr lang="en-US" sz="1200" dirty="0"/>
          </a:p>
        </p:txBody>
      </p:sp>
      <p:sp>
        <p:nvSpPr>
          <p:cNvPr id="27" name="flow-note"/>
          <p:cNvSpPr/>
          <p:nvPr/>
        </p:nvSpPr>
        <p:spPr>
          <a:xfrm>
            <a:off x="457200" y="3977640"/>
            <a:ext cx="8229600" cy="548640"/>
          </a:xfrm>
          <a:prstGeom prst="roundRect">
            <a:avLst>
              <a:gd name="adj" fmla="val 20000"/>
            </a:avLst>
          </a:prstGeom>
          <a:solidFill>
            <a:schemeClr val="accent5"/>
          </a:solidFill>
          <a:ln/>
        </p:spPr>
      </p:sp>
      <p:sp>
        <p:nvSpPr>
          <p:cNvPr id="28" name="flow-note-t"/>
          <p:cNvSpPr txBox="1"/>
          <p:nvPr/>
        </p:nvSpPr>
        <p:spPr>
          <a:xfrm>
            <a:off x="685800" y="3977640"/>
            <a:ext cx="7772400" cy="548640"/>
          </a:xfrm>
          <a:prstGeom prst="rect">
            <a:avLst/>
          </a:prstGeom>
          <a:noFill/>
          <a:ln/>
        </p:spPr>
        <p:txBody>
          <a:bodyPr wrap="square" lIns="0" tIns="0" rIns="0" bIns="0" rtlCol="0" anchor="ctr"/>
          <a:lstStyle/>
          <a:p>
            <a:pPr indent="0" marL="0">
              <a:buNone/>
            </a:pPr>
            <a:r>
              <a:rPr lang="en-US" sz="1400" dirty="0">
                <a:solidFill>
                  <a:schemeClr val="tx1"/>
                </a:solidFill>
              </a:rPr>
              <a:t>While a person is handling the chat, the bot stays silent — your customer never gets two answers.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The customer desk in action</a:t>
            </a:r>
            <a:endParaRPr lang="en-US" sz="3200" dirty="0"/>
          </a:p>
        </p:txBody>
      </p:sp>
      <p:sp>
        <p:nvSpPr>
          <p:cNvPr id="3" name="desk-points"/>
          <p:cNvSpPr txBox="1"/>
          <p:nvPr/>
        </p:nvSpPr>
        <p:spPr>
          <a:xfrm>
            <a:off x="457200" y="1188720"/>
            <a:ext cx="3017520" cy="3429000"/>
          </a:xfrm>
          <a:prstGeom prst="rect">
            <a:avLst/>
          </a:prstGeom>
          <a:noFill/>
          <a:ln/>
        </p:spPr>
        <p:txBody>
          <a:bodyPr wrap="square" lIns="0" tIns="0" rIns="0" bIns="0" rtlCol="0" anchor="t"/>
          <a:lstStyle/>
          <a:p>
            <a:pPr indent="0" marL="0">
              <a:buNone/>
            </a:pPr>
            <a:r>
              <a:rPr lang="en-US" sz="1500" b="1" dirty="0">
                <a:solidFill>
                  <a:schemeClr val="tx1"/>
                </a:solidFill>
              </a:rPr>
              <a:t>Answers in the customer’s language</a:t>
            </a:r>
            <a:endParaRPr lang="en-US" sz="1500" dirty="0"/>
          </a:p>
          <a:p>
            <a:pPr indent="0" marL="0">
              <a:spcAft>
                <a:spcPts val="1000"/>
              </a:spcAft>
              <a:buNone/>
            </a:pPr>
            <a:r>
              <a:rPr lang="en-US" sz="1300" dirty="0">
                <a:solidFill>
                  <a:schemeClr val="accent4"/>
                </a:solidFill>
              </a:rPr>
              <a:t>English, Hindi, Hinglish — text or voice notes.</a:t>
            </a:r>
            <a:endParaRPr lang="en-US" sz="1500" dirty="0"/>
          </a:p>
          <a:p>
            <a:pPr indent="0" marL="0">
              <a:buNone/>
            </a:pPr>
            <a:r>
              <a:rPr lang="en-US" sz="1500" b="1" dirty="0">
                <a:solidFill>
                  <a:schemeClr val="tx1"/>
                </a:solidFill>
              </a:rPr>
              <a:t>Hands over with a summary</a:t>
            </a:r>
            <a:endParaRPr lang="en-US" sz="1500" dirty="0"/>
          </a:p>
          <a:p>
            <a:pPr indent="0" marL="0">
              <a:spcAft>
                <a:spcPts val="1000"/>
              </a:spcAft>
              <a:buNone/>
            </a:pPr>
            <a:r>
              <a:rPr lang="en-US" sz="1300" dirty="0">
                <a:solidFill>
                  <a:schemeClr val="accent4"/>
                </a:solidFill>
              </a:rPr>
              <a:t>Your team sees why the customer needs a person.</a:t>
            </a:r>
            <a:endParaRPr lang="en-US" sz="1500" dirty="0"/>
          </a:p>
          <a:p>
            <a:pPr indent="0" marL="0">
              <a:buNone/>
            </a:pPr>
            <a:r>
              <a:rPr lang="en-US" sz="1500" b="1" dirty="0">
                <a:solidFill>
                  <a:schemeClr val="tx1"/>
                </a:solidFill>
              </a:rPr>
              <a:t>Quiet while your team replies</a:t>
            </a:r>
            <a:endParaRPr lang="en-US" sz="1500" dirty="0"/>
          </a:p>
          <a:p>
            <a:pPr indent="0" marL="0">
              <a:spcAft>
                <a:spcPts val="1000"/>
              </a:spcAft>
              <a:buNone/>
            </a:pPr>
            <a:r>
              <a:rPr lang="en-US" sz="1300" dirty="0">
                <a:solidFill>
                  <a:schemeClr val="accent4"/>
                </a:solidFill>
              </a:rPr>
              <a:t>Then picks up exactly where they left off.</a:t>
            </a:r>
            <a:endParaRPr lang="en-US" sz="1500" dirty="0"/>
          </a:p>
          <a:p>
            <a:pPr indent="0" marL="0">
              <a:buNone/>
            </a:pPr>
            <a:r>
              <a:rPr lang="en-US" sz="1500" b="1" dirty="0">
                <a:solidFill>
                  <a:schemeClr val="tx1"/>
                </a:solidFill>
              </a:rPr>
              <a:t>Test before you go live</a:t>
            </a:r>
            <a:endParaRPr lang="en-US" sz="1500" dirty="0"/>
          </a:p>
          <a:p>
            <a:pPr indent="0" marL="0">
              <a:spcAft>
                <a:spcPts val="1000"/>
              </a:spcAft>
              <a:buNone/>
            </a:pPr>
            <a:r>
              <a:rPr lang="en-US" sz="1300" dirty="0">
                <a:solidFill>
                  <a:schemeClr val="accent4"/>
                </a:solidFill>
              </a:rPr>
              <a:t>“Test as a customer” runs the full flow in the browser.</a:t>
            </a:r>
            <a:endParaRPr lang="en-US" sz="1500" dirty="0"/>
          </a:p>
        </p:txBody>
      </p:sp>
      <p:pic>
        <p:nvPicPr>
          <p:cNvPr id="4" name="desk-shot" descr="Customer desk settings and the test-as-a-customer chat, showing a staff reply and the bot resuming">    </p:cNvPr>
          <p:cNvPicPr>
            <a:picLocks noChangeAspect="1"/>
          </p:cNvPicPr>
          <p:nvPr/>
        </p:nvPicPr>
        <p:blipFill>
          <a:blip r:embed="rId1"/>
          <a:stretch>
            <a:fillRect/>
          </a:stretch>
        </p:blipFill>
        <p:spPr>
          <a:xfrm>
            <a:off x="3657600" y="1188720"/>
            <a:ext cx="5029200" cy="3482924"/>
          </a:xfrm>
          <a:prstGeom prst="rect">
            <a:avLst/>
          </a:prstGeom>
          <a:effectLst>
            <a:outerShdw sx="100000" sy="100000" kx="0" ky="0" algn="bl" rotWithShape="0" blurRad="101600" dist="25400" dir="5400000">
              <a:srgbClr val="000000">
                <a:alpha val="18000"/>
              </a:srgbClr>
            </a:outerShdw>
          </a:effectLst>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Answers only from your documents</a:t>
            </a:r>
            <a:endParaRPr lang="en-US" sz="3200" dirty="0"/>
          </a:p>
        </p:txBody>
      </p:sp>
      <p:sp>
        <p:nvSpPr>
          <p:cNvPr id="3" name="circle-kb-0"/>
          <p:cNvSpPr/>
          <p:nvPr/>
        </p:nvSpPr>
        <p:spPr>
          <a:xfrm>
            <a:off x="457200" y="1234440"/>
            <a:ext cx="502920" cy="502920"/>
          </a:xfrm>
          <a:prstGeom prst="ellipse">
            <a:avLst/>
          </a:prstGeom>
          <a:solidFill>
            <a:schemeClr val="accent2"/>
          </a:solidFill>
          <a:ln/>
        </p:spPr>
      </p:sp>
      <p:pic>
        <p:nvPicPr>
          <p:cNvPr id="4" name="icon-kb-0" descr="preencoded.png">    </p:cNvPr>
          <p:cNvPicPr>
            <a:picLocks noChangeAspect="1"/>
          </p:cNvPicPr>
          <p:nvPr/>
        </p:nvPicPr>
        <p:blipFill>
          <a:blip r:embed="rId1"/>
          <a:stretch>
            <a:fillRect/>
          </a:stretch>
        </p:blipFill>
        <p:spPr>
          <a:xfrm>
            <a:off x="582930" y="1360170"/>
            <a:ext cx="251460" cy="251460"/>
          </a:xfrm>
          <a:prstGeom prst="rect">
            <a:avLst/>
          </a:prstGeom>
        </p:spPr>
      </p:pic>
      <p:sp>
        <p:nvSpPr>
          <p:cNvPr id="5" name="kb-h-0"/>
          <p:cNvSpPr txBox="1"/>
          <p:nvPr/>
        </p:nvSpPr>
        <p:spPr>
          <a:xfrm>
            <a:off x="1143000" y="1188720"/>
            <a:ext cx="2606040" cy="292608"/>
          </a:xfrm>
          <a:prstGeom prst="rect">
            <a:avLst/>
          </a:prstGeom>
          <a:noFill/>
          <a:ln/>
        </p:spPr>
        <p:txBody>
          <a:bodyPr wrap="square" lIns="0" tIns="0" rIns="0" bIns="0" rtlCol="0" anchor="t"/>
          <a:lstStyle/>
          <a:p>
            <a:pPr indent="0" marL="0">
              <a:buNone/>
            </a:pPr>
            <a:r>
              <a:rPr lang="en-US" sz="1500" b="1" dirty="0">
                <a:solidFill>
                  <a:schemeClr val="tx1"/>
                </a:solidFill>
              </a:rPr>
              <a:t>Add your content</a:t>
            </a:r>
            <a:endParaRPr lang="en-US" sz="1500" dirty="0"/>
          </a:p>
        </p:txBody>
      </p:sp>
      <p:sp>
        <p:nvSpPr>
          <p:cNvPr id="6" name="kb-b-0"/>
          <p:cNvSpPr txBox="1"/>
          <p:nvPr/>
        </p:nvSpPr>
        <p:spPr>
          <a:xfrm>
            <a:off x="1143000" y="1490472"/>
            <a:ext cx="2606040" cy="502920"/>
          </a:xfrm>
          <a:prstGeom prst="rect">
            <a:avLst/>
          </a:prstGeom>
          <a:noFill/>
          <a:ln/>
        </p:spPr>
        <p:txBody>
          <a:bodyPr wrap="square" lIns="0" tIns="0" rIns="0" bIns="0" rtlCol="0" anchor="t"/>
          <a:lstStyle/>
          <a:p>
            <a:pPr indent="0" marL="0">
              <a:buNone/>
            </a:pPr>
            <a:r>
              <a:rPr lang="en-US" sz="1200" dirty="0">
                <a:solidFill>
                  <a:schemeClr val="accent4"/>
                </a:solidFill>
              </a:rPr>
              <a:t>PDF, Word, web pages, or paste your FAQs and price list.</a:t>
            </a:r>
            <a:endParaRPr lang="en-US" sz="1200" dirty="0"/>
          </a:p>
        </p:txBody>
      </p:sp>
      <p:sp>
        <p:nvSpPr>
          <p:cNvPr id="7" name="circle-kb-1"/>
          <p:cNvSpPr/>
          <p:nvPr/>
        </p:nvSpPr>
        <p:spPr>
          <a:xfrm>
            <a:off x="457200" y="2084832"/>
            <a:ext cx="502920" cy="502920"/>
          </a:xfrm>
          <a:prstGeom prst="ellipse">
            <a:avLst/>
          </a:prstGeom>
          <a:solidFill>
            <a:schemeClr val="accent2"/>
          </a:solidFill>
          <a:ln/>
        </p:spPr>
      </p:sp>
      <p:pic>
        <p:nvPicPr>
          <p:cNvPr id="8" name="icon-kb-1" descr="preencoded.png">    </p:cNvPr>
          <p:cNvPicPr>
            <a:picLocks noChangeAspect="1"/>
          </p:cNvPicPr>
          <p:nvPr/>
        </p:nvPicPr>
        <p:blipFill>
          <a:blip r:embed="rId2"/>
          <a:stretch>
            <a:fillRect/>
          </a:stretch>
        </p:blipFill>
        <p:spPr>
          <a:xfrm>
            <a:off x="582930" y="2210562"/>
            <a:ext cx="251460" cy="251460"/>
          </a:xfrm>
          <a:prstGeom prst="rect">
            <a:avLst/>
          </a:prstGeom>
        </p:spPr>
      </p:pic>
      <p:sp>
        <p:nvSpPr>
          <p:cNvPr id="9" name="kb-h-1"/>
          <p:cNvSpPr txBox="1"/>
          <p:nvPr/>
        </p:nvSpPr>
        <p:spPr>
          <a:xfrm>
            <a:off x="1143000" y="2039112"/>
            <a:ext cx="2606040" cy="292608"/>
          </a:xfrm>
          <a:prstGeom prst="rect">
            <a:avLst/>
          </a:prstGeom>
          <a:noFill/>
          <a:ln/>
        </p:spPr>
        <p:txBody>
          <a:bodyPr wrap="square" lIns="0" tIns="0" rIns="0" bIns="0" rtlCol="0" anchor="t"/>
          <a:lstStyle/>
          <a:p>
            <a:pPr indent="0" marL="0">
              <a:buNone/>
            </a:pPr>
            <a:r>
              <a:rPr lang="en-US" sz="1500" b="1" dirty="0">
                <a:solidFill>
                  <a:schemeClr val="tx1"/>
                </a:solidFill>
              </a:rPr>
              <a:t>Searched by meaning</a:t>
            </a:r>
            <a:endParaRPr lang="en-US" sz="1500" dirty="0"/>
          </a:p>
        </p:txBody>
      </p:sp>
      <p:sp>
        <p:nvSpPr>
          <p:cNvPr id="10" name="kb-b-1"/>
          <p:cNvSpPr txBox="1"/>
          <p:nvPr/>
        </p:nvSpPr>
        <p:spPr>
          <a:xfrm>
            <a:off x="1143000" y="2340864"/>
            <a:ext cx="2606040" cy="502920"/>
          </a:xfrm>
          <a:prstGeom prst="rect">
            <a:avLst/>
          </a:prstGeom>
          <a:noFill/>
          <a:ln/>
        </p:spPr>
        <p:txBody>
          <a:bodyPr wrap="square" lIns="0" tIns="0" rIns="0" bIns="0" rtlCol="0" anchor="t"/>
          <a:lstStyle/>
          <a:p>
            <a:pPr indent="0" marL="0">
              <a:buNone/>
            </a:pPr>
            <a:r>
              <a:rPr lang="en-US" sz="1200" dirty="0">
                <a:solidFill>
                  <a:schemeClr val="accent4"/>
                </a:solidFill>
              </a:rPr>
              <a:t>“kitna lagega cleaning ka” finds “Teeth cleaning: ₹1,500”.</a:t>
            </a:r>
            <a:endParaRPr lang="en-US" sz="1200" dirty="0"/>
          </a:p>
        </p:txBody>
      </p:sp>
      <p:sp>
        <p:nvSpPr>
          <p:cNvPr id="11" name="circle-kb-2"/>
          <p:cNvSpPr/>
          <p:nvPr/>
        </p:nvSpPr>
        <p:spPr>
          <a:xfrm>
            <a:off x="457200" y="2935224"/>
            <a:ext cx="502920" cy="502920"/>
          </a:xfrm>
          <a:prstGeom prst="ellipse">
            <a:avLst/>
          </a:prstGeom>
          <a:solidFill>
            <a:schemeClr val="accent2"/>
          </a:solidFill>
          <a:ln/>
        </p:spPr>
      </p:sp>
      <p:pic>
        <p:nvPicPr>
          <p:cNvPr id="12" name="icon-kb-2" descr="preencoded.png">    </p:cNvPr>
          <p:cNvPicPr>
            <a:picLocks noChangeAspect="1"/>
          </p:cNvPicPr>
          <p:nvPr/>
        </p:nvPicPr>
        <p:blipFill>
          <a:blip r:embed="rId3"/>
          <a:stretch>
            <a:fillRect/>
          </a:stretch>
        </p:blipFill>
        <p:spPr>
          <a:xfrm>
            <a:off x="582930" y="3060954"/>
            <a:ext cx="251460" cy="251460"/>
          </a:xfrm>
          <a:prstGeom prst="rect">
            <a:avLst/>
          </a:prstGeom>
        </p:spPr>
      </p:pic>
      <p:sp>
        <p:nvSpPr>
          <p:cNvPr id="13" name="kb-h-2"/>
          <p:cNvSpPr txBox="1"/>
          <p:nvPr/>
        </p:nvSpPr>
        <p:spPr>
          <a:xfrm>
            <a:off x="1143000" y="2889504"/>
            <a:ext cx="2606040" cy="292608"/>
          </a:xfrm>
          <a:prstGeom prst="rect">
            <a:avLst/>
          </a:prstGeom>
          <a:noFill/>
          <a:ln/>
        </p:spPr>
        <p:txBody>
          <a:bodyPr wrap="square" lIns="0" tIns="0" rIns="0" bIns="0" rtlCol="0" anchor="t"/>
          <a:lstStyle/>
          <a:p>
            <a:pPr indent="0" marL="0">
              <a:buNone/>
            </a:pPr>
            <a:r>
              <a:rPr lang="en-US" sz="1500" b="1" dirty="0">
                <a:solidFill>
                  <a:schemeClr val="tx1"/>
                </a:solidFill>
              </a:rPr>
              <a:t>Answer with the source</a:t>
            </a:r>
            <a:endParaRPr lang="en-US" sz="1500" dirty="0"/>
          </a:p>
        </p:txBody>
      </p:sp>
      <p:sp>
        <p:nvSpPr>
          <p:cNvPr id="14" name="kb-b-2"/>
          <p:cNvSpPr txBox="1"/>
          <p:nvPr/>
        </p:nvSpPr>
        <p:spPr>
          <a:xfrm>
            <a:off x="1143000" y="3191256"/>
            <a:ext cx="2606040" cy="502920"/>
          </a:xfrm>
          <a:prstGeom prst="rect">
            <a:avLst/>
          </a:prstGeom>
          <a:noFill/>
          <a:ln/>
        </p:spPr>
        <p:txBody>
          <a:bodyPr wrap="square" lIns="0" tIns="0" rIns="0" bIns="0" rtlCol="0" anchor="t"/>
          <a:lstStyle/>
          <a:p>
            <a:pPr indent="0" marL="0">
              <a:buNone/>
            </a:pPr>
            <a:r>
              <a:rPr lang="en-US" sz="1200" dirty="0">
                <a:solidFill>
                  <a:schemeClr val="accent4"/>
                </a:solidFill>
              </a:rPr>
              <a:t>Every answer names the document and page.</a:t>
            </a:r>
            <a:endParaRPr lang="en-US" sz="1200" dirty="0"/>
          </a:p>
        </p:txBody>
      </p:sp>
      <p:sp>
        <p:nvSpPr>
          <p:cNvPr id="15" name="circle-kb-3"/>
          <p:cNvSpPr/>
          <p:nvPr/>
        </p:nvSpPr>
        <p:spPr>
          <a:xfrm>
            <a:off x="457200" y="3785616"/>
            <a:ext cx="502920" cy="502920"/>
          </a:xfrm>
          <a:prstGeom prst="ellipse">
            <a:avLst/>
          </a:prstGeom>
          <a:solidFill>
            <a:schemeClr val="accent1"/>
          </a:solidFill>
          <a:ln/>
        </p:spPr>
      </p:sp>
      <p:pic>
        <p:nvPicPr>
          <p:cNvPr id="16" name="icon-kb-3" descr="preencoded.png">    </p:cNvPr>
          <p:cNvPicPr>
            <a:picLocks noChangeAspect="1"/>
          </p:cNvPicPr>
          <p:nvPr/>
        </p:nvPicPr>
        <p:blipFill>
          <a:blip r:embed="rId4"/>
          <a:stretch>
            <a:fillRect/>
          </a:stretch>
        </p:blipFill>
        <p:spPr>
          <a:xfrm>
            <a:off x="582930" y="3911346"/>
            <a:ext cx="251460" cy="251460"/>
          </a:xfrm>
          <a:prstGeom prst="rect">
            <a:avLst/>
          </a:prstGeom>
        </p:spPr>
      </p:pic>
      <p:sp>
        <p:nvSpPr>
          <p:cNvPr id="17" name="kb-h-3"/>
          <p:cNvSpPr txBox="1"/>
          <p:nvPr/>
        </p:nvSpPr>
        <p:spPr>
          <a:xfrm>
            <a:off x="1143000" y="3739896"/>
            <a:ext cx="2606040" cy="292608"/>
          </a:xfrm>
          <a:prstGeom prst="rect">
            <a:avLst/>
          </a:prstGeom>
          <a:noFill/>
          <a:ln/>
        </p:spPr>
        <p:txBody>
          <a:bodyPr wrap="square" lIns="0" tIns="0" rIns="0" bIns="0" rtlCol="0" anchor="t"/>
          <a:lstStyle/>
          <a:p>
            <a:pPr indent="0" marL="0">
              <a:buNone/>
            </a:pPr>
            <a:r>
              <a:rPr lang="en-US" sz="1500" b="1" dirty="0">
                <a:solidFill>
                  <a:schemeClr val="tx1"/>
                </a:solidFill>
              </a:rPr>
              <a:t>No guessing</a:t>
            </a:r>
            <a:endParaRPr lang="en-US" sz="1500" dirty="0"/>
          </a:p>
        </p:txBody>
      </p:sp>
      <p:sp>
        <p:nvSpPr>
          <p:cNvPr id="18" name="kb-b-3"/>
          <p:cNvSpPr txBox="1"/>
          <p:nvPr/>
        </p:nvSpPr>
        <p:spPr>
          <a:xfrm>
            <a:off x="1143000" y="4041648"/>
            <a:ext cx="2606040" cy="502920"/>
          </a:xfrm>
          <a:prstGeom prst="rect">
            <a:avLst/>
          </a:prstGeom>
          <a:noFill/>
          <a:ln/>
        </p:spPr>
        <p:txBody>
          <a:bodyPr wrap="square" lIns="0" tIns="0" rIns="0" bIns="0" rtlCol="0" anchor="t"/>
          <a:lstStyle/>
          <a:p>
            <a:pPr indent="0" marL="0">
              <a:buNone/>
            </a:pPr>
            <a:r>
              <a:rPr lang="en-US" sz="1200" dirty="0">
                <a:solidFill>
                  <a:schemeClr val="accent4"/>
                </a:solidFill>
              </a:rPr>
              <a:t>Not in your documents? It says so and hands over.</a:t>
            </a:r>
            <a:endParaRPr lang="en-US" sz="1200" dirty="0"/>
          </a:p>
        </p:txBody>
      </p:sp>
      <p:pic>
        <p:nvPicPr>
          <p:cNvPr id="19" name="kb-shot" descr="Knowledge page: upload files, add a web page, and test a question with matching passages">    </p:cNvPr>
          <p:cNvPicPr>
            <a:picLocks noChangeAspect="1"/>
          </p:cNvPicPr>
          <p:nvPr/>
        </p:nvPicPr>
        <p:blipFill>
          <a:blip r:embed="rId5"/>
          <a:stretch>
            <a:fillRect/>
          </a:stretch>
        </p:blipFill>
        <p:spPr>
          <a:xfrm>
            <a:off x="3931920" y="1188720"/>
            <a:ext cx="4754880" cy="2578755"/>
          </a:xfrm>
          <a:prstGeom prst="rect">
            <a:avLst/>
          </a:prstGeom>
          <a:effectLst>
            <a:outerShdw sx="100000" sy="100000" kx="0" ky="0" algn="bl" rotWithShape="0" blurRad="101600" dist="25400" dir="5400000">
              <a:srgbClr val="000000">
                <a:alpha val="18000"/>
              </a:srgbClr>
            </a:outerShdw>
          </a:effectLst>
        </p:spPr>
      </p:pic>
      <p:sp>
        <p:nvSpPr>
          <p:cNvPr id="20" name="kb-caption"/>
          <p:cNvSpPr txBox="1"/>
          <p:nvPr/>
        </p:nvSpPr>
        <p:spPr>
          <a:xfrm>
            <a:off x="3931920" y="3950355"/>
            <a:ext cx="4754880" cy="548640"/>
          </a:xfrm>
          <a:prstGeom prst="rect">
            <a:avLst/>
          </a:prstGeom>
          <a:noFill/>
          <a:ln/>
        </p:spPr>
        <p:txBody>
          <a:bodyPr wrap="square" lIns="0" tIns="0" rIns="0" bIns="0" rtlCol="0" anchor="t"/>
          <a:lstStyle/>
          <a:p>
            <a:pPr indent="0" marL="0">
              <a:buNone/>
            </a:pPr>
            <a:r>
              <a:rPr lang="en-US" sz="1200" i="1" dirty="0">
                <a:solidFill>
                  <a:schemeClr val="accent4"/>
                </a:solidFill>
              </a:rPr>
              <a:t>“Test a question” shows exactly which passages the bot will use — before any customer asks.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An assistant for your team, too</a:t>
            </a:r>
            <a:endParaRPr lang="en-US" sz="3200" dirty="0"/>
          </a:p>
        </p:txBody>
      </p:sp>
      <p:sp>
        <p:nvSpPr>
          <p:cNvPr id="3" name="agent-0"/>
          <p:cNvSpPr/>
          <p:nvPr/>
        </p:nvSpPr>
        <p:spPr>
          <a:xfrm>
            <a:off x="457200" y="1143000"/>
            <a:ext cx="1975104" cy="676656"/>
          </a:xfrm>
          <a:prstGeom prst="roundRect">
            <a:avLst>
              <a:gd name="adj" fmla="val 16216"/>
            </a:avLst>
          </a:prstGeom>
          <a:solidFill>
            <a:schemeClr val="bg2"/>
          </a:solidFill>
          <a:ln/>
        </p:spPr>
      </p:sp>
      <p:sp>
        <p:nvSpPr>
          <p:cNvPr id="4" name="circle-agent-0"/>
          <p:cNvSpPr/>
          <p:nvPr/>
        </p:nvSpPr>
        <p:spPr>
          <a:xfrm>
            <a:off x="566928" y="1280160"/>
            <a:ext cx="402336" cy="402336"/>
          </a:xfrm>
          <a:prstGeom prst="ellipse">
            <a:avLst/>
          </a:prstGeom>
          <a:solidFill>
            <a:schemeClr val="accent2"/>
          </a:solidFill>
          <a:ln/>
        </p:spPr>
      </p:sp>
      <p:pic>
        <p:nvPicPr>
          <p:cNvPr id="5" name="icon-agent-0" descr="preencoded.png">    </p:cNvPr>
          <p:cNvPicPr>
            <a:picLocks noChangeAspect="1"/>
          </p:cNvPicPr>
          <p:nvPr/>
        </p:nvPicPr>
        <p:blipFill>
          <a:blip r:embed="rId1"/>
          <a:stretch>
            <a:fillRect/>
          </a:stretch>
        </p:blipFill>
        <p:spPr>
          <a:xfrm>
            <a:off x="667512" y="1380744"/>
            <a:ext cx="201168" cy="201168"/>
          </a:xfrm>
          <a:prstGeom prst="rect">
            <a:avLst/>
          </a:prstGeom>
        </p:spPr>
      </p:pic>
      <p:sp>
        <p:nvSpPr>
          <p:cNvPr id="6" name="agent-h-0"/>
          <p:cNvSpPr txBox="1"/>
          <p:nvPr/>
        </p:nvSpPr>
        <p:spPr>
          <a:xfrm>
            <a:off x="1060704" y="1234440"/>
            <a:ext cx="1325880" cy="274320"/>
          </a:xfrm>
          <a:prstGeom prst="rect">
            <a:avLst/>
          </a:prstGeom>
          <a:noFill/>
          <a:ln/>
        </p:spPr>
        <p:txBody>
          <a:bodyPr wrap="square" lIns="0" tIns="0" rIns="0" bIns="0" rtlCol="0" anchor="t"/>
          <a:lstStyle/>
          <a:p>
            <a:pPr indent="0" marL="0">
              <a:buNone/>
            </a:pPr>
            <a:r>
              <a:rPr lang="en-US" sz="1300" b="1" dirty="0">
                <a:solidFill>
                  <a:schemeClr val="tx1"/>
                </a:solidFill>
              </a:rPr>
              <a:t>Email</a:t>
            </a:r>
            <a:endParaRPr lang="en-US" sz="1300" dirty="0"/>
          </a:p>
        </p:txBody>
      </p:sp>
      <p:sp>
        <p:nvSpPr>
          <p:cNvPr id="7" name="agent-b-0"/>
          <p:cNvSpPr txBox="1"/>
          <p:nvPr/>
        </p:nvSpPr>
        <p:spPr>
          <a:xfrm>
            <a:off x="1060704" y="1499616"/>
            <a:ext cx="1325880" cy="274320"/>
          </a:xfrm>
          <a:prstGeom prst="rect">
            <a:avLst/>
          </a:prstGeom>
          <a:noFill/>
          <a:ln/>
        </p:spPr>
        <p:txBody>
          <a:bodyPr wrap="square" lIns="0" tIns="0" rIns="0" bIns="0" rtlCol="0" anchor="t"/>
          <a:lstStyle/>
          <a:p>
            <a:pPr indent="0" marL="0">
              <a:buNone/>
            </a:pPr>
            <a:r>
              <a:rPr lang="en-US" sz="1000" dirty="0">
                <a:solidFill>
                  <a:schemeClr val="accent4"/>
                </a:solidFill>
              </a:rPr>
              <a:t>Read, summarise, draft, reply</a:t>
            </a:r>
            <a:endParaRPr lang="en-US" sz="1000" dirty="0"/>
          </a:p>
        </p:txBody>
      </p:sp>
      <p:sp>
        <p:nvSpPr>
          <p:cNvPr id="8" name="agent-1"/>
          <p:cNvSpPr/>
          <p:nvPr/>
        </p:nvSpPr>
        <p:spPr>
          <a:xfrm>
            <a:off x="2542032" y="1143000"/>
            <a:ext cx="1975104" cy="676656"/>
          </a:xfrm>
          <a:prstGeom prst="roundRect">
            <a:avLst>
              <a:gd name="adj" fmla="val 16216"/>
            </a:avLst>
          </a:prstGeom>
          <a:solidFill>
            <a:schemeClr val="bg2"/>
          </a:solidFill>
          <a:ln/>
        </p:spPr>
      </p:sp>
      <p:sp>
        <p:nvSpPr>
          <p:cNvPr id="9" name="circle-agent-1"/>
          <p:cNvSpPr/>
          <p:nvPr/>
        </p:nvSpPr>
        <p:spPr>
          <a:xfrm>
            <a:off x="2651760" y="1280160"/>
            <a:ext cx="402336" cy="402336"/>
          </a:xfrm>
          <a:prstGeom prst="ellipse">
            <a:avLst/>
          </a:prstGeom>
          <a:solidFill>
            <a:schemeClr val="accent2"/>
          </a:solidFill>
          <a:ln/>
        </p:spPr>
      </p:sp>
      <p:pic>
        <p:nvPicPr>
          <p:cNvPr id="10" name="icon-agent-1" descr="preencoded.png">    </p:cNvPr>
          <p:cNvPicPr>
            <a:picLocks noChangeAspect="1"/>
          </p:cNvPicPr>
          <p:nvPr/>
        </p:nvPicPr>
        <p:blipFill>
          <a:blip r:embed="rId2"/>
          <a:stretch>
            <a:fillRect/>
          </a:stretch>
        </p:blipFill>
        <p:spPr>
          <a:xfrm>
            <a:off x="2752344" y="1380744"/>
            <a:ext cx="201168" cy="201168"/>
          </a:xfrm>
          <a:prstGeom prst="rect">
            <a:avLst/>
          </a:prstGeom>
        </p:spPr>
      </p:pic>
      <p:sp>
        <p:nvSpPr>
          <p:cNvPr id="11" name="agent-h-1"/>
          <p:cNvSpPr txBox="1"/>
          <p:nvPr/>
        </p:nvSpPr>
        <p:spPr>
          <a:xfrm>
            <a:off x="3145536" y="1234440"/>
            <a:ext cx="1325880" cy="274320"/>
          </a:xfrm>
          <a:prstGeom prst="rect">
            <a:avLst/>
          </a:prstGeom>
          <a:noFill/>
          <a:ln/>
        </p:spPr>
        <p:txBody>
          <a:bodyPr wrap="square" lIns="0" tIns="0" rIns="0" bIns="0" rtlCol="0" anchor="t"/>
          <a:lstStyle/>
          <a:p>
            <a:pPr indent="0" marL="0">
              <a:buNone/>
            </a:pPr>
            <a:r>
              <a:rPr lang="en-US" sz="1300" b="1" dirty="0">
                <a:solidFill>
                  <a:schemeClr val="tx1"/>
                </a:solidFill>
              </a:rPr>
              <a:t>Calendar</a:t>
            </a:r>
            <a:endParaRPr lang="en-US" sz="1300" dirty="0"/>
          </a:p>
        </p:txBody>
      </p:sp>
      <p:sp>
        <p:nvSpPr>
          <p:cNvPr id="12" name="agent-b-1"/>
          <p:cNvSpPr txBox="1"/>
          <p:nvPr/>
        </p:nvSpPr>
        <p:spPr>
          <a:xfrm>
            <a:off x="3145536" y="1499616"/>
            <a:ext cx="1325880" cy="274320"/>
          </a:xfrm>
          <a:prstGeom prst="rect">
            <a:avLst/>
          </a:prstGeom>
          <a:noFill/>
          <a:ln/>
        </p:spPr>
        <p:txBody>
          <a:bodyPr wrap="square" lIns="0" tIns="0" rIns="0" bIns="0" rtlCol="0" anchor="t"/>
          <a:lstStyle/>
          <a:p>
            <a:pPr indent="0" marL="0">
              <a:buNone/>
            </a:pPr>
            <a:r>
              <a:rPr lang="en-US" sz="1000" dirty="0">
                <a:solidFill>
                  <a:schemeClr val="accent4"/>
                </a:solidFill>
              </a:rPr>
              <a:t>Agenda, free slots, invites</a:t>
            </a:r>
            <a:endParaRPr lang="en-US" sz="1000" dirty="0"/>
          </a:p>
        </p:txBody>
      </p:sp>
      <p:sp>
        <p:nvSpPr>
          <p:cNvPr id="13" name="agent-2"/>
          <p:cNvSpPr/>
          <p:nvPr/>
        </p:nvSpPr>
        <p:spPr>
          <a:xfrm>
            <a:off x="4626864" y="1143000"/>
            <a:ext cx="1975104" cy="676656"/>
          </a:xfrm>
          <a:prstGeom prst="roundRect">
            <a:avLst>
              <a:gd name="adj" fmla="val 16216"/>
            </a:avLst>
          </a:prstGeom>
          <a:solidFill>
            <a:schemeClr val="bg2"/>
          </a:solidFill>
          <a:ln/>
        </p:spPr>
      </p:sp>
      <p:sp>
        <p:nvSpPr>
          <p:cNvPr id="14" name="circle-agent-2"/>
          <p:cNvSpPr/>
          <p:nvPr/>
        </p:nvSpPr>
        <p:spPr>
          <a:xfrm>
            <a:off x="4736592" y="1280160"/>
            <a:ext cx="402336" cy="402336"/>
          </a:xfrm>
          <a:prstGeom prst="ellipse">
            <a:avLst/>
          </a:prstGeom>
          <a:solidFill>
            <a:schemeClr val="accent2"/>
          </a:solidFill>
          <a:ln/>
        </p:spPr>
      </p:sp>
      <p:pic>
        <p:nvPicPr>
          <p:cNvPr id="15" name="icon-agent-2" descr="preencoded.png">    </p:cNvPr>
          <p:cNvPicPr>
            <a:picLocks noChangeAspect="1"/>
          </p:cNvPicPr>
          <p:nvPr/>
        </p:nvPicPr>
        <p:blipFill>
          <a:blip r:embed="rId3"/>
          <a:stretch>
            <a:fillRect/>
          </a:stretch>
        </p:blipFill>
        <p:spPr>
          <a:xfrm>
            <a:off x="4837176" y="1380744"/>
            <a:ext cx="201168" cy="201168"/>
          </a:xfrm>
          <a:prstGeom prst="rect">
            <a:avLst/>
          </a:prstGeom>
        </p:spPr>
      </p:pic>
      <p:sp>
        <p:nvSpPr>
          <p:cNvPr id="16" name="agent-h-2"/>
          <p:cNvSpPr txBox="1"/>
          <p:nvPr/>
        </p:nvSpPr>
        <p:spPr>
          <a:xfrm>
            <a:off x="5230368" y="1234440"/>
            <a:ext cx="1325880" cy="274320"/>
          </a:xfrm>
          <a:prstGeom prst="rect">
            <a:avLst/>
          </a:prstGeom>
          <a:noFill/>
          <a:ln/>
        </p:spPr>
        <p:txBody>
          <a:bodyPr wrap="square" lIns="0" tIns="0" rIns="0" bIns="0" rtlCol="0" anchor="t"/>
          <a:lstStyle/>
          <a:p>
            <a:pPr indent="0" marL="0">
              <a:buNone/>
            </a:pPr>
            <a:r>
              <a:rPr lang="en-US" sz="1300" b="1" dirty="0">
                <a:solidFill>
                  <a:schemeClr val="tx1"/>
                </a:solidFill>
              </a:rPr>
              <a:t>Knowledge</a:t>
            </a:r>
            <a:endParaRPr lang="en-US" sz="1300" dirty="0"/>
          </a:p>
        </p:txBody>
      </p:sp>
      <p:sp>
        <p:nvSpPr>
          <p:cNvPr id="17" name="agent-b-2"/>
          <p:cNvSpPr txBox="1"/>
          <p:nvPr/>
        </p:nvSpPr>
        <p:spPr>
          <a:xfrm>
            <a:off x="5230368" y="1499616"/>
            <a:ext cx="1325880" cy="274320"/>
          </a:xfrm>
          <a:prstGeom prst="rect">
            <a:avLst/>
          </a:prstGeom>
          <a:noFill/>
          <a:ln/>
        </p:spPr>
        <p:txBody>
          <a:bodyPr wrap="square" lIns="0" tIns="0" rIns="0" bIns="0" rtlCol="0" anchor="t"/>
          <a:lstStyle/>
          <a:p>
            <a:pPr indent="0" marL="0">
              <a:buNone/>
            </a:pPr>
            <a:r>
              <a:rPr lang="en-US" sz="1000" dirty="0">
                <a:solidFill>
                  <a:schemeClr val="accent4"/>
                </a:solidFill>
              </a:rPr>
              <a:t>Your documents, cited</a:t>
            </a:r>
            <a:endParaRPr lang="en-US" sz="1000" dirty="0"/>
          </a:p>
        </p:txBody>
      </p:sp>
      <p:sp>
        <p:nvSpPr>
          <p:cNvPr id="18" name="agent-3"/>
          <p:cNvSpPr/>
          <p:nvPr/>
        </p:nvSpPr>
        <p:spPr>
          <a:xfrm>
            <a:off x="6711696" y="1143000"/>
            <a:ext cx="1975104" cy="676656"/>
          </a:xfrm>
          <a:prstGeom prst="roundRect">
            <a:avLst>
              <a:gd name="adj" fmla="val 16216"/>
            </a:avLst>
          </a:prstGeom>
          <a:solidFill>
            <a:schemeClr val="bg2"/>
          </a:solidFill>
          <a:ln/>
        </p:spPr>
      </p:sp>
      <p:sp>
        <p:nvSpPr>
          <p:cNvPr id="19" name="circle-agent-3"/>
          <p:cNvSpPr/>
          <p:nvPr/>
        </p:nvSpPr>
        <p:spPr>
          <a:xfrm>
            <a:off x="6821424" y="1280160"/>
            <a:ext cx="402336" cy="402336"/>
          </a:xfrm>
          <a:prstGeom prst="ellipse">
            <a:avLst/>
          </a:prstGeom>
          <a:solidFill>
            <a:schemeClr val="accent2"/>
          </a:solidFill>
          <a:ln/>
        </p:spPr>
      </p:sp>
      <p:pic>
        <p:nvPicPr>
          <p:cNvPr id="20" name="icon-agent-3" descr="preencoded.png">    </p:cNvPr>
          <p:cNvPicPr>
            <a:picLocks noChangeAspect="1"/>
          </p:cNvPicPr>
          <p:nvPr/>
        </p:nvPicPr>
        <p:blipFill>
          <a:blip r:embed="rId4"/>
          <a:stretch>
            <a:fillRect/>
          </a:stretch>
        </p:blipFill>
        <p:spPr>
          <a:xfrm>
            <a:off x="6922008" y="1380744"/>
            <a:ext cx="201168" cy="201168"/>
          </a:xfrm>
          <a:prstGeom prst="rect">
            <a:avLst/>
          </a:prstGeom>
        </p:spPr>
      </p:pic>
      <p:sp>
        <p:nvSpPr>
          <p:cNvPr id="21" name="agent-h-3"/>
          <p:cNvSpPr txBox="1"/>
          <p:nvPr/>
        </p:nvSpPr>
        <p:spPr>
          <a:xfrm>
            <a:off x="7315200" y="1234440"/>
            <a:ext cx="1325880" cy="274320"/>
          </a:xfrm>
          <a:prstGeom prst="rect">
            <a:avLst/>
          </a:prstGeom>
          <a:noFill/>
          <a:ln/>
        </p:spPr>
        <p:txBody>
          <a:bodyPr wrap="square" lIns="0" tIns="0" rIns="0" bIns="0" rtlCol="0" anchor="t"/>
          <a:lstStyle/>
          <a:p>
            <a:pPr indent="0" marL="0">
              <a:buNone/>
            </a:pPr>
            <a:r>
              <a:rPr lang="en-US" sz="1300" b="1" dirty="0">
                <a:solidFill>
                  <a:schemeClr val="tx1"/>
                </a:solidFill>
              </a:rPr>
              <a:t>Research</a:t>
            </a:r>
            <a:endParaRPr lang="en-US" sz="1300" dirty="0"/>
          </a:p>
        </p:txBody>
      </p:sp>
      <p:sp>
        <p:nvSpPr>
          <p:cNvPr id="22" name="agent-b-3"/>
          <p:cNvSpPr txBox="1"/>
          <p:nvPr/>
        </p:nvSpPr>
        <p:spPr>
          <a:xfrm>
            <a:off x="7315200" y="1499616"/>
            <a:ext cx="1325880" cy="274320"/>
          </a:xfrm>
          <a:prstGeom prst="rect">
            <a:avLst/>
          </a:prstGeom>
          <a:noFill/>
          <a:ln/>
        </p:spPr>
        <p:txBody>
          <a:bodyPr wrap="square" lIns="0" tIns="0" rIns="0" bIns="0" rtlCol="0" anchor="t"/>
          <a:lstStyle/>
          <a:p>
            <a:pPr indent="0" marL="0">
              <a:buNone/>
            </a:pPr>
            <a:r>
              <a:rPr lang="en-US" sz="1000" dirty="0">
                <a:solidFill>
                  <a:schemeClr val="accent4"/>
                </a:solidFill>
              </a:rPr>
              <a:t>Web and news, with sources</a:t>
            </a:r>
            <a:endParaRPr lang="en-US" sz="1000" dirty="0"/>
          </a:p>
        </p:txBody>
      </p:sp>
      <p:sp>
        <p:nvSpPr>
          <p:cNvPr id="23" name="agent-4"/>
          <p:cNvSpPr/>
          <p:nvPr/>
        </p:nvSpPr>
        <p:spPr>
          <a:xfrm>
            <a:off x="457200" y="1929384"/>
            <a:ext cx="1975104" cy="676656"/>
          </a:xfrm>
          <a:prstGeom prst="roundRect">
            <a:avLst>
              <a:gd name="adj" fmla="val 16216"/>
            </a:avLst>
          </a:prstGeom>
          <a:solidFill>
            <a:schemeClr val="bg2"/>
          </a:solidFill>
          <a:ln/>
        </p:spPr>
      </p:sp>
      <p:sp>
        <p:nvSpPr>
          <p:cNvPr id="24" name="circle-agent-4"/>
          <p:cNvSpPr/>
          <p:nvPr/>
        </p:nvSpPr>
        <p:spPr>
          <a:xfrm>
            <a:off x="566928" y="2066544"/>
            <a:ext cx="402336" cy="402336"/>
          </a:xfrm>
          <a:prstGeom prst="ellipse">
            <a:avLst/>
          </a:prstGeom>
          <a:solidFill>
            <a:schemeClr val="accent2"/>
          </a:solidFill>
          <a:ln/>
        </p:spPr>
      </p:sp>
      <p:pic>
        <p:nvPicPr>
          <p:cNvPr id="25" name="icon-agent-4" descr="preencoded.png">    </p:cNvPr>
          <p:cNvPicPr>
            <a:picLocks noChangeAspect="1"/>
          </p:cNvPicPr>
          <p:nvPr/>
        </p:nvPicPr>
        <p:blipFill>
          <a:blip r:embed="rId5"/>
          <a:stretch>
            <a:fillRect/>
          </a:stretch>
        </p:blipFill>
        <p:spPr>
          <a:xfrm>
            <a:off x="667512" y="2167128"/>
            <a:ext cx="201168" cy="201168"/>
          </a:xfrm>
          <a:prstGeom prst="rect">
            <a:avLst/>
          </a:prstGeom>
        </p:spPr>
      </p:pic>
      <p:sp>
        <p:nvSpPr>
          <p:cNvPr id="26" name="agent-h-4"/>
          <p:cNvSpPr txBox="1"/>
          <p:nvPr/>
        </p:nvSpPr>
        <p:spPr>
          <a:xfrm>
            <a:off x="1060704" y="2020824"/>
            <a:ext cx="1325880" cy="274320"/>
          </a:xfrm>
          <a:prstGeom prst="rect">
            <a:avLst/>
          </a:prstGeom>
          <a:noFill/>
          <a:ln/>
        </p:spPr>
        <p:txBody>
          <a:bodyPr wrap="square" lIns="0" tIns="0" rIns="0" bIns="0" rtlCol="0" anchor="t"/>
          <a:lstStyle/>
          <a:p>
            <a:pPr indent="0" marL="0">
              <a:buNone/>
            </a:pPr>
            <a:r>
              <a:rPr lang="en-US" sz="1300" b="1" dirty="0">
                <a:solidFill>
                  <a:schemeClr val="tx1"/>
                </a:solidFill>
              </a:rPr>
              <a:t>Tasks &amp; contacts</a:t>
            </a:r>
            <a:endParaRPr lang="en-US" sz="1300" dirty="0"/>
          </a:p>
        </p:txBody>
      </p:sp>
      <p:sp>
        <p:nvSpPr>
          <p:cNvPr id="27" name="agent-b-4"/>
          <p:cNvSpPr txBox="1"/>
          <p:nvPr/>
        </p:nvSpPr>
        <p:spPr>
          <a:xfrm>
            <a:off x="1060704" y="2286000"/>
            <a:ext cx="1325880" cy="274320"/>
          </a:xfrm>
          <a:prstGeom prst="rect">
            <a:avLst/>
          </a:prstGeom>
          <a:noFill/>
          <a:ln/>
        </p:spPr>
        <p:txBody>
          <a:bodyPr wrap="square" lIns="0" tIns="0" rIns="0" bIns="0" rtlCol="0" anchor="t"/>
          <a:lstStyle/>
          <a:p>
            <a:pPr indent="0" marL="0">
              <a:buNone/>
            </a:pPr>
            <a:r>
              <a:rPr lang="en-US" sz="1000" dirty="0">
                <a:solidFill>
                  <a:schemeClr val="accent4"/>
                </a:solidFill>
              </a:rPr>
              <a:t>To-dos, Google Sheet sync</a:t>
            </a:r>
            <a:endParaRPr lang="en-US" sz="1000" dirty="0"/>
          </a:p>
        </p:txBody>
      </p:sp>
      <p:sp>
        <p:nvSpPr>
          <p:cNvPr id="28" name="agent-5"/>
          <p:cNvSpPr/>
          <p:nvPr/>
        </p:nvSpPr>
        <p:spPr>
          <a:xfrm>
            <a:off x="2542032" y="1929384"/>
            <a:ext cx="1975104" cy="676656"/>
          </a:xfrm>
          <a:prstGeom prst="roundRect">
            <a:avLst>
              <a:gd name="adj" fmla="val 16216"/>
            </a:avLst>
          </a:prstGeom>
          <a:solidFill>
            <a:schemeClr val="bg2"/>
          </a:solidFill>
          <a:ln/>
        </p:spPr>
      </p:sp>
      <p:sp>
        <p:nvSpPr>
          <p:cNvPr id="29" name="circle-agent-5"/>
          <p:cNvSpPr/>
          <p:nvPr/>
        </p:nvSpPr>
        <p:spPr>
          <a:xfrm>
            <a:off x="2651760" y="2066544"/>
            <a:ext cx="402336" cy="402336"/>
          </a:xfrm>
          <a:prstGeom prst="ellipse">
            <a:avLst/>
          </a:prstGeom>
          <a:solidFill>
            <a:schemeClr val="accent2"/>
          </a:solidFill>
          <a:ln/>
        </p:spPr>
      </p:sp>
      <p:pic>
        <p:nvPicPr>
          <p:cNvPr id="30" name="icon-agent-5" descr="preencoded.png">    </p:cNvPr>
          <p:cNvPicPr>
            <a:picLocks noChangeAspect="1"/>
          </p:cNvPicPr>
          <p:nvPr/>
        </p:nvPicPr>
        <p:blipFill>
          <a:blip r:embed="rId6"/>
          <a:stretch>
            <a:fillRect/>
          </a:stretch>
        </p:blipFill>
        <p:spPr>
          <a:xfrm>
            <a:off x="2752344" y="2167128"/>
            <a:ext cx="201168" cy="201168"/>
          </a:xfrm>
          <a:prstGeom prst="rect">
            <a:avLst/>
          </a:prstGeom>
        </p:spPr>
      </p:pic>
      <p:sp>
        <p:nvSpPr>
          <p:cNvPr id="31" name="agent-h-5"/>
          <p:cNvSpPr txBox="1"/>
          <p:nvPr/>
        </p:nvSpPr>
        <p:spPr>
          <a:xfrm>
            <a:off x="3145536" y="2020824"/>
            <a:ext cx="1325880" cy="274320"/>
          </a:xfrm>
          <a:prstGeom prst="rect">
            <a:avLst/>
          </a:prstGeom>
          <a:noFill/>
          <a:ln/>
        </p:spPr>
        <p:txBody>
          <a:bodyPr wrap="square" lIns="0" tIns="0" rIns="0" bIns="0" rtlCol="0" anchor="t"/>
          <a:lstStyle/>
          <a:p>
            <a:pPr indent="0" marL="0">
              <a:buNone/>
            </a:pPr>
            <a:r>
              <a:rPr lang="en-US" sz="1300" b="1" dirty="0">
                <a:solidFill>
                  <a:schemeClr val="tx1"/>
                </a:solidFill>
              </a:rPr>
              <a:t>Expenses</a:t>
            </a:r>
            <a:endParaRPr lang="en-US" sz="1300" dirty="0"/>
          </a:p>
        </p:txBody>
      </p:sp>
      <p:sp>
        <p:nvSpPr>
          <p:cNvPr id="32" name="agent-b-5"/>
          <p:cNvSpPr txBox="1"/>
          <p:nvPr/>
        </p:nvSpPr>
        <p:spPr>
          <a:xfrm>
            <a:off x="3145536" y="2286000"/>
            <a:ext cx="1325880" cy="274320"/>
          </a:xfrm>
          <a:prstGeom prst="rect">
            <a:avLst/>
          </a:prstGeom>
          <a:noFill/>
          <a:ln/>
        </p:spPr>
        <p:txBody>
          <a:bodyPr wrap="square" lIns="0" tIns="0" rIns="0" bIns="0" rtlCol="0" anchor="t"/>
          <a:lstStyle/>
          <a:p>
            <a:pPr indent="0" marL="0">
              <a:buNone/>
            </a:pPr>
            <a:r>
              <a:rPr lang="en-US" sz="1000" dirty="0">
                <a:solidFill>
                  <a:schemeClr val="accent4"/>
                </a:solidFill>
              </a:rPr>
              <a:t>Log from a receipt photo</a:t>
            </a:r>
            <a:endParaRPr lang="en-US" sz="1000" dirty="0"/>
          </a:p>
        </p:txBody>
      </p:sp>
      <p:sp>
        <p:nvSpPr>
          <p:cNvPr id="33" name="agent-6"/>
          <p:cNvSpPr/>
          <p:nvPr/>
        </p:nvSpPr>
        <p:spPr>
          <a:xfrm>
            <a:off x="4626864" y="1929384"/>
            <a:ext cx="1975104" cy="676656"/>
          </a:xfrm>
          <a:prstGeom prst="roundRect">
            <a:avLst>
              <a:gd name="adj" fmla="val 16216"/>
            </a:avLst>
          </a:prstGeom>
          <a:solidFill>
            <a:schemeClr val="bg2"/>
          </a:solidFill>
          <a:ln/>
        </p:spPr>
      </p:sp>
      <p:sp>
        <p:nvSpPr>
          <p:cNvPr id="34" name="circle-agent-6"/>
          <p:cNvSpPr/>
          <p:nvPr/>
        </p:nvSpPr>
        <p:spPr>
          <a:xfrm>
            <a:off x="4736592" y="2066544"/>
            <a:ext cx="402336" cy="402336"/>
          </a:xfrm>
          <a:prstGeom prst="ellipse">
            <a:avLst/>
          </a:prstGeom>
          <a:solidFill>
            <a:schemeClr val="accent2"/>
          </a:solidFill>
          <a:ln/>
        </p:spPr>
      </p:sp>
      <p:pic>
        <p:nvPicPr>
          <p:cNvPr id="35" name="icon-agent-6" descr="preencoded.png">    </p:cNvPr>
          <p:cNvPicPr>
            <a:picLocks noChangeAspect="1"/>
          </p:cNvPicPr>
          <p:nvPr/>
        </p:nvPicPr>
        <p:blipFill>
          <a:blip r:embed="rId7"/>
          <a:stretch>
            <a:fillRect/>
          </a:stretch>
        </p:blipFill>
        <p:spPr>
          <a:xfrm>
            <a:off x="4837176" y="2167128"/>
            <a:ext cx="201168" cy="201168"/>
          </a:xfrm>
          <a:prstGeom prst="rect">
            <a:avLst/>
          </a:prstGeom>
        </p:spPr>
      </p:pic>
      <p:sp>
        <p:nvSpPr>
          <p:cNvPr id="36" name="agent-h-6"/>
          <p:cNvSpPr txBox="1"/>
          <p:nvPr/>
        </p:nvSpPr>
        <p:spPr>
          <a:xfrm>
            <a:off x="5230368" y="2020824"/>
            <a:ext cx="1325880" cy="274320"/>
          </a:xfrm>
          <a:prstGeom prst="rect">
            <a:avLst/>
          </a:prstGeom>
          <a:noFill/>
          <a:ln/>
        </p:spPr>
        <p:txBody>
          <a:bodyPr wrap="square" lIns="0" tIns="0" rIns="0" bIns="0" rtlCol="0" anchor="t"/>
          <a:lstStyle/>
          <a:p>
            <a:pPr indent="0" marL="0">
              <a:buNone/>
            </a:pPr>
            <a:r>
              <a:rPr lang="en-US" sz="1300" b="1" dirty="0">
                <a:solidFill>
                  <a:schemeClr val="tx1"/>
                </a:solidFill>
              </a:rPr>
              <a:t>Reminders</a:t>
            </a:r>
            <a:endParaRPr lang="en-US" sz="1300" dirty="0"/>
          </a:p>
        </p:txBody>
      </p:sp>
      <p:sp>
        <p:nvSpPr>
          <p:cNvPr id="37" name="agent-b-6"/>
          <p:cNvSpPr txBox="1"/>
          <p:nvPr/>
        </p:nvSpPr>
        <p:spPr>
          <a:xfrm>
            <a:off x="5230368" y="2286000"/>
            <a:ext cx="1325880" cy="274320"/>
          </a:xfrm>
          <a:prstGeom prst="rect">
            <a:avLst/>
          </a:prstGeom>
          <a:noFill/>
          <a:ln/>
        </p:spPr>
        <p:txBody>
          <a:bodyPr wrap="square" lIns="0" tIns="0" rIns="0" bIns="0" rtlCol="0" anchor="t"/>
          <a:lstStyle/>
          <a:p>
            <a:pPr indent="0" marL="0">
              <a:buNone/>
            </a:pPr>
            <a:r>
              <a:rPr lang="en-US" sz="1000" dirty="0">
                <a:solidFill>
                  <a:schemeClr val="accent4"/>
                </a:solidFill>
              </a:rPr>
              <a:t>On WhatsApp, Telegram, web</a:t>
            </a:r>
            <a:endParaRPr lang="en-US" sz="1000" dirty="0"/>
          </a:p>
        </p:txBody>
      </p:sp>
      <p:sp>
        <p:nvSpPr>
          <p:cNvPr id="38" name="agent-7"/>
          <p:cNvSpPr/>
          <p:nvPr/>
        </p:nvSpPr>
        <p:spPr>
          <a:xfrm>
            <a:off x="6711696" y="1929384"/>
            <a:ext cx="1975104" cy="676656"/>
          </a:xfrm>
          <a:prstGeom prst="roundRect">
            <a:avLst>
              <a:gd name="adj" fmla="val 16216"/>
            </a:avLst>
          </a:prstGeom>
          <a:solidFill>
            <a:schemeClr val="bg2"/>
          </a:solidFill>
          <a:ln/>
        </p:spPr>
      </p:sp>
      <p:sp>
        <p:nvSpPr>
          <p:cNvPr id="39" name="circle-agent-7"/>
          <p:cNvSpPr/>
          <p:nvPr/>
        </p:nvSpPr>
        <p:spPr>
          <a:xfrm>
            <a:off x="6821424" y="2066544"/>
            <a:ext cx="402336" cy="402336"/>
          </a:xfrm>
          <a:prstGeom prst="ellipse">
            <a:avLst/>
          </a:prstGeom>
          <a:solidFill>
            <a:schemeClr val="accent2"/>
          </a:solidFill>
          <a:ln/>
        </p:spPr>
      </p:sp>
      <p:pic>
        <p:nvPicPr>
          <p:cNvPr id="40" name="icon-agent-7" descr="preencoded.png">    </p:cNvPr>
          <p:cNvPicPr>
            <a:picLocks noChangeAspect="1"/>
          </p:cNvPicPr>
          <p:nvPr/>
        </p:nvPicPr>
        <p:blipFill>
          <a:blip r:embed="rId8"/>
          <a:stretch>
            <a:fillRect/>
          </a:stretch>
        </p:blipFill>
        <p:spPr>
          <a:xfrm>
            <a:off x="6922008" y="2167128"/>
            <a:ext cx="201168" cy="201168"/>
          </a:xfrm>
          <a:prstGeom prst="rect">
            <a:avLst/>
          </a:prstGeom>
        </p:spPr>
      </p:pic>
      <p:sp>
        <p:nvSpPr>
          <p:cNvPr id="41" name="agent-h-7"/>
          <p:cNvSpPr txBox="1"/>
          <p:nvPr/>
        </p:nvSpPr>
        <p:spPr>
          <a:xfrm>
            <a:off x="7315200" y="2020824"/>
            <a:ext cx="1325880" cy="274320"/>
          </a:xfrm>
          <a:prstGeom prst="rect">
            <a:avLst/>
          </a:prstGeom>
          <a:noFill/>
          <a:ln/>
        </p:spPr>
        <p:txBody>
          <a:bodyPr wrap="square" lIns="0" tIns="0" rIns="0" bIns="0" rtlCol="0" anchor="t"/>
          <a:lstStyle/>
          <a:p>
            <a:pPr indent="0" marL="0">
              <a:buNone/>
            </a:pPr>
            <a:r>
              <a:rPr lang="en-US" sz="1300" b="1" dirty="0">
                <a:solidFill>
                  <a:schemeClr val="tx1"/>
                </a:solidFill>
              </a:rPr>
              <a:t>Notes &amp; memory</a:t>
            </a:r>
            <a:endParaRPr lang="en-US" sz="1300" dirty="0"/>
          </a:p>
        </p:txBody>
      </p:sp>
      <p:sp>
        <p:nvSpPr>
          <p:cNvPr id="42" name="agent-b-7"/>
          <p:cNvSpPr txBox="1"/>
          <p:nvPr/>
        </p:nvSpPr>
        <p:spPr>
          <a:xfrm>
            <a:off x="7315200" y="2286000"/>
            <a:ext cx="1325880" cy="274320"/>
          </a:xfrm>
          <a:prstGeom prst="rect">
            <a:avLst/>
          </a:prstGeom>
          <a:noFill/>
          <a:ln/>
        </p:spPr>
        <p:txBody>
          <a:bodyPr wrap="square" lIns="0" tIns="0" rIns="0" bIns="0" rtlCol="0" anchor="t"/>
          <a:lstStyle/>
          <a:p>
            <a:pPr indent="0" marL="0">
              <a:buNone/>
            </a:pPr>
            <a:r>
              <a:rPr lang="en-US" sz="1000" dirty="0">
                <a:solidFill>
                  <a:schemeClr val="accent4"/>
                </a:solidFill>
              </a:rPr>
              <a:t>Remembers preferences</a:t>
            </a:r>
            <a:endParaRPr lang="en-US" sz="1000" dirty="0"/>
          </a:p>
        </p:txBody>
      </p:sp>
      <p:sp>
        <p:nvSpPr>
          <p:cNvPr id="43" name="agent-8"/>
          <p:cNvSpPr/>
          <p:nvPr/>
        </p:nvSpPr>
        <p:spPr>
          <a:xfrm>
            <a:off x="457200" y="2715768"/>
            <a:ext cx="1975104" cy="676656"/>
          </a:xfrm>
          <a:prstGeom prst="roundRect">
            <a:avLst>
              <a:gd name="adj" fmla="val 16216"/>
            </a:avLst>
          </a:prstGeom>
          <a:solidFill>
            <a:schemeClr val="bg2"/>
          </a:solidFill>
          <a:ln/>
        </p:spPr>
      </p:sp>
      <p:sp>
        <p:nvSpPr>
          <p:cNvPr id="44" name="circle-agent-8"/>
          <p:cNvSpPr/>
          <p:nvPr/>
        </p:nvSpPr>
        <p:spPr>
          <a:xfrm>
            <a:off x="566928" y="2852928"/>
            <a:ext cx="402336" cy="402336"/>
          </a:xfrm>
          <a:prstGeom prst="ellipse">
            <a:avLst/>
          </a:prstGeom>
          <a:solidFill>
            <a:schemeClr val="accent2"/>
          </a:solidFill>
          <a:ln/>
        </p:spPr>
      </p:sp>
      <p:pic>
        <p:nvPicPr>
          <p:cNvPr id="45" name="icon-agent-8" descr="preencoded.png">    </p:cNvPr>
          <p:cNvPicPr>
            <a:picLocks noChangeAspect="1"/>
          </p:cNvPicPr>
          <p:nvPr/>
        </p:nvPicPr>
        <p:blipFill>
          <a:blip r:embed="rId9"/>
          <a:stretch>
            <a:fillRect/>
          </a:stretch>
        </p:blipFill>
        <p:spPr>
          <a:xfrm>
            <a:off x="667512" y="2953512"/>
            <a:ext cx="201168" cy="201168"/>
          </a:xfrm>
          <a:prstGeom prst="rect">
            <a:avLst/>
          </a:prstGeom>
        </p:spPr>
      </p:pic>
      <p:sp>
        <p:nvSpPr>
          <p:cNvPr id="46" name="agent-h-8"/>
          <p:cNvSpPr txBox="1"/>
          <p:nvPr/>
        </p:nvSpPr>
        <p:spPr>
          <a:xfrm>
            <a:off x="1060704" y="2807208"/>
            <a:ext cx="1325880" cy="274320"/>
          </a:xfrm>
          <a:prstGeom prst="rect">
            <a:avLst/>
          </a:prstGeom>
          <a:noFill/>
          <a:ln/>
        </p:spPr>
        <p:txBody>
          <a:bodyPr wrap="square" lIns="0" tIns="0" rIns="0" bIns="0" rtlCol="0" anchor="t"/>
          <a:lstStyle/>
          <a:p>
            <a:pPr indent="0" marL="0">
              <a:buNone/>
            </a:pPr>
            <a:r>
              <a:rPr lang="en-US" sz="1300" b="1" dirty="0">
                <a:solidFill>
                  <a:schemeClr val="tx1"/>
                </a:solidFill>
              </a:rPr>
              <a:t>Travel</a:t>
            </a:r>
            <a:endParaRPr lang="en-US" sz="1300" dirty="0"/>
          </a:p>
        </p:txBody>
      </p:sp>
      <p:sp>
        <p:nvSpPr>
          <p:cNvPr id="47" name="agent-b-8"/>
          <p:cNvSpPr txBox="1"/>
          <p:nvPr/>
        </p:nvSpPr>
        <p:spPr>
          <a:xfrm>
            <a:off x="1060704" y="3072384"/>
            <a:ext cx="1325880" cy="274320"/>
          </a:xfrm>
          <a:prstGeom prst="rect">
            <a:avLst/>
          </a:prstGeom>
          <a:noFill/>
          <a:ln/>
        </p:spPr>
        <p:txBody>
          <a:bodyPr wrap="square" lIns="0" tIns="0" rIns="0" bIns="0" rtlCol="0" anchor="t"/>
          <a:lstStyle/>
          <a:p>
            <a:pPr indent="0" marL="0">
              <a:buNone/>
            </a:pPr>
            <a:r>
              <a:rPr lang="en-US" sz="1000" dirty="0">
                <a:solidFill>
                  <a:schemeClr val="accent4"/>
                </a:solidFill>
              </a:rPr>
              <a:t>Flights, hotels, trip plans</a:t>
            </a:r>
            <a:endParaRPr lang="en-US" sz="1000" dirty="0"/>
          </a:p>
        </p:txBody>
      </p:sp>
      <p:sp>
        <p:nvSpPr>
          <p:cNvPr id="48" name="agent-9"/>
          <p:cNvSpPr/>
          <p:nvPr/>
        </p:nvSpPr>
        <p:spPr>
          <a:xfrm>
            <a:off x="2542032" y="2715768"/>
            <a:ext cx="1975104" cy="676656"/>
          </a:xfrm>
          <a:prstGeom prst="roundRect">
            <a:avLst>
              <a:gd name="adj" fmla="val 16216"/>
            </a:avLst>
          </a:prstGeom>
          <a:solidFill>
            <a:schemeClr val="bg2"/>
          </a:solidFill>
          <a:ln/>
        </p:spPr>
      </p:sp>
      <p:sp>
        <p:nvSpPr>
          <p:cNvPr id="49" name="circle-agent-9"/>
          <p:cNvSpPr/>
          <p:nvPr/>
        </p:nvSpPr>
        <p:spPr>
          <a:xfrm>
            <a:off x="2651760" y="2852928"/>
            <a:ext cx="402336" cy="402336"/>
          </a:xfrm>
          <a:prstGeom prst="ellipse">
            <a:avLst/>
          </a:prstGeom>
          <a:solidFill>
            <a:schemeClr val="accent2"/>
          </a:solidFill>
          <a:ln/>
        </p:spPr>
      </p:sp>
      <p:pic>
        <p:nvPicPr>
          <p:cNvPr id="50" name="icon-agent-9" descr="preencoded.png">    </p:cNvPr>
          <p:cNvPicPr>
            <a:picLocks noChangeAspect="1"/>
          </p:cNvPicPr>
          <p:nvPr/>
        </p:nvPicPr>
        <p:blipFill>
          <a:blip r:embed="rId10"/>
          <a:stretch>
            <a:fillRect/>
          </a:stretch>
        </p:blipFill>
        <p:spPr>
          <a:xfrm>
            <a:off x="2752344" y="2953512"/>
            <a:ext cx="201168" cy="201168"/>
          </a:xfrm>
          <a:prstGeom prst="rect">
            <a:avLst/>
          </a:prstGeom>
        </p:spPr>
      </p:pic>
      <p:sp>
        <p:nvSpPr>
          <p:cNvPr id="51" name="agent-h-9"/>
          <p:cNvSpPr txBox="1"/>
          <p:nvPr/>
        </p:nvSpPr>
        <p:spPr>
          <a:xfrm>
            <a:off x="3145536" y="2807208"/>
            <a:ext cx="1325880" cy="274320"/>
          </a:xfrm>
          <a:prstGeom prst="rect">
            <a:avLst/>
          </a:prstGeom>
          <a:noFill/>
          <a:ln/>
        </p:spPr>
        <p:txBody>
          <a:bodyPr wrap="square" lIns="0" tIns="0" rIns="0" bIns="0" rtlCol="0" anchor="t"/>
          <a:lstStyle/>
          <a:p>
            <a:pPr indent="0" marL="0">
              <a:buNone/>
            </a:pPr>
            <a:r>
              <a:rPr lang="en-US" sz="1300" b="1" dirty="0">
                <a:solidFill>
                  <a:schemeClr val="tx1"/>
                </a:solidFill>
              </a:rPr>
              <a:t>Shopping</a:t>
            </a:r>
            <a:endParaRPr lang="en-US" sz="1300" dirty="0"/>
          </a:p>
        </p:txBody>
      </p:sp>
      <p:sp>
        <p:nvSpPr>
          <p:cNvPr id="52" name="agent-b-9"/>
          <p:cNvSpPr txBox="1"/>
          <p:nvPr/>
        </p:nvSpPr>
        <p:spPr>
          <a:xfrm>
            <a:off x="3145536" y="3072384"/>
            <a:ext cx="1325880" cy="274320"/>
          </a:xfrm>
          <a:prstGeom prst="rect">
            <a:avLst/>
          </a:prstGeom>
          <a:noFill/>
          <a:ln/>
        </p:spPr>
        <p:txBody>
          <a:bodyPr wrap="square" lIns="0" tIns="0" rIns="0" bIns="0" rtlCol="0" anchor="t"/>
          <a:lstStyle/>
          <a:p>
            <a:pPr indent="0" marL="0">
              <a:buNone/>
            </a:pPr>
            <a:r>
              <a:rPr lang="en-US" sz="1000" dirty="0">
                <a:solidFill>
                  <a:schemeClr val="accent4"/>
                </a:solidFill>
              </a:rPr>
              <a:t>Price compare, drop alerts</a:t>
            </a:r>
            <a:endParaRPr lang="en-US" sz="1000" dirty="0"/>
          </a:p>
        </p:txBody>
      </p:sp>
      <p:sp>
        <p:nvSpPr>
          <p:cNvPr id="53" name="agent-10"/>
          <p:cNvSpPr/>
          <p:nvPr/>
        </p:nvSpPr>
        <p:spPr>
          <a:xfrm>
            <a:off x="4626864" y="2715768"/>
            <a:ext cx="1975104" cy="676656"/>
          </a:xfrm>
          <a:prstGeom prst="roundRect">
            <a:avLst>
              <a:gd name="adj" fmla="val 16216"/>
            </a:avLst>
          </a:prstGeom>
          <a:solidFill>
            <a:schemeClr val="bg2"/>
          </a:solidFill>
          <a:ln/>
        </p:spPr>
      </p:sp>
      <p:sp>
        <p:nvSpPr>
          <p:cNvPr id="54" name="circle-agent-10"/>
          <p:cNvSpPr/>
          <p:nvPr/>
        </p:nvSpPr>
        <p:spPr>
          <a:xfrm>
            <a:off x="4736592" y="2852928"/>
            <a:ext cx="402336" cy="402336"/>
          </a:xfrm>
          <a:prstGeom prst="ellipse">
            <a:avLst/>
          </a:prstGeom>
          <a:solidFill>
            <a:schemeClr val="accent2"/>
          </a:solidFill>
          <a:ln/>
        </p:spPr>
      </p:sp>
      <p:pic>
        <p:nvPicPr>
          <p:cNvPr id="55" name="icon-agent-10" descr="preencoded.png">    </p:cNvPr>
          <p:cNvPicPr>
            <a:picLocks noChangeAspect="1"/>
          </p:cNvPicPr>
          <p:nvPr/>
        </p:nvPicPr>
        <p:blipFill>
          <a:blip r:embed="rId11"/>
          <a:stretch>
            <a:fillRect/>
          </a:stretch>
        </p:blipFill>
        <p:spPr>
          <a:xfrm>
            <a:off x="4837176" y="2953512"/>
            <a:ext cx="201168" cy="201168"/>
          </a:xfrm>
          <a:prstGeom prst="rect">
            <a:avLst/>
          </a:prstGeom>
        </p:spPr>
      </p:pic>
      <p:sp>
        <p:nvSpPr>
          <p:cNvPr id="56" name="agent-h-10"/>
          <p:cNvSpPr txBox="1"/>
          <p:nvPr/>
        </p:nvSpPr>
        <p:spPr>
          <a:xfrm>
            <a:off x="5230368" y="2807208"/>
            <a:ext cx="1325880" cy="274320"/>
          </a:xfrm>
          <a:prstGeom prst="rect">
            <a:avLst/>
          </a:prstGeom>
          <a:noFill/>
          <a:ln/>
        </p:spPr>
        <p:txBody>
          <a:bodyPr wrap="square" lIns="0" tIns="0" rIns="0" bIns="0" rtlCol="0" anchor="t"/>
          <a:lstStyle/>
          <a:p>
            <a:pPr indent="0" marL="0">
              <a:buNone/>
            </a:pPr>
            <a:r>
              <a:rPr lang="en-US" sz="1300" b="1" dirty="0">
                <a:solidFill>
                  <a:schemeClr val="tx1"/>
                </a:solidFill>
              </a:rPr>
              <a:t>Documents</a:t>
            </a:r>
            <a:endParaRPr lang="en-US" sz="1300" dirty="0"/>
          </a:p>
        </p:txBody>
      </p:sp>
      <p:sp>
        <p:nvSpPr>
          <p:cNvPr id="57" name="agent-b-10"/>
          <p:cNvSpPr txBox="1"/>
          <p:nvPr/>
        </p:nvSpPr>
        <p:spPr>
          <a:xfrm>
            <a:off x="5230368" y="3072384"/>
            <a:ext cx="1325880" cy="274320"/>
          </a:xfrm>
          <a:prstGeom prst="rect">
            <a:avLst/>
          </a:prstGeom>
          <a:noFill/>
          <a:ln/>
        </p:spPr>
        <p:txBody>
          <a:bodyPr wrap="square" lIns="0" tIns="0" rIns="0" bIns="0" rtlCol="0" anchor="t"/>
          <a:lstStyle/>
          <a:p>
            <a:pPr indent="0" marL="0">
              <a:buNone/>
            </a:pPr>
            <a:r>
              <a:rPr lang="en-US" sz="1000" dirty="0">
                <a:solidFill>
                  <a:schemeClr val="accent4"/>
                </a:solidFill>
              </a:rPr>
              <a:t>Summarise, extract, translate</a:t>
            </a:r>
            <a:endParaRPr lang="en-US" sz="1000" dirty="0"/>
          </a:p>
        </p:txBody>
      </p:sp>
      <p:sp>
        <p:nvSpPr>
          <p:cNvPr id="58" name="agent-11"/>
          <p:cNvSpPr/>
          <p:nvPr/>
        </p:nvSpPr>
        <p:spPr>
          <a:xfrm>
            <a:off x="6711696" y="2715768"/>
            <a:ext cx="1975104" cy="676656"/>
          </a:xfrm>
          <a:prstGeom prst="roundRect">
            <a:avLst>
              <a:gd name="adj" fmla="val 16216"/>
            </a:avLst>
          </a:prstGeom>
          <a:solidFill>
            <a:schemeClr val="accent5"/>
          </a:solidFill>
          <a:ln/>
        </p:spPr>
      </p:sp>
      <p:sp>
        <p:nvSpPr>
          <p:cNvPr id="59" name="circle-agent-11"/>
          <p:cNvSpPr/>
          <p:nvPr/>
        </p:nvSpPr>
        <p:spPr>
          <a:xfrm>
            <a:off x="6821424" y="2852928"/>
            <a:ext cx="402336" cy="402336"/>
          </a:xfrm>
          <a:prstGeom prst="ellipse">
            <a:avLst/>
          </a:prstGeom>
          <a:solidFill>
            <a:schemeClr val="accent1"/>
          </a:solidFill>
          <a:ln/>
        </p:spPr>
      </p:sp>
      <p:pic>
        <p:nvPicPr>
          <p:cNvPr id="60" name="icon-agent-11" descr="preencoded.png">    </p:cNvPr>
          <p:cNvPicPr>
            <a:picLocks noChangeAspect="1"/>
          </p:cNvPicPr>
          <p:nvPr/>
        </p:nvPicPr>
        <p:blipFill>
          <a:blip r:embed="rId12"/>
          <a:stretch>
            <a:fillRect/>
          </a:stretch>
        </p:blipFill>
        <p:spPr>
          <a:xfrm>
            <a:off x="6922008" y="2953512"/>
            <a:ext cx="201168" cy="201168"/>
          </a:xfrm>
          <a:prstGeom prst="rect">
            <a:avLst/>
          </a:prstGeom>
        </p:spPr>
      </p:pic>
      <p:sp>
        <p:nvSpPr>
          <p:cNvPr id="61" name="agent-h-11"/>
          <p:cNvSpPr txBox="1"/>
          <p:nvPr/>
        </p:nvSpPr>
        <p:spPr>
          <a:xfrm>
            <a:off x="7315200" y="2807208"/>
            <a:ext cx="1325880" cy="274320"/>
          </a:xfrm>
          <a:prstGeom prst="rect">
            <a:avLst/>
          </a:prstGeom>
          <a:noFill/>
          <a:ln/>
        </p:spPr>
        <p:txBody>
          <a:bodyPr wrap="square" lIns="0" tIns="0" rIns="0" bIns="0" rtlCol="0" anchor="t"/>
          <a:lstStyle/>
          <a:p>
            <a:pPr indent="0" marL="0">
              <a:buNone/>
            </a:pPr>
            <a:r>
              <a:rPr lang="en-US" sz="1300" b="1" dirty="0">
                <a:solidFill>
                  <a:schemeClr val="tx1"/>
                </a:solidFill>
              </a:rPr>
              <a:t>Your own agents</a:t>
            </a:r>
            <a:endParaRPr lang="en-US" sz="1300" dirty="0"/>
          </a:p>
        </p:txBody>
      </p:sp>
      <p:sp>
        <p:nvSpPr>
          <p:cNvPr id="62" name="agent-b-11"/>
          <p:cNvSpPr txBox="1"/>
          <p:nvPr/>
        </p:nvSpPr>
        <p:spPr>
          <a:xfrm>
            <a:off x="7315200" y="3072384"/>
            <a:ext cx="1325880" cy="274320"/>
          </a:xfrm>
          <a:prstGeom prst="rect">
            <a:avLst/>
          </a:prstGeom>
          <a:noFill/>
          <a:ln/>
        </p:spPr>
        <p:txBody>
          <a:bodyPr wrap="square" lIns="0" tIns="0" rIns="0" bIns="0" rtlCol="0" anchor="t"/>
          <a:lstStyle/>
          <a:p>
            <a:pPr indent="0" marL="0">
              <a:buNone/>
            </a:pPr>
            <a:r>
              <a:rPr lang="en-US" sz="1000" dirty="0">
                <a:solidFill>
                  <a:schemeClr val="accent4"/>
                </a:solidFill>
              </a:rPr>
              <a:t>Built in the admin console</a:t>
            </a:r>
            <a:endParaRPr lang="en-US" sz="1000" dirty="0"/>
          </a:p>
        </p:txBody>
      </p:sp>
      <p:sp>
        <p:nvSpPr>
          <p:cNvPr id="63" name="auto-band"/>
          <p:cNvSpPr/>
          <p:nvPr/>
        </p:nvSpPr>
        <p:spPr>
          <a:xfrm>
            <a:off x="457200" y="3584448"/>
            <a:ext cx="8229600" cy="960120"/>
          </a:xfrm>
          <a:prstGeom prst="roundRect">
            <a:avLst>
              <a:gd name="adj" fmla="val 11429"/>
            </a:avLst>
          </a:prstGeom>
          <a:solidFill>
            <a:schemeClr val="tx2"/>
          </a:solidFill>
          <a:ln/>
        </p:spPr>
      </p:sp>
      <p:sp>
        <p:nvSpPr>
          <p:cNvPr id="64" name="circle-auto"/>
          <p:cNvSpPr/>
          <p:nvPr/>
        </p:nvSpPr>
        <p:spPr>
          <a:xfrm>
            <a:off x="685800" y="3794760"/>
            <a:ext cx="548640" cy="548640"/>
          </a:xfrm>
          <a:prstGeom prst="ellipse">
            <a:avLst/>
          </a:prstGeom>
          <a:solidFill>
            <a:schemeClr val="accent1"/>
          </a:solidFill>
          <a:ln/>
        </p:spPr>
      </p:sp>
      <p:pic>
        <p:nvPicPr>
          <p:cNvPr id="65" name="icon-auto" descr="preencoded.png">    </p:cNvPr>
          <p:cNvPicPr>
            <a:picLocks noChangeAspect="1"/>
          </p:cNvPicPr>
          <p:nvPr/>
        </p:nvPicPr>
        <p:blipFill>
          <a:blip r:embed="rId13"/>
          <a:stretch>
            <a:fillRect/>
          </a:stretch>
        </p:blipFill>
        <p:spPr>
          <a:xfrm>
            <a:off x="822960" y="3931920"/>
            <a:ext cx="274320" cy="274320"/>
          </a:xfrm>
          <a:prstGeom prst="rect">
            <a:avLst/>
          </a:prstGeom>
        </p:spPr>
      </p:pic>
      <p:sp>
        <p:nvSpPr>
          <p:cNvPr id="66" name="auto-h"/>
          <p:cNvSpPr txBox="1"/>
          <p:nvPr/>
        </p:nvSpPr>
        <p:spPr>
          <a:xfrm>
            <a:off x="1417320" y="3721608"/>
            <a:ext cx="7040880" cy="320040"/>
          </a:xfrm>
          <a:prstGeom prst="rect">
            <a:avLst/>
          </a:prstGeom>
          <a:noFill/>
          <a:ln/>
        </p:spPr>
        <p:txBody>
          <a:bodyPr wrap="square" lIns="0" tIns="0" rIns="0" bIns="0" rtlCol="0" anchor="t"/>
          <a:lstStyle/>
          <a:p>
            <a:pPr indent="0" marL="0">
              <a:buNone/>
            </a:pPr>
            <a:r>
              <a:rPr lang="en-US" sz="1500" b="1" dirty="0">
                <a:solidFill>
                  <a:schemeClr val="bg1"/>
                </a:solidFill>
              </a:rPr>
              <a:t>It works without being asked</a:t>
            </a:r>
            <a:endParaRPr lang="en-US" sz="1500" dirty="0"/>
          </a:p>
        </p:txBody>
      </p:sp>
      <p:sp>
        <p:nvSpPr>
          <p:cNvPr id="67" name="auto-b"/>
          <p:cNvSpPr txBox="1"/>
          <p:nvPr/>
        </p:nvSpPr>
        <p:spPr>
          <a:xfrm>
            <a:off x="1417320" y="4041648"/>
            <a:ext cx="7040880" cy="457200"/>
          </a:xfrm>
          <a:prstGeom prst="rect">
            <a:avLst/>
          </a:prstGeom>
          <a:noFill/>
          <a:ln/>
        </p:spPr>
        <p:txBody>
          <a:bodyPr wrap="square" lIns="0" tIns="0" rIns="0" bIns="0" rtlCol="0" anchor="t"/>
          <a:lstStyle/>
          <a:p>
            <a:pPr indent="0" marL="0">
              <a:buNone/>
            </a:pPr>
            <a:r>
              <a:rPr lang="en-US" sz="1200" dirty="0">
                <a:solidFill>
                  <a:srgbClr val="E7E5E4"/>
                </a:solidFill>
              </a:rPr>
              <a:t>Morning brief · urgent-mail alerts · meeting prep · follow-up nudges · price-drop alerts · weekly review — delivered on WhatsApp or Telegram.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A content studio for creators</a:t>
            </a:r>
            <a:endParaRPr lang="en-US" sz="3200" dirty="0"/>
          </a:p>
        </p:txBody>
      </p:sp>
      <p:sp>
        <p:nvSpPr>
          <p:cNvPr id="3" name="circle-studio-0"/>
          <p:cNvSpPr/>
          <p:nvPr/>
        </p:nvSpPr>
        <p:spPr>
          <a:xfrm>
            <a:off x="457200" y="1225296"/>
            <a:ext cx="502920" cy="502920"/>
          </a:xfrm>
          <a:prstGeom prst="ellipse">
            <a:avLst/>
          </a:prstGeom>
          <a:solidFill>
            <a:schemeClr val="accent2"/>
          </a:solidFill>
          <a:ln/>
        </p:spPr>
      </p:sp>
      <p:pic>
        <p:nvPicPr>
          <p:cNvPr id="4" name="icon-studio-0" descr="preencoded.png">    </p:cNvPr>
          <p:cNvPicPr>
            <a:picLocks noChangeAspect="1"/>
          </p:cNvPicPr>
          <p:nvPr/>
        </p:nvPicPr>
        <p:blipFill>
          <a:blip r:embed="rId1"/>
          <a:stretch>
            <a:fillRect/>
          </a:stretch>
        </p:blipFill>
        <p:spPr>
          <a:xfrm>
            <a:off x="582930" y="1351026"/>
            <a:ext cx="251460" cy="251460"/>
          </a:xfrm>
          <a:prstGeom prst="rect">
            <a:avLst/>
          </a:prstGeom>
        </p:spPr>
      </p:pic>
      <p:sp>
        <p:nvSpPr>
          <p:cNvPr id="5" name="studio-h-0"/>
          <p:cNvSpPr txBox="1"/>
          <p:nvPr/>
        </p:nvSpPr>
        <p:spPr>
          <a:xfrm>
            <a:off x="1143000" y="1188720"/>
            <a:ext cx="2743200" cy="292608"/>
          </a:xfrm>
          <a:prstGeom prst="rect">
            <a:avLst/>
          </a:prstGeom>
          <a:noFill/>
          <a:ln/>
        </p:spPr>
        <p:txBody>
          <a:bodyPr wrap="square" lIns="0" tIns="0" rIns="0" bIns="0" rtlCol="0" anchor="t"/>
          <a:lstStyle/>
          <a:p>
            <a:pPr indent="0" marL="0">
              <a:buNone/>
            </a:pPr>
            <a:r>
              <a:rPr lang="en-US" sz="1500" b="1" dirty="0">
                <a:solidFill>
                  <a:schemeClr val="tx1"/>
                </a:solidFill>
              </a:rPr>
              <a:t>Research in seconds</a:t>
            </a:r>
            <a:endParaRPr lang="en-US" sz="1500" dirty="0"/>
          </a:p>
        </p:txBody>
      </p:sp>
      <p:sp>
        <p:nvSpPr>
          <p:cNvPr id="6" name="studio-b-0"/>
          <p:cNvSpPr txBox="1"/>
          <p:nvPr/>
        </p:nvSpPr>
        <p:spPr>
          <a:xfrm>
            <a:off x="1143000" y="1490472"/>
            <a:ext cx="2743200" cy="548640"/>
          </a:xfrm>
          <a:prstGeom prst="rect">
            <a:avLst/>
          </a:prstGeom>
          <a:noFill/>
          <a:ln/>
        </p:spPr>
        <p:txBody>
          <a:bodyPr wrap="square" lIns="0" tIns="0" rIns="0" bIns="0" rtlCol="0" anchor="t"/>
          <a:lstStyle/>
          <a:p>
            <a:pPr indent="0" marL="0">
              <a:buNone/>
            </a:pPr>
            <a:r>
              <a:rPr lang="en-US" sz="1200" dirty="0">
                <a:solidFill>
                  <a:schemeClr val="accent4"/>
                </a:solidFill>
              </a:rPr>
              <a:t>Latest news and web sources, summarised into key facts with links.</a:t>
            </a:r>
            <a:endParaRPr lang="en-US" sz="1200" dirty="0"/>
          </a:p>
        </p:txBody>
      </p:sp>
      <p:sp>
        <p:nvSpPr>
          <p:cNvPr id="7" name="circle-studio-1"/>
          <p:cNvSpPr/>
          <p:nvPr/>
        </p:nvSpPr>
        <p:spPr>
          <a:xfrm>
            <a:off x="457200" y="2121408"/>
            <a:ext cx="502920" cy="502920"/>
          </a:xfrm>
          <a:prstGeom prst="ellipse">
            <a:avLst/>
          </a:prstGeom>
          <a:solidFill>
            <a:schemeClr val="accent1"/>
          </a:solidFill>
          <a:ln/>
        </p:spPr>
      </p:sp>
      <p:pic>
        <p:nvPicPr>
          <p:cNvPr id="8" name="icon-studio-1" descr="preencoded.png">    </p:cNvPr>
          <p:cNvPicPr>
            <a:picLocks noChangeAspect="1"/>
          </p:cNvPicPr>
          <p:nvPr/>
        </p:nvPicPr>
        <p:blipFill>
          <a:blip r:embed="rId2"/>
          <a:stretch>
            <a:fillRect/>
          </a:stretch>
        </p:blipFill>
        <p:spPr>
          <a:xfrm>
            <a:off x="582930" y="2247138"/>
            <a:ext cx="251460" cy="251460"/>
          </a:xfrm>
          <a:prstGeom prst="rect">
            <a:avLst/>
          </a:prstGeom>
        </p:spPr>
      </p:pic>
      <p:sp>
        <p:nvSpPr>
          <p:cNvPr id="9" name="studio-h-1"/>
          <p:cNvSpPr txBox="1"/>
          <p:nvPr/>
        </p:nvSpPr>
        <p:spPr>
          <a:xfrm>
            <a:off x="1143000" y="2084832"/>
            <a:ext cx="2743200" cy="292608"/>
          </a:xfrm>
          <a:prstGeom prst="rect">
            <a:avLst/>
          </a:prstGeom>
          <a:noFill/>
          <a:ln/>
        </p:spPr>
        <p:txBody>
          <a:bodyPr wrap="square" lIns="0" tIns="0" rIns="0" bIns="0" rtlCol="0" anchor="t"/>
          <a:lstStyle/>
          <a:p>
            <a:pPr indent="0" marL="0">
              <a:buNone/>
            </a:pPr>
            <a:r>
              <a:rPr lang="en-US" sz="1500" b="1" dirty="0">
                <a:solidFill>
                  <a:schemeClr val="tx1"/>
                </a:solidFill>
              </a:rPr>
              <a:t>A script that fits</a:t>
            </a:r>
            <a:endParaRPr lang="en-US" sz="1500" dirty="0"/>
          </a:p>
        </p:txBody>
      </p:sp>
      <p:sp>
        <p:nvSpPr>
          <p:cNvPr id="10" name="studio-b-1"/>
          <p:cNvSpPr txBox="1"/>
          <p:nvPr/>
        </p:nvSpPr>
        <p:spPr>
          <a:xfrm>
            <a:off x="1143000" y="2386584"/>
            <a:ext cx="2743200" cy="548640"/>
          </a:xfrm>
          <a:prstGeom prst="rect">
            <a:avLst/>
          </a:prstGeom>
          <a:noFill/>
          <a:ln/>
        </p:spPr>
        <p:txBody>
          <a:bodyPr wrap="square" lIns="0" tIns="0" rIns="0" bIns="0" rtlCol="0" anchor="t"/>
          <a:lstStyle/>
          <a:p>
            <a:pPr indent="0" marL="0">
              <a:buNone/>
            </a:pPr>
            <a:r>
              <a:rPr lang="en-US" sz="1200" dirty="0">
                <a:solidFill>
                  <a:schemeClr val="accent4"/>
                </a:solidFill>
              </a:rPr>
              <a:t>Shorts and Reels scripts timed to 30–90 s, beat by beat.</a:t>
            </a:r>
            <a:endParaRPr lang="en-US" sz="1200" dirty="0"/>
          </a:p>
        </p:txBody>
      </p:sp>
      <p:sp>
        <p:nvSpPr>
          <p:cNvPr id="11" name="circle-studio-2"/>
          <p:cNvSpPr/>
          <p:nvPr/>
        </p:nvSpPr>
        <p:spPr>
          <a:xfrm>
            <a:off x="457200" y="3017520"/>
            <a:ext cx="502920" cy="502920"/>
          </a:xfrm>
          <a:prstGeom prst="ellipse">
            <a:avLst/>
          </a:prstGeom>
          <a:solidFill>
            <a:schemeClr val="accent2"/>
          </a:solidFill>
          <a:ln/>
        </p:spPr>
      </p:sp>
      <p:pic>
        <p:nvPicPr>
          <p:cNvPr id="12" name="icon-studio-2" descr="preencoded.png">    </p:cNvPr>
          <p:cNvPicPr>
            <a:picLocks noChangeAspect="1"/>
          </p:cNvPicPr>
          <p:nvPr/>
        </p:nvPicPr>
        <p:blipFill>
          <a:blip r:embed="rId3"/>
          <a:stretch>
            <a:fillRect/>
          </a:stretch>
        </p:blipFill>
        <p:spPr>
          <a:xfrm>
            <a:off x="582930" y="3143250"/>
            <a:ext cx="251460" cy="251460"/>
          </a:xfrm>
          <a:prstGeom prst="rect">
            <a:avLst/>
          </a:prstGeom>
        </p:spPr>
      </p:pic>
      <p:sp>
        <p:nvSpPr>
          <p:cNvPr id="13" name="studio-h-2"/>
          <p:cNvSpPr txBox="1"/>
          <p:nvPr/>
        </p:nvSpPr>
        <p:spPr>
          <a:xfrm>
            <a:off x="1143000" y="2980944"/>
            <a:ext cx="2743200" cy="292608"/>
          </a:xfrm>
          <a:prstGeom prst="rect">
            <a:avLst/>
          </a:prstGeom>
          <a:noFill/>
          <a:ln/>
        </p:spPr>
        <p:txBody>
          <a:bodyPr wrap="square" lIns="0" tIns="0" rIns="0" bIns="0" rtlCol="0" anchor="t"/>
          <a:lstStyle/>
          <a:p>
            <a:pPr indent="0" marL="0">
              <a:buNone/>
            </a:pPr>
            <a:r>
              <a:rPr lang="en-US" sz="1500" b="1" dirty="0">
                <a:solidFill>
                  <a:schemeClr val="tx1"/>
                </a:solidFill>
              </a:rPr>
              <a:t>Ready to shoot</a:t>
            </a:r>
            <a:endParaRPr lang="en-US" sz="1500" dirty="0"/>
          </a:p>
        </p:txBody>
      </p:sp>
      <p:sp>
        <p:nvSpPr>
          <p:cNvPr id="14" name="studio-b-2"/>
          <p:cNvSpPr txBox="1"/>
          <p:nvPr/>
        </p:nvSpPr>
        <p:spPr>
          <a:xfrm>
            <a:off x="1143000" y="3282696"/>
            <a:ext cx="2743200" cy="548640"/>
          </a:xfrm>
          <a:prstGeom prst="rect">
            <a:avLst/>
          </a:prstGeom>
          <a:noFill/>
          <a:ln/>
        </p:spPr>
        <p:txBody>
          <a:bodyPr wrap="square" lIns="0" tIns="0" rIns="0" bIns="0" rtlCol="0" anchor="t"/>
          <a:lstStyle/>
          <a:p>
            <a:pPr indent="0" marL="0">
              <a:buNone/>
            </a:pPr>
            <a:r>
              <a:rPr lang="en-US" sz="1200" dirty="0">
                <a:solidFill>
                  <a:schemeClr val="accent4"/>
                </a:solidFill>
              </a:rPr>
              <a:t>Caption, hashtags, thumbnails and music; download the script or teleprompter text.</a:t>
            </a:r>
            <a:endParaRPr lang="en-US" sz="1200" dirty="0"/>
          </a:p>
        </p:txBody>
      </p:sp>
      <p:sp>
        <p:nvSpPr>
          <p:cNvPr id="15" name="studio-chip-0"/>
          <p:cNvSpPr/>
          <p:nvPr/>
        </p:nvSpPr>
        <p:spPr>
          <a:xfrm>
            <a:off x="457200" y="3977640"/>
            <a:ext cx="1691640" cy="457200"/>
          </a:xfrm>
          <a:prstGeom prst="roundRect">
            <a:avLst>
              <a:gd name="adj" fmla="val 24000"/>
            </a:avLst>
          </a:prstGeom>
          <a:solidFill>
            <a:schemeClr val="accent5"/>
          </a:solidFill>
          <a:ln/>
        </p:spPr>
      </p:sp>
      <p:pic>
        <p:nvPicPr>
          <p:cNvPr id="16" name="studio-chip-icon-0" descr="preencoded.png">    </p:cNvPr>
          <p:cNvPicPr>
            <a:picLocks noChangeAspect="1"/>
          </p:cNvPicPr>
          <p:nvPr/>
        </p:nvPicPr>
        <p:blipFill>
          <a:blip r:embed="rId4"/>
          <a:stretch>
            <a:fillRect/>
          </a:stretch>
        </p:blipFill>
        <p:spPr>
          <a:xfrm>
            <a:off x="576072" y="4087368"/>
            <a:ext cx="237744" cy="237744"/>
          </a:xfrm>
          <a:prstGeom prst="rect">
            <a:avLst/>
          </a:prstGeom>
        </p:spPr>
      </p:pic>
      <p:sp>
        <p:nvSpPr>
          <p:cNvPr id="17" name="studio-chip-t-0"/>
          <p:cNvSpPr txBox="1"/>
          <p:nvPr/>
        </p:nvSpPr>
        <p:spPr>
          <a:xfrm>
            <a:off x="886968" y="3977640"/>
            <a:ext cx="1243584" cy="457200"/>
          </a:xfrm>
          <a:prstGeom prst="rect">
            <a:avLst/>
          </a:prstGeom>
          <a:noFill/>
          <a:ln/>
        </p:spPr>
        <p:txBody>
          <a:bodyPr wrap="square" lIns="0" tIns="0" rIns="0" bIns="0" rtlCol="0" anchor="ctr"/>
          <a:lstStyle/>
          <a:p>
            <a:pPr indent="0" marL="0">
              <a:buNone/>
            </a:pPr>
            <a:r>
              <a:rPr lang="en-US" sz="1100" b="1" dirty="0">
                <a:solidFill>
                  <a:schemeClr val="tx1"/>
                </a:solidFill>
              </a:rPr>
              <a:t>Hindi, Hinglish &amp; more</a:t>
            </a:r>
            <a:endParaRPr lang="en-US" sz="1100" dirty="0"/>
          </a:p>
        </p:txBody>
      </p:sp>
      <p:sp>
        <p:nvSpPr>
          <p:cNvPr id="18" name="studio-chip-1"/>
          <p:cNvSpPr/>
          <p:nvPr/>
        </p:nvSpPr>
        <p:spPr>
          <a:xfrm>
            <a:off x="2240280" y="3977640"/>
            <a:ext cx="1691640" cy="457200"/>
          </a:xfrm>
          <a:prstGeom prst="roundRect">
            <a:avLst>
              <a:gd name="adj" fmla="val 24000"/>
            </a:avLst>
          </a:prstGeom>
          <a:solidFill>
            <a:schemeClr val="accent5"/>
          </a:solidFill>
          <a:ln/>
        </p:spPr>
      </p:sp>
      <p:pic>
        <p:nvPicPr>
          <p:cNvPr id="19" name="studio-chip-icon-1" descr="preencoded.png">    </p:cNvPr>
          <p:cNvPicPr>
            <a:picLocks noChangeAspect="1"/>
          </p:cNvPicPr>
          <p:nvPr/>
        </p:nvPicPr>
        <p:blipFill>
          <a:blip r:embed="rId5"/>
          <a:stretch>
            <a:fillRect/>
          </a:stretch>
        </p:blipFill>
        <p:spPr>
          <a:xfrm>
            <a:off x="2359152" y="4087368"/>
            <a:ext cx="237744" cy="237744"/>
          </a:xfrm>
          <a:prstGeom prst="rect">
            <a:avLst/>
          </a:prstGeom>
        </p:spPr>
      </p:pic>
      <p:sp>
        <p:nvSpPr>
          <p:cNvPr id="20" name="studio-chip-t-1"/>
          <p:cNvSpPr txBox="1"/>
          <p:nvPr/>
        </p:nvSpPr>
        <p:spPr>
          <a:xfrm>
            <a:off x="2670048" y="3977640"/>
            <a:ext cx="1243584" cy="457200"/>
          </a:xfrm>
          <a:prstGeom prst="rect">
            <a:avLst/>
          </a:prstGeom>
          <a:noFill/>
          <a:ln/>
        </p:spPr>
        <p:txBody>
          <a:bodyPr wrap="square" lIns="0" tIns="0" rIns="0" bIns="0" rtlCol="0" anchor="ctr"/>
          <a:lstStyle/>
          <a:p>
            <a:pPr indent="0" marL="0">
              <a:buNone/>
            </a:pPr>
            <a:r>
              <a:rPr lang="en-US" sz="1100" b="1" dirty="0">
                <a:solidFill>
                  <a:schemeClr val="tx1"/>
                </a:solidFill>
              </a:rPr>
              <a:t>Works with Claude (MCP)</a:t>
            </a:r>
            <a:endParaRPr lang="en-US" sz="1100" dirty="0"/>
          </a:p>
        </p:txBody>
      </p:sp>
      <p:pic>
        <p:nvPicPr>
          <p:cNvPr id="21" name="studio-shot" descr="Studio tab showing a generated 30-second YouTube Shorts script with timed beats, caption, hashtags and thumbnail ideas">    </p:cNvPr>
          <p:cNvPicPr>
            <a:picLocks noChangeAspect="1"/>
          </p:cNvPicPr>
          <p:nvPr/>
        </p:nvPicPr>
        <p:blipFill>
          <a:blip r:embed="rId6"/>
          <a:stretch>
            <a:fillRect/>
          </a:stretch>
        </p:blipFill>
        <p:spPr>
          <a:xfrm>
            <a:off x="4069080" y="1188720"/>
            <a:ext cx="4617720" cy="3028013"/>
          </a:xfrm>
          <a:prstGeom prst="rect">
            <a:avLst/>
          </a:prstGeom>
          <a:effectLst>
            <a:outerShdw sx="100000" sy="100000" kx="0" ky="0" algn="bl" rotWithShape="0" blurRad="101600" dist="25400" dir="5400000">
              <a:srgbClr val="000000">
                <a:alpha val="18000"/>
              </a:srgbClr>
            </a:outerShdw>
          </a:effectLst>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You stay in control</a:t>
            </a:r>
            <a:endParaRPr lang="en-US" sz="3200" dirty="0"/>
          </a:p>
        </p:txBody>
      </p:sp>
      <p:sp>
        <p:nvSpPr>
          <p:cNvPr id="3" name="ctl-0"/>
          <p:cNvSpPr/>
          <p:nvPr/>
        </p:nvSpPr>
        <p:spPr>
          <a:xfrm>
            <a:off x="457200" y="1188720"/>
            <a:ext cx="2615184" cy="1554480"/>
          </a:xfrm>
          <a:prstGeom prst="roundRect">
            <a:avLst>
              <a:gd name="adj" fmla="val 7059"/>
            </a:avLst>
          </a:prstGeom>
          <a:solidFill>
            <a:schemeClr val="bg2"/>
          </a:solidFill>
          <a:ln/>
        </p:spPr>
      </p:sp>
      <p:sp>
        <p:nvSpPr>
          <p:cNvPr id="4" name="circle-ctl-0"/>
          <p:cNvSpPr/>
          <p:nvPr/>
        </p:nvSpPr>
        <p:spPr>
          <a:xfrm>
            <a:off x="685800" y="1417320"/>
            <a:ext cx="475488" cy="475488"/>
          </a:xfrm>
          <a:prstGeom prst="ellipse">
            <a:avLst/>
          </a:prstGeom>
          <a:solidFill>
            <a:schemeClr val="accent2"/>
          </a:solidFill>
          <a:ln/>
        </p:spPr>
      </p:sp>
      <p:pic>
        <p:nvPicPr>
          <p:cNvPr id="5" name="icon-ctl-0" descr="preencoded.png">    </p:cNvPr>
          <p:cNvPicPr>
            <a:picLocks noChangeAspect="1"/>
          </p:cNvPicPr>
          <p:nvPr/>
        </p:nvPicPr>
        <p:blipFill>
          <a:blip r:embed="rId1"/>
          <a:stretch>
            <a:fillRect/>
          </a:stretch>
        </p:blipFill>
        <p:spPr>
          <a:xfrm>
            <a:off x="804672" y="1536192"/>
            <a:ext cx="237744" cy="237744"/>
          </a:xfrm>
          <a:prstGeom prst="rect">
            <a:avLst/>
          </a:prstGeom>
        </p:spPr>
      </p:pic>
      <p:sp>
        <p:nvSpPr>
          <p:cNvPr id="6" name="ctl-h-0"/>
          <p:cNvSpPr txBox="1"/>
          <p:nvPr/>
        </p:nvSpPr>
        <p:spPr>
          <a:xfrm>
            <a:off x="1280160" y="1417320"/>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Approval before action</a:t>
            </a:r>
            <a:endParaRPr lang="en-US" sz="1400" dirty="0"/>
          </a:p>
        </p:txBody>
      </p:sp>
      <p:sp>
        <p:nvSpPr>
          <p:cNvPr id="7" name="ctl-b-0"/>
          <p:cNvSpPr txBox="1"/>
          <p:nvPr/>
        </p:nvSpPr>
        <p:spPr>
          <a:xfrm>
            <a:off x="685800" y="2011680"/>
            <a:ext cx="2240280" cy="685800"/>
          </a:xfrm>
          <a:prstGeom prst="rect">
            <a:avLst/>
          </a:prstGeom>
          <a:noFill/>
          <a:ln/>
        </p:spPr>
        <p:txBody>
          <a:bodyPr wrap="square" lIns="0" tIns="0" rIns="0" bIns="0" rtlCol="0" anchor="t"/>
          <a:lstStyle/>
          <a:p>
            <a:pPr indent="0" marL="0">
              <a:buNone/>
            </a:pPr>
            <a:r>
              <a:rPr lang="en-US" sz="1200" dirty="0">
                <a:solidFill>
                  <a:schemeClr val="accent4"/>
                </a:solidFill>
              </a:rPr>
              <a:t>Sending email, deleting, or any tool you choose waits for a person to approve.</a:t>
            </a:r>
            <a:endParaRPr lang="en-US" sz="1200" dirty="0"/>
          </a:p>
        </p:txBody>
      </p:sp>
      <p:sp>
        <p:nvSpPr>
          <p:cNvPr id="8" name="ctl-1"/>
          <p:cNvSpPr/>
          <p:nvPr/>
        </p:nvSpPr>
        <p:spPr>
          <a:xfrm>
            <a:off x="3273552" y="1188720"/>
            <a:ext cx="2615184" cy="1554480"/>
          </a:xfrm>
          <a:prstGeom prst="roundRect">
            <a:avLst>
              <a:gd name="adj" fmla="val 7059"/>
            </a:avLst>
          </a:prstGeom>
          <a:solidFill>
            <a:schemeClr val="bg2"/>
          </a:solidFill>
          <a:ln/>
        </p:spPr>
      </p:sp>
      <p:sp>
        <p:nvSpPr>
          <p:cNvPr id="9" name="circle-ctl-1"/>
          <p:cNvSpPr/>
          <p:nvPr/>
        </p:nvSpPr>
        <p:spPr>
          <a:xfrm>
            <a:off x="3502152" y="1417320"/>
            <a:ext cx="475488" cy="475488"/>
          </a:xfrm>
          <a:prstGeom prst="ellipse">
            <a:avLst/>
          </a:prstGeom>
          <a:solidFill>
            <a:schemeClr val="accent2"/>
          </a:solidFill>
          <a:ln/>
        </p:spPr>
      </p:sp>
      <p:pic>
        <p:nvPicPr>
          <p:cNvPr id="10" name="icon-ctl-1" descr="preencoded.png">    </p:cNvPr>
          <p:cNvPicPr>
            <a:picLocks noChangeAspect="1"/>
          </p:cNvPicPr>
          <p:nvPr/>
        </p:nvPicPr>
        <p:blipFill>
          <a:blip r:embed="rId2"/>
          <a:stretch>
            <a:fillRect/>
          </a:stretch>
        </p:blipFill>
        <p:spPr>
          <a:xfrm>
            <a:off x="3621024" y="1536192"/>
            <a:ext cx="237744" cy="237744"/>
          </a:xfrm>
          <a:prstGeom prst="rect">
            <a:avLst/>
          </a:prstGeom>
        </p:spPr>
      </p:pic>
      <p:sp>
        <p:nvSpPr>
          <p:cNvPr id="11" name="ctl-h-1"/>
          <p:cNvSpPr txBox="1"/>
          <p:nvPr/>
        </p:nvSpPr>
        <p:spPr>
          <a:xfrm>
            <a:off x="4096512" y="1417320"/>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Customers stay in their lane</a:t>
            </a:r>
            <a:endParaRPr lang="en-US" sz="1400" dirty="0"/>
          </a:p>
        </p:txBody>
      </p:sp>
      <p:sp>
        <p:nvSpPr>
          <p:cNvPr id="12" name="ctl-b-1"/>
          <p:cNvSpPr txBox="1"/>
          <p:nvPr/>
        </p:nvSpPr>
        <p:spPr>
          <a:xfrm>
            <a:off x="3502152" y="2011680"/>
            <a:ext cx="2240280" cy="685800"/>
          </a:xfrm>
          <a:prstGeom prst="rect">
            <a:avLst/>
          </a:prstGeom>
          <a:noFill/>
          <a:ln/>
        </p:spPr>
        <p:txBody>
          <a:bodyPr wrap="square" lIns="0" tIns="0" rIns="0" bIns="0" rtlCol="0" anchor="t"/>
          <a:lstStyle/>
          <a:p>
            <a:pPr indent="0" marL="0">
              <a:buNone/>
            </a:pPr>
            <a:r>
              <a:rPr lang="en-US" sz="1200" dirty="0">
                <a:solidFill>
                  <a:schemeClr val="accent4"/>
                </a:solidFill>
              </a:rPr>
              <a:t>Customer chats can only use safe tools — never your mailbox, tasks or files.</a:t>
            </a:r>
            <a:endParaRPr lang="en-US" sz="1200" dirty="0"/>
          </a:p>
        </p:txBody>
      </p:sp>
      <p:sp>
        <p:nvSpPr>
          <p:cNvPr id="13" name="ctl-2"/>
          <p:cNvSpPr/>
          <p:nvPr/>
        </p:nvSpPr>
        <p:spPr>
          <a:xfrm>
            <a:off x="6089904" y="1188720"/>
            <a:ext cx="2615184" cy="1554480"/>
          </a:xfrm>
          <a:prstGeom prst="roundRect">
            <a:avLst>
              <a:gd name="adj" fmla="val 7059"/>
            </a:avLst>
          </a:prstGeom>
          <a:solidFill>
            <a:schemeClr val="bg2"/>
          </a:solidFill>
          <a:ln/>
        </p:spPr>
      </p:sp>
      <p:sp>
        <p:nvSpPr>
          <p:cNvPr id="14" name="circle-ctl-2"/>
          <p:cNvSpPr/>
          <p:nvPr/>
        </p:nvSpPr>
        <p:spPr>
          <a:xfrm>
            <a:off x="6318504" y="1417320"/>
            <a:ext cx="475488" cy="475488"/>
          </a:xfrm>
          <a:prstGeom prst="ellipse">
            <a:avLst/>
          </a:prstGeom>
          <a:solidFill>
            <a:schemeClr val="accent2"/>
          </a:solidFill>
          <a:ln/>
        </p:spPr>
      </p:sp>
      <p:pic>
        <p:nvPicPr>
          <p:cNvPr id="15" name="icon-ctl-2" descr="preencoded.png">    </p:cNvPr>
          <p:cNvPicPr>
            <a:picLocks noChangeAspect="1"/>
          </p:cNvPicPr>
          <p:nvPr/>
        </p:nvPicPr>
        <p:blipFill>
          <a:blip r:embed="rId3"/>
          <a:stretch>
            <a:fillRect/>
          </a:stretch>
        </p:blipFill>
        <p:spPr>
          <a:xfrm>
            <a:off x="6437376" y="1536192"/>
            <a:ext cx="237744" cy="237744"/>
          </a:xfrm>
          <a:prstGeom prst="rect">
            <a:avLst/>
          </a:prstGeom>
        </p:spPr>
      </p:pic>
      <p:sp>
        <p:nvSpPr>
          <p:cNvPr id="16" name="ctl-h-2"/>
          <p:cNvSpPr txBox="1"/>
          <p:nvPr/>
        </p:nvSpPr>
        <p:spPr>
          <a:xfrm>
            <a:off x="6912864" y="1417320"/>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Roles for your team</a:t>
            </a:r>
            <a:endParaRPr lang="en-US" sz="1400" dirty="0"/>
          </a:p>
        </p:txBody>
      </p:sp>
      <p:sp>
        <p:nvSpPr>
          <p:cNvPr id="17" name="ctl-b-2"/>
          <p:cNvSpPr txBox="1"/>
          <p:nvPr/>
        </p:nvSpPr>
        <p:spPr>
          <a:xfrm>
            <a:off x="6318504" y="2011680"/>
            <a:ext cx="2240280" cy="685800"/>
          </a:xfrm>
          <a:prstGeom prst="rect">
            <a:avLst/>
          </a:prstGeom>
          <a:noFill/>
          <a:ln/>
        </p:spPr>
        <p:txBody>
          <a:bodyPr wrap="square" lIns="0" tIns="0" rIns="0" bIns="0" rtlCol="0" anchor="t"/>
          <a:lstStyle/>
          <a:p>
            <a:pPr indent="0" marL="0">
              <a:buNone/>
            </a:pPr>
            <a:r>
              <a:rPr lang="en-US" sz="1200" dirty="0">
                <a:solidFill>
                  <a:schemeClr val="accent4"/>
                </a:solidFill>
              </a:rPr>
              <a:t>Owner, admin, agent and member. Invite links that expire after 7 days.</a:t>
            </a:r>
            <a:endParaRPr lang="en-US" sz="1200" dirty="0"/>
          </a:p>
        </p:txBody>
      </p:sp>
      <p:sp>
        <p:nvSpPr>
          <p:cNvPr id="18" name="ctl-3"/>
          <p:cNvSpPr/>
          <p:nvPr/>
        </p:nvSpPr>
        <p:spPr>
          <a:xfrm>
            <a:off x="457200" y="2907792"/>
            <a:ext cx="2615184" cy="1554480"/>
          </a:xfrm>
          <a:prstGeom prst="roundRect">
            <a:avLst>
              <a:gd name="adj" fmla="val 7059"/>
            </a:avLst>
          </a:prstGeom>
          <a:solidFill>
            <a:schemeClr val="bg2"/>
          </a:solidFill>
          <a:ln/>
        </p:spPr>
      </p:sp>
      <p:sp>
        <p:nvSpPr>
          <p:cNvPr id="19" name="circle-ctl-3"/>
          <p:cNvSpPr/>
          <p:nvPr/>
        </p:nvSpPr>
        <p:spPr>
          <a:xfrm>
            <a:off x="685800" y="3136392"/>
            <a:ext cx="475488" cy="475488"/>
          </a:xfrm>
          <a:prstGeom prst="ellipse">
            <a:avLst/>
          </a:prstGeom>
          <a:solidFill>
            <a:schemeClr val="accent2"/>
          </a:solidFill>
          <a:ln/>
        </p:spPr>
      </p:sp>
      <p:pic>
        <p:nvPicPr>
          <p:cNvPr id="20" name="icon-ctl-3" descr="preencoded.png">    </p:cNvPr>
          <p:cNvPicPr>
            <a:picLocks noChangeAspect="1"/>
          </p:cNvPicPr>
          <p:nvPr/>
        </p:nvPicPr>
        <p:blipFill>
          <a:blip r:embed="rId4"/>
          <a:stretch>
            <a:fillRect/>
          </a:stretch>
        </p:blipFill>
        <p:spPr>
          <a:xfrm>
            <a:off x="804672" y="3255264"/>
            <a:ext cx="237744" cy="237744"/>
          </a:xfrm>
          <a:prstGeom prst="rect">
            <a:avLst/>
          </a:prstGeom>
        </p:spPr>
      </p:pic>
      <p:sp>
        <p:nvSpPr>
          <p:cNvPr id="21" name="ctl-h-3"/>
          <p:cNvSpPr txBox="1"/>
          <p:nvPr/>
        </p:nvSpPr>
        <p:spPr>
          <a:xfrm>
            <a:off x="1280160" y="3136392"/>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Full audit log</a:t>
            </a:r>
            <a:endParaRPr lang="en-US" sz="1400" dirty="0"/>
          </a:p>
        </p:txBody>
      </p:sp>
      <p:sp>
        <p:nvSpPr>
          <p:cNvPr id="22" name="ctl-b-3"/>
          <p:cNvSpPr txBox="1"/>
          <p:nvPr/>
        </p:nvSpPr>
        <p:spPr>
          <a:xfrm>
            <a:off x="685800" y="3730752"/>
            <a:ext cx="2240280" cy="685800"/>
          </a:xfrm>
          <a:prstGeom prst="rect">
            <a:avLst/>
          </a:prstGeom>
          <a:noFill/>
          <a:ln/>
        </p:spPr>
        <p:txBody>
          <a:bodyPr wrap="square" lIns="0" tIns="0" rIns="0" bIns="0" rtlCol="0" anchor="t"/>
          <a:lstStyle/>
          <a:p>
            <a:pPr indent="0" marL="0">
              <a:buNone/>
            </a:pPr>
            <a:r>
              <a:rPr lang="en-US" sz="1200" dirty="0">
                <a:solidFill>
                  <a:schemeClr val="accent4"/>
                </a:solidFill>
              </a:rPr>
              <a:t>Every action, take-over and reply is recorded and searchable.</a:t>
            </a:r>
            <a:endParaRPr lang="en-US" sz="1200" dirty="0"/>
          </a:p>
        </p:txBody>
      </p:sp>
      <p:sp>
        <p:nvSpPr>
          <p:cNvPr id="23" name="ctl-4"/>
          <p:cNvSpPr/>
          <p:nvPr/>
        </p:nvSpPr>
        <p:spPr>
          <a:xfrm>
            <a:off x="3273552" y="2907792"/>
            <a:ext cx="2615184" cy="1554480"/>
          </a:xfrm>
          <a:prstGeom prst="roundRect">
            <a:avLst>
              <a:gd name="adj" fmla="val 7059"/>
            </a:avLst>
          </a:prstGeom>
          <a:solidFill>
            <a:schemeClr val="bg2"/>
          </a:solidFill>
          <a:ln/>
        </p:spPr>
      </p:sp>
      <p:sp>
        <p:nvSpPr>
          <p:cNvPr id="24" name="circle-ctl-4"/>
          <p:cNvSpPr/>
          <p:nvPr/>
        </p:nvSpPr>
        <p:spPr>
          <a:xfrm>
            <a:off x="3502152" y="3136392"/>
            <a:ext cx="475488" cy="475488"/>
          </a:xfrm>
          <a:prstGeom prst="ellipse">
            <a:avLst/>
          </a:prstGeom>
          <a:solidFill>
            <a:schemeClr val="accent2"/>
          </a:solidFill>
          <a:ln/>
        </p:spPr>
      </p:sp>
      <p:pic>
        <p:nvPicPr>
          <p:cNvPr id="25" name="icon-ctl-4" descr="preencoded.png">    </p:cNvPr>
          <p:cNvPicPr>
            <a:picLocks noChangeAspect="1"/>
          </p:cNvPicPr>
          <p:nvPr/>
        </p:nvPicPr>
        <p:blipFill>
          <a:blip r:embed="rId5"/>
          <a:stretch>
            <a:fillRect/>
          </a:stretch>
        </p:blipFill>
        <p:spPr>
          <a:xfrm>
            <a:off x="3621024" y="3255264"/>
            <a:ext cx="237744" cy="237744"/>
          </a:xfrm>
          <a:prstGeom prst="rect">
            <a:avLst/>
          </a:prstGeom>
        </p:spPr>
      </p:pic>
      <p:sp>
        <p:nvSpPr>
          <p:cNvPr id="26" name="ctl-h-4"/>
          <p:cNvSpPr txBox="1"/>
          <p:nvPr/>
        </p:nvSpPr>
        <p:spPr>
          <a:xfrm>
            <a:off x="4096512" y="3136392"/>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Your data, kept separate</a:t>
            </a:r>
            <a:endParaRPr lang="en-US" sz="1400" dirty="0"/>
          </a:p>
        </p:txBody>
      </p:sp>
      <p:sp>
        <p:nvSpPr>
          <p:cNvPr id="27" name="ctl-b-4"/>
          <p:cNvSpPr txBox="1"/>
          <p:nvPr/>
        </p:nvSpPr>
        <p:spPr>
          <a:xfrm>
            <a:off x="3502152" y="3730752"/>
            <a:ext cx="2240280" cy="685800"/>
          </a:xfrm>
          <a:prstGeom prst="rect">
            <a:avLst/>
          </a:prstGeom>
          <a:noFill/>
          <a:ln/>
        </p:spPr>
        <p:txBody>
          <a:bodyPr wrap="square" lIns="0" tIns="0" rIns="0" bIns="0" rtlCol="0" anchor="t"/>
          <a:lstStyle/>
          <a:p>
            <a:pPr indent="0" marL="0">
              <a:buNone/>
            </a:pPr>
            <a:r>
              <a:rPr lang="en-US" sz="1200" dirty="0">
                <a:solidFill>
                  <a:schemeClr val="accent4"/>
                </a:solidFill>
              </a:rPr>
              <a:t>Documents and conversations are isolated per organisation.</a:t>
            </a:r>
            <a:endParaRPr lang="en-US" sz="1200" dirty="0"/>
          </a:p>
        </p:txBody>
      </p:sp>
      <p:sp>
        <p:nvSpPr>
          <p:cNvPr id="28" name="ctl-5"/>
          <p:cNvSpPr/>
          <p:nvPr/>
        </p:nvSpPr>
        <p:spPr>
          <a:xfrm>
            <a:off x="6089904" y="2907792"/>
            <a:ext cx="2615184" cy="1554480"/>
          </a:xfrm>
          <a:prstGeom prst="roundRect">
            <a:avLst>
              <a:gd name="adj" fmla="val 7059"/>
            </a:avLst>
          </a:prstGeom>
          <a:solidFill>
            <a:schemeClr val="bg2"/>
          </a:solidFill>
          <a:ln/>
        </p:spPr>
      </p:sp>
      <p:sp>
        <p:nvSpPr>
          <p:cNvPr id="29" name="circle-ctl-5"/>
          <p:cNvSpPr/>
          <p:nvPr/>
        </p:nvSpPr>
        <p:spPr>
          <a:xfrm>
            <a:off x="6318504" y="3136392"/>
            <a:ext cx="475488" cy="475488"/>
          </a:xfrm>
          <a:prstGeom prst="ellipse">
            <a:avLst/>
          </a:prstGeom>
          <a:solidFill>
            <a:schemeClr val="accent2"/>
          </a:solidFill>
          <a:ln/>
        </p:spPr>
      </p:sp>
      <p:pic>
        <p:nvPicPr>
          <p:cNvPr id="30" name="icon-ctl-5" descr="preencoded.png">    </p:cNvPr>
          <p:cNvPicPr>
            <a:picLocks noChangeAspect="1"/>
          </p:cNvPicPr>
          <p:nvPr/>
        </p:nvPicPr>
        <p:blipFill>
          <a:blip r:embed="rId6"/>
          <a:stretch>
            <a:fillRect/>
          </a:stretch>
        </p:blipFill>
        <p:spPr>
          <a:xfrm>
            <a:off x="6437376" y="3255264"/>
            <a:ext cx="237744" cy="237744"/>
          </a:xfrm>
          <a:prstGeom prst="rect">
            <a:avLst/>
          </a:prstGeom>
        </p:spPr>
      </p:pic>
      <p:sp>
        <p:nvSpPr>
          <p:cNvPr id="31" name="ctl-h-5"/>
          <p:cNvSpPr txBox="1"/>
          <p:nvPr/>
        </p:nvSpPr>
        <p:spPr>
          <a:xfrm>
            <a:off x="6912864" y="3136392"/>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Your own AI account</a:t>
            </a:r>
            <a:endParaRPr lang="en-US" sz="1400" dirty="0"/>
          </a:p>
        </p:txBody>
      </p:sp>
      <p:sp>
        <p:nvSpPr>
          <p:cNvPr id="32" name="ctl-b-5"/>
          <p:cNvSpPr txBox="1"/>
          <p:nvPr/>
        </p:nvSpPr>
        <p:spPr>
          <a:xfrm>
            <a:off x="6318504" y="3730752"/>
            <a:ext cx="2240280" cy="685800"/>
          </a:xfrm>
          <a:prstGeom prst="rect">
            <a:avLst/>
          </a:prstGeom>
          <a:noFill/>
          <a:ln/>
        </p:spPr>
        <p:txBody>
          <a:bodyPr wrap="square" lIns="0" tIns="0" rIns="0" bIns="0" rtlCol="0" anchor="t"/>
          <a:lstStyle/>
          <a:p>
            <a:pPr indent="0" marL="0">
              <a:buNone/>
            </a:pPr>
            <a:r>
              <a:rPr lang="en-US" sz="1200" dirty="0">
                <a:solidFill>
                  <a:schemeClr val="accent4"/>
                </a:solidFill>
              </a:rPr>
              <a:t>Optionally use your own OpenAI key, stored encrypted.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Always on, safely hosted</a:t>
            </a:r>
            <a:endParaRPr lang="en-US" sz="3200" dirty="0"/>
          </a:p>
        </p:txBody>
      </p:sp>
      <p:sp>
        <p:nvSpPr>
          <p:cNvPr id="3" name="host-0"/>
          <p:cNvSpPr/>
          <p:nvPr/>
        </p:nvSpPr>
        <p:spPr>
          <a:xfrm>
            <a:off x="457200" y="1188720"/>
            <a:ext cx="1828800" cy="1965960"/>
          </a:xfrm>
          <a:prstGeom prst="roundRect">
            <a:avLst>
              <a:gd name="adj" fmla="val 6000"/>
            </a:avLst>
          </a:prstGeom>
          <a:solidFill>
            <a:schemeClr val="bg2"/>
          </a:solidFill>
          <a:ln/>
        </p:spPr>
      </p:sp>
      <p:sp>
        <p:nvSpPr>
          <p:cNvPr id="4" name="circle-host-0"/>
          <p:cNvSpPr/>
          <p:nvPr/>
        </p:nvSpPr>
        <p:spPr>
          <a:xfrm>
            <a:off x="1097280" y="1325880"/>
            <a:ext cx="548640" cy="548640"/>
          </a:xfrm>
          <a:prstGeom prst="ellipse">
            <a:avLst/>
          </a:prstGeom>
          <a:solidFill>
            <a:schemeClr val="accent4"/>
          </a:solidFill>
          <a:ln/>
        </p:spPr>
      </p:sp>
      <p:pic>
        <p:nvPicPr>
          <p:cNvPr id="5" name="icon-host-0" descr="preencoded.png">    </p:cNvPr>
          <p:cNvPicPr>
            <a:picLocks noChangeAspect="1"/>
          </p:cNvPicPr>
          <p:nvPr/>
        </p:nvPicPr>
        <p:blipFill>
          <a:blip r:embed="rId1"/>
          <a:stretch>
            <a:fillRect/>
          </a:stretch>
        </p:blipFill>
        <p:spPr>
          <a:xfrm>
            <a:off x="1234440" y="1463040"/>
            <a:ext cx="274320" cy="274320"/>
          </a:xfrm>
          <a:prstGeom prst="rect">
            <a:avLst/>
          </a:prstGeom>
        </p:spPr>
      </p:pic>
      <p:sp>
        <p:nvSpPr>
          <p:cNvPr id="6" name="host-h-0"/>
          <p:cNvSpPr txBox="1"/>
          <p:nvPr/>
        </p:nvSpPr>
        <p:spPr>
          <a:xfrm>
            <a:off x="566928" y="1965960"/>
            <a:ext cx="1609344" cy="320040"/>
          </a:xfrm>
          <a:prstGeom prst="rect">
            <a:avLst/>
          </a:prstGeom>
          <a:noFill/>
          <a:ln/>
        </p:spPr>
        <p:txBody>
          <a:bodyPr wrap="square" lIns="0" tIns="0" rIns="0" bIns="0" rtlCol="0" anchor="t"/>
          <a:lstStyle/>
          <a:p>
            <a:pPr algn="ctr" indent="0" marL="0">
              <a:buNone/>
            </a:pPr>
            <a:r>
              <a:rPr lang="en-US" sz="1400" b="1" dirty="0">
                <a:solidFill>
                  <a:schemeClr val="tx1"/>
                </a:solidFill>
              </a:rPr>
              <a:t>Customers &amp; team</a:t>
            </a:r>
            <a:endParaRPr lang="en-US" sz="1400" dirty="0"/>
          </a:p>
        </p:txBody>
      </p:sp>
      <p:sp>
        <p:nvSpPr>
          <p:cNvPr id="7" name="host-b-0"/>
          <p:cNvSpPr txBox="1"/>
          <p:nvPr/>
        </p:nvSpPr>
        <p:spPr>
          <a:xfrm>
            <a:off x="594360" y="2304288"/>
            <a:ext cx="1554480" cy="804672"/>
          </a:xfrm>
          <a:prstGeom prst="rect">
            <a:avLst/>
          </a:prstGeom>
          <a:noFill/>
          <a:ln/>
        </p:spPr>
        <p:txBody>
          <a:bodyPr wrap="square" lIns="0" tIns="0" rIns="0" bIns="0" rtlCol="0" anchor="t"/>
          <a:lstStyle/>
          <a:p>
            <a:pPr algn="ctr" indent="0" marL="0">
              <a:buNone/>
            </a:pPr>
            <a:r>
              <a:rPr lang="en-US" sz="1100" dirty="0">
                <a:solidFill>
                  <a:schemeClr val="accent4"/>
                </a:solidFill>
              </a:rPr>
              <a:t>WhatsApp, Telegram and the web app — from any phone or browser.</a:t>
            </a:r>
            <a:endParaRPr lang="en-US" sz="1100" dirty="0"/>
          </a:p>
        </p:txBody>
      </p:sp>
      <p:sp>
        <p:nvSpPr>
          <p:cNvPr id="8" name="host-arrow-0"/>
          <p:cNvSpPr/>
          <p:nvPr/>
        </p:nvSpPr>
        <p:spPr>
          <a:xfrm>
            <a:off x="2313432" y="2167128"/>
            <a:ext cx="237744" cy="0"/>
          </a:xfrm>
          <a:prstGeom prst="line">
            <a:avLst/>
          </a:prstGeom>
          <a:noFill/>
          <a:ln w="19050">
            <a:solidFill>
              <a:schemeClr val="accent4"/>
            </a:solidFill>
            <a:prstDash val="solid"/>
            <a:tailEnd type="triangle"/>
          </a:ln>
        </p:spPr>
      </p:sp>
      <p:sp>
        <p:nvSpPr>
          <p:cNvPr id="9" name="host-1"/>
          <p:cNvSpPr/>
          <p:nvPr/>
        </p:nvSpPr>
        <p:spPr>
          <a:xfrm>
            <a:off x="2578608" y="1188720"/>
            <a:ext cx="1828800" cy="1965960"/>
          </a:xfrm>
          <a:prstGeom prst="roundRect">
            <a:avLst>
              <a:gd name="adj" fmla="val 6000"/>
            </a:avLst>
          </a:prstGeom>
          <a:solidFill>
            <a:schemeClr val="bg2"/>
          </a:solidFill>
          <a:ln/>
        </p:spPr>
      </p:sp>
      <p:sp>
        <p:nvSpPr>
          <p:cNvPr id="10" name="circle-host-1"/>
          <p:cNvSpPr/>
          <p:nvPr/>
        </p:nvSpPr>
        <p:spPr>
          <a:xfrm>
            <a:off x="3218688" y="1325880"/>
            <a:ext cx="548640" cy="548640"/>
          </a:xfrm>
          <a:prstGeom prst="ellipse">
            <a:avLst/>
          </a:prstGeom>
          <a:solidFill>
            <a:schemeClr val="accent1"/>
          </a:solidFill>
          <a:ln/>
        </p:spPr>
      </p:sp>
      <p:pic>
        <p:nvPicPr>
          <p:cNvPr id="11" name="icon-host-1" descr="preencoded.png">    </p:cNvPr>
          <p:cNvPicPr>
            <a:picLocks noChangeAspect="1"/>
          </p:cNvPicPr>
          <p:nvPr/>
        </p:nvPicPr>
        <p:blipFill>
          <a:blip r:embed="rId2"/>
          <a:stretch>
            <a:fillRect/>
          </a:stretch>
        </p:blipFill>
        <p:spPr>
          <a:xfrm>
            <a:off x="3355848" y="1463040"/>
            <a:ext cx="274320" cy="274320"/>
          </a:xfrm>
          <a:prstGeom prst="rect">
            <a:avLst/>
          </a:prstGeom>
        </p:spPr>
      </p:pic>
      <p:sp>
        <p:nvSpPr>
          <p:cNvPr id="12" name="host-h-1"/>
          <p:cNvSpPr txBox="1"/>
          <p:nvPr/>
        </p:nvSpPr>
        <p:spPr>
          <a:xfrm>
            <a:off x="2688336" y="1965960"/>
            <a:ext cx="1609344" cy="320040"/>
          </a:xfrm>
          <a:prstGeom prst="rect">
            <a:avLst/>
          </a:prstGeom>
          <a:noFill/>
          <a:ln/>
        </p:spPr>
        <p:txBody>
          <a:bodyPr wrap="square" lIns="0" tIns="0" rIns="0" bIns="0" rtlCol="0" anchor="t"/>
          <a:lstStyle/>
          <a:p>
            <a:pPr algn="ctr" indent="0" marL="0">
              <a:buNone/>
            </a:pPr>
            <a:r>
              <a:rPr lang="en-US" sz="1400" b="1" dirty="0">
                <a:solidFill>
                  <a:schemeClr val="tx1"/>
                </a:solidFill>
              </a:rPr>
              <a:t>One secure entrance</a:t>
            </a:r>
            <a:endParaRPr lang="en-US" sz="1400" dirty="0"/>
          </a:p>
        </p:txBody>
      </p:sp>
      <p:sp>
        <p:nvSpPr>
          <p:cNvPr id="13" name="host-b-1"/>
          <p:cNvSpPr txBox="1"/>
          <p:nvPr/>
        </p:nvSpPr>
        <p:spPr>
          <a:xfrm>
            <a:off x="2715768" y="2304288"/>
            <a:ext cx="1554480" cy="804672"/>
          </a:xfrm>
          <a:prstGeom prst="rect">
            <a:avLst/>
          </a:prstGeom>
          <a:noFill/>
          <a:ln/>
        </p:spPr>
        <p:txBody>
          <a:bodyPr wrap="square" lIns="0" tIns="0" rIns="0" bIns="0" rtlCol="0" anchor="t"/>
          <a:lstStyle/>
          <a:p>
            <a:pPr algn="ctr" indent="0" marL="0">
              <a:buNone/>
            </a:pPr>
            <a:r>
              <a:rPr lang="en-US" sz="1100" dirty="0">
                <a:solidFill>
                  <a:schemeClr val="accent4"/>
                </a:solidFill>
              </a:rPr>
              <a:t>Encrypted HTTPS only. Nothing else on the server is reachable from the internet.</a:t>
            </a:r>
            <a:endParaRPr lang="en-US" sz="1100" dirty="0"/>
          </a:p>
        </p:txBody>
      </p:sp>
      <p:sp>
        <p:nvSpPr>
          <p:cNvPr id="14" name="host-arrow-1"/>
          <p:cNvSpPr/>
          <p:nvPr/>
        </p:nvSpPr>
        <p:spPr>
          <a:xfrm>
            <a:off x="4434840" y="2167128"/>
            <a:ext cx="237744" cy="0"/>
          </a:xfrm>
          <a:prstGeom prst="line">
            <a:avLst/>
          </a:prstGeom>
          <a:noFill/>
          <a:ln w="19050">
            <a:solidFill>
              <a:schemeClr val="accent4"/>
            </a:solidFill>
            <a:prstDash val="solid"/>
            <a:tailEnd type="triangle"/>
          </a:ln>
        </p:spPr>
      </p:sp>
      <p:sp>
        <p:nvSpPr>
          <p:cNvPr id="15" name="host-2"/>
          <p:cNvSpPr/>
          <p:nvPr/>
        </p:nvSpPr>
        <p:spPr>
          <a:xfrm>
            <a:off x="4700016" y="1188720"/>
            <a:ext cx="1828800" cy="1965960"/>
          </a:xfrm>
          <a:prstGeom prst="roundRect">
            <a:avLst>
              <a:gd name="adj" fmla="val 6000"/>
            </a:avLst>
          </a:prstGeom>
          <a:solidFill>
            <a:schemeClr val="bg2"/>
          </a:solidFill>
          <a:ln/>
        </p:spPr>
      </p:sp>
      <p:sp>
        <p:nvSpPr>
          <p:cNvPr id="16" name="circle-host-2"/>
          <p:cNvSpPr/>
          <p:nvPr/>
        </p:nvSpPr>
        <p:spPr>
          <a:xfrm>
            <a:off x="5340096" y="1325880"/>
            <a:ext cx="548640" cy="548640"/>
          </a:xfrm>
          <a:prstGeom prst="ellipse">
            <a:avLst/>
          </a:prstGeom>
          <a:solidFill>
            <a:schemeClr val="accent2"/>
          </a:solidFill>
          <a:ln/>
        </p:spPr>
      </p:sp>
      <p:pic>
        <p:nvPicPr>
          <p:cNvPr id="17" name="icon-host-2" descr="preencoded.png">    </p:cNvPr>
          <p:cNvPicPr>
            <a:picLocks noChangeAspect="1"/>
          </p:cNvPicPr>
          <p:nvPr/>
        </p:nvPicPr>
        <p:blipFill>
          <a:blip r:embed="rId3"/>
          <a:stretch>
            <a:fillRect/>
          </a:stretch>
        </p:blipFill>
        <p:spPr>
          <a:xfrm>
            <a:off x="5477256" y="1463040"/>
            <a:ext cx="274320" cy="274320"/>
          </a:xfrm>
          <a:prstGeom prst="rect">
            <a:avLst/>
          </a:prstGeom>
        </p:spPr>
      </p:pic>
      <p:sp>
        <p:nvSpPr>
          <p:cNvPr id="18" name="host-h-2"/>
          <p:cNvSpPr txBox="1"/>
          <p:nvPr/>
        </p:nvSpPr>
        <p:spPr>
          <a:xfrm>
            <a:off x="4809744" y="1965960"/>
            <a:ext cx="1609344" cy="320040"/>
          </a:xfrm>
          <a:prstGeom prst="rect">
            <a:avLst/>
          </a:prstGeom>
          <a:noFill/>
          <a:ln/>
        </p:spPr>
        <p:txBody>
          <a:bodyPr wrap="square" lIns="0" tIns="0" rIns="0" bIns="0" rtlCol="0" anchor="t"/>
          <a:lstStyle/>
          <a:p>
            <a:pPr algn="ctr" indent="0" marL="0">
              <a:buNone/>
            </a:pPr>
            <a:r>
              <a:rPr lang="en-US" sz="1400" b="1" dirty="0">
                <a:solidFill>
                  <a:schemeClr val="tx1"/>
                </a:solidFill>
              </a:rPr>
              <a:t>SwarmAI</a:t>
            </a:r>
            <a:endParaRPr lang="en-US" sz="1400" dirty="0"/>
          </a:p>
        </p:txBody>
      </p:sp>
      <p:sp>
        <p:nvSpPr>
          <p:cNvPr id="19" name="host-b-2"/>
          <p:cNvSpPr txBox="1"/>
          <p:nvPr/>
        </p:nvSpPr>
        <p:spPr>
          <a:xfrm>
            <a:off x="4837176" y="2304288"/>
            <a:ext cx="1554480" cy="804672"/>
          </a:xfrm>
          <a:prstGeom prst="rect">
            <a:avLst/>
          </a:prstGeom>
          <a:noFill/>
          <a:ln/>
        </p:spPr>
        <p:txBody>
          <a:bodyPr wrap="square" lIns="0" tIns="0" rIns="0" bIns="0" rtlCol="0" anchor="t"/>
          <a:lstStyle/>
          <a:p>
            <a:pPr algn="ctr" indent="0" marL="0">
              <a:buNone/>
            </a:pPr>
            <a:r>
              <a:rPr lang="en-US" sz="1100" dirty="0">
                <a:solidFill>
                  <a:schemeClr val="accent4"/>
                </a:solidFill>
              </a:rPr>
              <a:t>AI agents, workflows and your data on a private network inside the server.</a:t>
            </a:r>
            <a:endParaRPr lang="en-US" sz="1100" dirty="0"/>
          </a:p>
        </p:txBody>
      </p:sp>
      <p:sp>
        <p:nvSpPr>
          <p:cNvPr id="20" name="host-arrow-2"/>
          <p:cNvSpPr/>
          <p:nvPr/>
        </p:nvSpPr>
        <p:spPr>
          <a:xfrm>
            <a:off x="6556248" y="2167128"/>
            <a:ext cx="237744" cy="0"/>
          </a:xfrm>
          <a:prstGeom prst="line">
            <a:avLst/>
          </a:prstGeom>
          <a:noFill/>
          <a:ln w="19050">
            <a:solidFill>
              <a:schemeClr val="accent4"/>
            </a:solidFill>
            <a:prstDash val="solid"/>
            <a:tailEnd type="triangle"/>
          </a:ln>
        </p:spPr>
      </p:sp>
      <p:sp>
        <p:nvSpPr>
          <p:cNvPr id="21" name="host-3"/>
          <p:cNvSpPr/>
          <p:nvPr/>
        </p:nvSpPr>
        <p:spPr>
          <a:xfrm>
            <a:off x="6821424" y="1188720"/>
            <a:ext cx="1828800" cy="1965960"/>
          </a:xfrm>
          <a:prstGeom prst="roundRect">
            <a:avLst>
              <a:gd name="adj" fmla="val 6000"/>
            </a:avLst>
          </a:prstGeom>
          <a:solidFill>
            <a:schemeClr val="bg2"/>
          </a:solidFill>
          <a:ln/>
        </p:spPr>
      </p:sp>
      <p:sp>
        <p:nvSpPr>
          <p:cNvPr id="22" name="circle-host-3"/>
          <p:cNvSpPr/>
          <p:nvPr/>
        </p:nvSpPr>
        <p:spPr>
          <a:xfrm>
            <a:off x="7461504" y="1325880"/>
            <a:ext cx="548640" cy="548640"/>
          </a:xfrm>
          <a:prstGeom prst="ellipse">
            <a:avLst/>
          </a:prstGeom>
          <a:solidFill>
            <a:schemeClr val="accent2"/>
          </a:solidFill>
          <a:ln/>
        </p:spPr>
      </p:sp>
      <p:pic>
        <p:nvPicPr>
          <p:cNvPr id="23" name="icon-host-3" descr="preencoded.png">    </p:cNvPr>
          <p:cNvPicPr>
            <a:picLocks noChangeAspect="1"/>
          </p:cNvPicPr>
          <p:nvPr/>
        </p:nvPicPr>
        <p:blipFill>
          <a:blip r:embed="rId4"/>
          <a:stretch>
            <a:fillRect/>
          </a:stretch>
        </p:blipFill>
        <p:spPr>
          <a:xfrm>
            <a:off x="7598664" y="1463040"/>
            <a:ext cx="274320" cy="274320"/>
          </a:xfrm>
          <a:prstGeom prst="rect">
            <a:avLst/>
          </a:prstGeom>
        </p:spPr>
      </p:pic>
      <p:sp>
        <p:nvSpPr>
          <p:cNvPr id="24" name="host-h-3"/>
          <p:cNvSpPr txBox="1"/>
          <p:nvPr/>
        </p:nvSpPr>
        <p:spPr>
          <a:xfrm>
            <a:off x="6931152" y="1965960"/>
            <a:ext cx="1609344" cy="320040"/>
          </a:xfrm>
          <a:prstGeom prst="rect">
            <a:avLst/>
          </a:prstGeom>
          <a:noFill/>
          <a:ln/>
        </p:spPr>
        <p:txBody>
          <a:bodyPr wrap="square" lIns="0" tIns="0" rIns="0" bIns="0" rtlCol="0" anchor="t"/>
          <a:lstStyle/>
          <a:p>
            <a:pPr algn="ctr" indent="0" marL="0">
              <a:buNone/>
            </a:pPr>
            <a:r>
              <a:rPr lang="en-US" sz="1400" b="1" dirty="0">
                <a:solidFill>
                  <a:schemeClr val="tx1"/>
                </a:solidFill>
              </a:rPr>
              <a:t>Backups &amp; alerts</a:t>
            </a:r>
            <a:endParaRPr lang="en-US" sz="1400" dirty="0"/>
          </a:p>
        </p:txBody>
      </p:sp>
      <p:sp>
        <p:nvSpPr>
          <p:cNvPr id="25" name="host-b-3"/>
          <p:cNvSpPr txBox="1"/>
          <p:nvPr/>
        </p:nvSpPr>
        <p:spPr>
          <a:xfrm>
            <a:off x="6958584" y="2304288"/>
            <a:ext cx="1554480" cy="804672"/>
          </a:xfrm>
          <a:prstGeom prst="rect">
            <a:avLst/>
          </a:prstGeom>
          <a:noFill/>
          <a:ln/>
        </p:spPr>
        <p:txBody>
          <a:bodyPr wrap="square" lIns="0" tIns="0" rIns="0" bIns="0" rtlCol="0" anchor="t"/>
          <a:lstStyle/>
          <a:p>
            <a:pPr algn="ctr" indent="0" marL="0">
              <a:buNone/>
            </a:pPr>
            <a:r>
              <a:rPr lang="en-US" sz="1100" dirty="0">
                <a:solidFill>
                  <a:schemeClr val="accent4"/>
                </a:solidFill>
              </a:rPr>
              <a:t>Every night, kept 14 days. Your team is told on Telegram if anything fails.</a:t>
            </a:r>
            <a:endParaRPr lang="en-US" sz="1100" dirty="0"/>
          </a:p>
        </p:txBody>
      </p:sp>
      <p:sp>
        <p:nvSpPr>
          <p:cNvPr id="26" name="hostpt-0"/>
          <p:cNvSpPr/>
          <p:nvPr/>
        </p:nvSpPr>
        <p:spPr>
          <a:xfrm>
            <a:off x="457200" y="3383280"/>
            <a:ext cx="2615184" cy="1143000"/>
          </a:xfrm>
          <a:prstGeom prst="roundRect">
            <a:avLst>
              <a:gd name="adj" fmla="val 9600"/>
            </a:avLst>
          </a:prstGeom>
          <a:solidFill>
            <a:schemeClr val="accent5"/>
          </a:solidFill>
          <a:ln/>
        </p:spPr>
      </p:sp>
      <p:sp>
        <p:nvSpPr>
          <p:cNvPr id="27" name="circle-hostpt-0"/>
          <p:cNvSpPr/>
          <p:nvPr/>
        </p:nvSpPr>
        <p:spPr>
          <a:xfrm>
            <a:off x="640080" y="3566160"/>
            <a:ext cx="420624" cy="420624"/>
          </a:xfrm>
          <a:prstGeom prst="ellipse">
            <a:avLst/>
          </a:prstGeom>
          <a:solidFill>
            <a:schemeClr val="accent1"/>
          </a:solidFill>
          <a:ln/>
        </p:spPr>
      </p:sp>
      <p:pic>
        <p:nvPicPr>
          <p:cNvPr id="28" name="icon-hostpt-0" descr="preencoded.png">    </p:cNvPr>
          <p:cNvPicPr>
            <a:picLocks noChangeAspect="1"/>
          </p:cNvPicPr>
          <p:nvPr/>
        </p:nvPicPr>
        <p:blipFill>
          <a:blip r:embed="rId5"/>
          <a:stretch>
            <a:fillRect/>
          </a:stretch>
        </p:blipFill>
        <p:spPr>
          <a:xfrm>
            <a:off x="745236" y="3671316"/>
            <a:ext cx="210312" cy="210312"/>
          </a:xfrm>
          <a:prstGeom prst="rect">
            <a:avLst/>
          </a:prstGeom>
        </p:spPr>
      </p:pic>
      <p:sp>
        <p:nvSpPr>
          <p:cNvPr id="29" name="hostpt-h-0"/>
          <p:cNvSpPr txBox="1"/>
          <p:nvPr/>
        </p:nvSpPr>
        <p:spPr>
          <a:xfrm>
            <a:off x="1170432" y="3520440"/>
            <a:ext cx="1783080" cy="292608"/>
          </a:xfrm>
          <a:prstGeom prst="rect">
            <a:avLst/>
          </a:prstGeom>
          <a:noFill/>
          <a:ln/>
        </p:spPr>
        <p:txBody>
          <a:bodyPr wrap="square" lIns="0" tIns="0" rIns="0" bIns="0" rtlCol="0" anchor="t"/>
          <a:lstStyle/>
          <a:p>
            <a:pPr indent="0" marL="0">
              <a:buNone/>
            </a:pPr>
            <a:r>
              <a:rPr lang="en-US" sz="1400" b="1" dirty="0">
                <a:solidFill>
                  <a:schemeClr val="tx1"/>
                </a:solidFill>
              </a:rPr>
              <a:t>Runs 24×7</a:t>
            </a:r>
            <a:endParaRPr lang="en-US" sz="1400" dirty="0"/>
          </a:p>
        </p:txBody>
      </p:sp>
      <p:sp>
        <p:nvSpPr>
          <p:cNvPr id="30" name="hostpt-b-0"/>
          <p:cNvSpPr txBox="1"/>
          <p:nvPr/>
        </p:nvSpPr>
        <p:spPr>
          <a:xfrm>
            <a:off x="1170432" y="3813048"/>
            <a:ext cx="1810512" cy="658368"/>
          </a:xfrm>
          <a:prstGeom prst="rect">
            <a:avLst/>
          </a:prstGeom>
          <a:noFill/>
          <a:ln/>
        </p:spPr>
        <p:txBody>
          <a:bodyPr wrap="square" lIns="0" tIns="0" rIns="0" bIns="0" rtlCol="0" anchor="t"/>
          <a:lstStyle/>
          <a:p>
            <a:pPr indent="0" marL="0">
              <a:buNone/>
            </a:pPr>
            <a:r>
              <a:rPr lang="en-US" sz="1100" dirty="0">
                <a:solidFill>
                  <a:schemeClr val="tx1"/>
                </a:solidFill>
              </a:rPr>
              <a:t>In the cloud — restarts itself after a crash or reboot. Your laptop can be off.</a:t>
            </a:r>
            <a:endParaRPr lang="en-US" sz="1100" dirty="0"/>
          </a:p>
        </p:txBody>
      </p:sp>
      <p:sp>
        <p:nvSpPr>
          <p:cNvPr id="31" name="hostpt-1"/>
          <p:cNvSpPr/>
          <p:nvPr/>
        </p:nvSpPr>
        <p:spPr>
          <a:xfrm>
            <a:off x="3273552" y="3383280"/>
            <a:ext cx="2615184" cy="1143000"/>
          </a:xfrm>
          <a:prstGeom prst="roundRect">
            <a:avLst>
              <a:gd name="adj" fmla="val 9600"/>
            </a:avLst>
          </a:prstGeom>
          <a:solidFill>
            <a:schemeClr val="accent5"/>
          </a:solidFill>
          <a:ln/>
        </p:spPr>
      </p:sp>
      <p:sp>
        <p:nvSpPr>
          <p:cNvPr id="32" name="circle-hostpt-1"/>
          <p:cNvSpPr/>
          <p:nvPr/>
        </p:nvSpPr>
        <p:spPr>
          <a:xfrm>
            <a:off x="3456432" y="3566160"/>
            <a:ext cx="420624" cy="420624"/>
          </a:xfrm>
          <a:prstGeom prst="ellipse">
            <a:avLst/>
          </a:prstGeom>
          <a:solidFill>
            <a:schemeClr val="accent1"/>
          </a:solidFill>
          <a:ln/>
        </p:spPr>
      </p:sp>
      <p:pic>
        <p:nvPicPr>
          <p:cNvPr id="33" name="icon-hostpt-1" descr="preencoded.png">    </p:cNvPr>
          <p:cNvPicPr>
            <a:picLocks noChangeAspect="1"/>
          </p:cNvPicPr>
          <p:nvPr/>
        </p:nvPicPr>
        <p:blipFill>
          <a:blip r:embed="rId6"/>
          <a:stretch>
            <a:fillRect/>
          </a:stretch>
        </p:blipFill>
        <p:spPr>
          <a:xfrm>
            <a:off x="3561588" y="3671316"/>
            <a:ext cx="210312" cy="210312"/>
          </a:xfrm>
          <a:prstGeom prst="rect">
            <a:avLst/>
          </a:prstGeom>
        </p:spPr>
      </p:pic>
      <p:sp>
        <p:nvSpPr>
          <p:cNvPr id="34" name="hostpt-h-1"/>
          <p:cNvSpPr txBox="1"/>
          <p:nvPr/>
        </p:nvSpPr>
        <p:spPr>
          <a:xfrm>
            <a:off x="3986784" y="3520440"/>
            <a:ext cx="1783080" cy="292608"/>
          </a:xfrm>
          <a:prstGeom prst="rect">
            <a:avLst/>
          </a:prstGeom>
          <a:noFill/>
          <a:ln/>
        </p:spPr>
        <p:txBody>
          <a:bodyPr wrap="square" lIns="0" tIns="0" rIns="0" bIns="0" rtlCol="0" anchor="t"/>
          <a:lstStyle/>
          <a:p>
            <a:pPr indent="0" marL="0">
              <a:buNone/>
            </a:pPr>
            <a:r>
              <a:rPr lang="en-US" sz="1400" b="1" dirty="0">
                <a:solidFill>
                  <a:schemeClr val="tx1"/>
                </a:solidFill>
              </a:rPr>
              <a:t>Invite-only access</a:t>
            </a:r>
            <a:endParaRPr lang="en-US" sz="1400" dirty="0"/>
          </a:p>
        </p:txBody>
      </p:sp>
      <p:sp>
        <p:nvSpPr>
          <p:cNvPr id="35" name="hostpt-b-1"/>
          <p:cNvSpPr txBox="1"/>
          <p:nvPr/>
        </p:nvSpPr>
        <p:spPr>
          <a:xfrm>
            <a:off x="3986784" y="3813048"/>
            <a:ext cx="1810512" cy="658368"/>
          </a:xfrm>
          <a:prstGeom prst="rect">
            <a:avLst/>
          </a:prstGeom>
          <a:noFill/>
          <a:ln/>
        </p:spPr>
        <p:txBody>
          <a:bodyPr wrap="square" lIns="0" tIns="0" rIns="0" bIns="0" rtlCol="0" anchor="t"/>
          <a:lstStyle/>
          <a:p>
            <a:pPr indent="0" marL="0">
              <a:buNone/>
            </a:pPr>
            <a:r>
              <a:rPr lang="en-US" sz="1100" dirty="0">
                <a:solidFill>
                  <a:schemeClr val="tx1"/>
                </a:solidFill>
              </a:rPr>
              <a:t>Only people you invite can create an account on your SwarmAI.</a:t>
            </a:r>
            <a:endParaRPr lang="en-US" sz="1100" dirty="0"/>
          </a:p>
        </p:txBody>
      </p:sp>
      <p:sp>
        <p:nvSpPr>
          <p:cNvPr id="36" name="hostpt-2"/>
          <p:cNvSpPr/>
          <p:nvPr/>
        </p:nvSpPr>
        <p:spPr>
          <a:xfrm>
            <a:off x="6089904" y="3383280"/>
            <a:ext cx="2615184" cy="1143000"/>
          </a:xfrm>
          <a:prstGeom prst="roundRect">
            <a:avLst>
              <a:gd name="adj" fmla="val 9600"/>
            </a:avLst>
          </a:prstGeom>
          <a:solidFill>
            <a:schemeClr val="accent5"/>
          </a:solidFill>
          <a:ln/>
        </p:spPr>
      </p:sp>
      <p:sp>
        <p:nvSpPr>
          <p:cNvPr id="37" name="circle-hostpt-2"/>
          <p:cNvSpPr/>
          <p:nvPr/>
        </p:nvSpPr>
        <p:spPr>
          <a:xfrm>
            <a:off x="6272784" y="3566160"/>
            <a:ext cx="420624" cy="420624"/>
          </a:xfrm>
          <a:prstGeom prst="ellipse">
            <a:avLst/>
          </a:prstGeom>
          <a:solidFill>
            <a:schemeClr val="accent1"/>
          </a:solidFill>
          <a:ln/>
        </p:spPr>
      </p:sp>
      <p:pic>
        <p:nvPicPr>
          <p:cNvPr id="38" name="icon-hostpt-2" descr="preencoded.png">    </p:cNvPr>
          <p:cNvPicPr>
            <a:picLocks noChangeAspect="1"/>
          </p:cNvPicPr>
          <p:nvPr/>
        </p:nvPicPr>
        <p:blipFill>
          <a:blip r:embed="rId7"/>
          <a:stretch>
            <a:fillRect/>
          </a:stretch>
        </p:blipFill>
        <p:spPr>
          <a:xfrm>
            <a:off x="6377940" y="3671316"/>
            <a:ext cx="210312" cy="210312"/>
          </a:xfrm>
          <a:prstGeom prst="rect">
            <a:avLst/>
          </a:prstGeom>
        </p:spPr>
      </p:pic>
      <p:sp>
        <p:nvSpPr>
          <p:cNvPr id="39" name="hostpt-h-2"/>
          <p:cNvSpPr txBox="1"/>
          <p:nvPr/>
        </p:nvSpPr>
        <p:spPr>
          <a:xfrm>
            <a:off x="6803136" y="3520440"/>
            <a:ext cx="1783080" cy="292608"/>
          </a:xfrm>
          <a:prstGeom prst="rect">
            <a:avLst/>
          </a:prstGeom>
          <a:noFill/>
          <a:ln/>
        </p:spPr>
        <p:txBody>
          <a:bodyPr wrap="square" lIns="0" tIns="0" rIns="0" bIns="0" rtlCol="0" anchor="t"/>
          <a:lstStyle/>
          <a:p>
            <a:pPr indent="0" marL="0">
              <a:buNone/>
            </a:pPr>
            <a:r>
              <a:rPr lang="en-US" sz="1400" b="1" dirty="0">
                <a:solidFill>
                  <a:schemeClr val="tx1"/>
                </a:solidFill>
              </a:rPr>
              <a:t>Or in your own cloud</a:t>
            </a:r>
            <a:endParaRPr lang="en-US" sz="1400" dirty="0"/>
          </a:p>
        </p:txBody>
      </p:sp>
      <p:sp>
        <p:nvSpPr>
          <p:cNvPr id="40" name="hostpt-b-2"/>
          <p:cNvSpPr txBox="1"/>
          <p:nvPr/>
        </p:nvSpPr>
        <p:spPr>
          <a:xfrm>
            <a:off x="6803136" y="3813048"/>
            <a:ext cx="1810512" cy="658368"/>
          </a:xfrm>
          <a:prstGeom prst="rect">
            <a:avLst/>
          </a:prstGeom>
          <a:noFill/>
          <a:ln/>
        </p:spPr>
        <p:txBody>
          <a:bodyPr wrap="square" lIns="0" tIns="0" rIns="0" bIns="0" rtlCol="0" anchor="t"/>
          <a:lstStyle/>
          <a:p>
            <a:pPr indent="0" marL="0">
              <a:buNone/>
            </a:pPr>
            <a:r>
              <a:rPr lang="en-US" sz="1100" dirty="0">
                <a:solidFill>
                  <a:schemeClr val="tx1"/>
                </a:solidFill>
              </a:rPr>
              <a:t>The same setup runs on your server with your own AI account.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Set up without writing code</a:t>
            </a:r>
            <a:endParaRPr lang="en-US" sz="3200" dirty="0"/>
          </a:p>
        </p:txBody>
      </p:sp>
      <p:pic>
        <p:nvPicPr>
          <p:cNvPr id="3" name="admin-shot" descr="Admin console agents page with on/off switches and per-agent settings">    </p:cNvPr>
          <p:cNvPicPr>
            <a:picLocks noChangeAspect="1"/>
          </p:cNvPicPr>
          <p:nvPr/>
        </p:nvPicPr>
        <p:blipFill>
          <a:blip r:embed="rId1"/>
          <a:stretch>
            <a:fillRect/>
          </a:stretch>
        </p:blipFill>
        <p:spPr>
          <a:xfrm>
            <a:off x="457200" y="1188720"/>
            <a:ext cx="4754880" cy="3268980"/>
          </a:xfrm>
          <a:prstGeom prst="rect">
            <a:avLst/>
          </a:prstGeom>
          <a:effectLst>
            <a:outerShdw sx="100000" sy="100000" kx="0" ky="0" algn="bl" rotWithShape="0" blurRad="101600" dist="25400" dir="5400000">
              <a:srgbClr val="000000">
                <a:alpha val="18000"/>
              </a:srgbClr>
            </a:outerShdw>
          </a:effectLst>
        </p:spPr>
      </p:pic>
      <p:pic>
        <p:nvPicPr>
          <p:cNvPr id="4" name="admin-check-0" descr="preencoded.png">    </p:cNvPr>
          <p:cNvPicPr>
            <a:picLocks noChangeAspect="1"/>
          </p:cNvPicPr>
          <p:nvPr/>
        </p:nvPicPr>
        <p:blipFill>
          <a:blip r:embed="rId2"/>
          <a:stretch>
            <a:fillRect/>
          </a:stretch>
        </p:blipFill>
        <p:spPr>
          <a:xfrm>
            <a:off x="5532120" y="1298448"/>
            <a:ext cx="237744" cy="237744"/>
          </a:xfrm>
          <a:prstGeom prst="rect">
            <a:avLst/>
          </a:prstGeom>
        </p:spPr>
      </p:pic>
      <p:sp>
        <p:nvSpPr>
          <p:cNvPr id="5" name="admin-item-0"/>
          <p:cNvSpPr txBox="1"/>
          <p:nvPr/>
        </p:nvSpPr>
        <p:spPr>
          <a:xfrm>
            <a:off x="5897880" y="1234440"/>
            <a:ext cx="2788920" cy="411480"/>
          </a:xfrm>
          <a:prstGeom prst="rect">
            <a:avLst/>
          </a:prstGeom>
          <a:noFill/>
          <a:ln/>
        </p:spPr>
        <p:txBody>
          <a:bodyPr wrap="square" lIns="0" tIns="0" rIns="0" bIns="0" rtlCol="0" anchor="ctr"/>
          <a:lstStyle/>
          <a:p>
            <a:pPr indent="0" marL="0">
              <a:buNone/>
            </a:pPr>
            <a:r>
              <a:rPr lang="en-US" sz="1300" dirty="0">
                <a:solidFill>
                  <a:schemeClr val="tx1"/>
                </a:solidFill>
              </a:rPr>
              <a:t>Switch agents on or off</a:t>
            </a:r>
            <a:endParaRPr lang="en-US" sz="1300" dirty="0"/>
          </a:p>
        </p:txBody>
      </p:sp>
      <p:pic>
        <p:nvPicPr>
          <p:cNvPr id="6" name="admin-check-1" descr="preencoded.png">    </p:cNvPr>
          <p:cNvPicPr>
            <a:picLocks noChangeAspect="1"/>
          </p:cNvPicPr>
          <p:nvPr/>
        </p:nvPicPr>
        <p:blipFill>
          <a:blip r:embed="rId3"/>
          <a:stretch>
            <a:fillRect/>
          </a:stretch>
        </p:blipFill>
        <p:spPr>
          <a:xfrm>
            <a:off x="5532120" y="1773936"/>
            <a:ext cx="237744" cy="237744"/>
          </a:xfrm>
          <a:prstGeom prst="rect">
            <a:avLst/>
          </a:prstGeom>
        </p:spPr>
      </p:pic>
      <p:sp>
        <p:nvSpPr>
          <p:cNvPr id="7" name="admin-item-1"/>
          <p:cNvSpPr txBox="1"/>
          <p:nvPr/>
        </p:nvSpPr>
        <p:spPr>
          <a:xfrm>
            <a:off x="5897880" y="1709928"/>
            <a:ext cx="2788920" cy="411480"/>
          </a:xfrm>
          <a:prstGeom prst="rect">
            <a:avLst/>
          </a:prstGeom>
          <a:noFill/>
          <a:ln/>
        </p:spPr>
        <p:txBody>
          <a:bodyPr wrap="square" lIns="0" tIns="0" rIns="0" bIns="0" rtlCol="0" anchor="ctr"/>
          <a:lstStyle/>
          <a:p>
            <a:pPr indent="0" marL="0">
              <a:buNone/>
            </a:pPr>
            <a:r>
              <a:rPr lang="en-US" sz="1300" dirty="0">
                <a:solidFill>
                  <a:schemeClr val="tx1"/>
                </a:solidFill>
              </a:rPr>
              <a:t>Add house rules: tone, language, what never to say</a:t>
            </a:r>
            <a:endParaRPr lang="en-US" sz="1300" dirty="0"/>
          </a:p>
        </p:txBody>
      </p:sp>
      <p:pic>
        <p:nvPicPr>
          <p:cNvPr id="8" name="admin-check-2" descr="preencoded.png">    </p:cNvPr>
          <p:cNvPicPr>
            <a:picLocks noChangeAspect="1"/>
          </p:cNvPicPr>
          <p:nvPr/>
        </p:nvPicPr>
        <p:blipFill>
          <a:blip r:embed="rId4"/>
          <a:stretch>
            <a:fillRect/>
          </a:stretch>
        </p:blipFill>
        <p:spPr>
          <a:xfrm>
            <a:off x="5532120" y="2249424"/>
            <a:ext cx="237744" cy="237744"/>
          </a:xfrm>
          <a:prstGeom prst="rect">
            <a:avLst/>
          </a:prstGeom>
        </p:spPr>
      </p:pic>
      <p:sp>
        <p:nvSpPr>
          <p:cNvPr id="9" name="admin-item-2"/>
          <p:cNvSpPr txBox="1"/>
          <p:nvPr/>
        </p:nvSpPr>
        <p:spPr>
          <a:xfrm>
            <a:off x="5897880" y="2185416"/>
            <a:ext cx="2788920" cy="411480"/>
          </a:xfrm>
          <a:prstGeom prst="rect">
            <a:avLst/>
          </a:prstGeom>
          <a:noFill/>
          <a:ln/>
        </p:spPr>
        <p:txBody>
          <a:bodyPr wrap="square" lIns="0" tIns="0" rIns="0" bIns="0" rtlCol="0" anchor="ctr"/>
          <a:lstStyle/>
          <a:p>
            <a:pPr indent="0" marL="0">
              <a:buNone/>
            </a:pPr>
            <a:r>
              <a:rPr lang="en-US" sz="1300" dirty="0">
                <a:solidFill>
                  <a:schemeClr val="tx1"/>
                </a:solidFill>
              </a:rPr>
              <a:t>Choose models and which tools need approval</a:t>
            </a:r>
            <a:endParaRPr lang="en-US" sz="1300" dirty="0"/>
          </a:p>
        </p:txBody>
      </p:sp>
      <p:pic>
        <p:nvPicPr>
          <p:cNvPr id="10" name="admin-check-3" descr="preencoded.png">    </p:cNvPr>
          <p:cNvPicPr>
            <a:picLocks noChangeAspect="1"/>
          </p:cNvPicPr>
          <p:nvPr/>
        </p:nvPicPr>
        <p:blipFill>
          <a:blip r:embed="rId5"/>
          <a:stretch>
            <a:fillRect/>
          </a:stretch>
        </p:blipFill>
        <p:spPr>
          <a:xfrm>
            <a:off x="5532120" y="2724912"/>
            <a:ext cx="237744" cy="237744"/>
          </a:xfrm>
          <a:prstGeom prst="rect">
            <a:avLst/>
          </a:prstGeom>
        </p:spPr>
      </p:pic>
      <p:sp>
        <p:nvSpPr>
          <p:cNvPr id="11" name="admin-item-3"/>
          <p:cNvSpPr txBox="1"/>
          <p:nvPr/>
        </p:nvSpPr>
        <p:spPr>
          <a:xfrm>
            <a:off x="5897880" y="2660904"/>
            <a:ext cx="2788920" cy="411480"/>
          </a:xfrm>
          <a:prstGeom prst="rect">
            <a:avLst/>
          </a:prstGeom>
          <a:noFill/>
          <a:ln/>
        </p:spPr>
        <p:txBody>
          <a:bodyPr wrap="square" lIns="0" tIns="0" rIns="0" bIns="0" rtlCol="0" anchor="ctr"/>
          <a:lstStyle/>
          <a:p>
            <a:pPr indent="0" marL="0">
              <a:buNone/>
            </a:pPr>
            <a:r>
              <a:rPr lang="en-US" sz="1300" dirty="0">
                <a:solidFill>
                  <a:schemeClr val="tx1"/>
                </a:solidFill>
              </a:rPr>
              <a:t>Create your own agents</a:t>
            </a:r>
            <a:endParaRPr lang="en-US" sz="1300" dirty="0"/>
          </a:p>
        </p:txBody>
      </p:sp>
      <p:pic>
        <p:nvPicPr>
          <p:cNvPr id="12" name="admin-check-4" descr="preencoded.png">    </p:cNvPr>
          <p:cNvPicPr>
            <a:picLocks noChangeAspect="1"/>
          </p:cNvPicPr>
          <p:nvPr/>
        </p:nvPicPr>
        <p:blipFill>
          <a:blip r:embed="rId6"/>
          <a:stretch>
            <a:fillRect/>
          </a:stretch>
        </p:blipFill>
        <p:spPr>
          <a:xfrm>
            <a:off x="5532120" y="3200400"/>
            <a:ext cx="237744" cy="237744"/>
          </a:xfrm>
          <a:prstGeom prst="rect">
            <a:avLst/>
          </a:prstGeom>
        </p:spPr>
      </p:pic>
      <p:sp>
        <p:nvSpPr>
          <p:cNvPr id="13" name="admin-item-4"/>
          <p:cNvSpPr txBox="1"/>
          <p:nvPr/>
        </p:nvSpPr>
        <p:spPr>
          <a:xfrm>
            <a:off x="5897880" y="3136392"/>
            <a:ext cx="2788920" cy="411480"/>
          </a:xfrm>
          <a:prstGeom prst="rect">
            <a:avLst/>
          </a:prstGeom>
          <a:noFill/>
          <a:ln/>
        </p:spPr>
        <p:txBody>
          <a:bodyPr wrap="square" lIns="0" tIns="0" rIns="0" bIns="0" rtlCol="0" anchor="ctr"/>
          <a:lstStyle/>
          <a:p>
            <a:pPr indent="0" marL="0">
              <a:buNone/>
            </a:pPr>
            <a:r>
              <a:rPr lang="en-US" sz="1300" dirty="0">
                <a:solidFill>
                  <a:schemeClr val="tx1"/>
                </a:solidFill>
              </a:rPr>
              <a:t>Apply an industry pack in one click</a:t>
            </a:r>
            <a:endParaRPr lang="en-US" sz="1300" dirty="0"/>
          </a:p>
        </p:txBody>
      </p:sp>
      <p:pic>
        <p:nvPicPr>
          <p:cNvPr id="14" name="admin-check-5" descr="preencoded.png">    </p:cNvPr>
          <p:cNvPicPr>
            <a:picLocks noChangeAspect="1"/>
          </p:cNvPicPr>
          <p:nvPr/>
        </p:nvPicPr>
        <p:blipFill>
          <a:blip r:embed="rId7"/>
          <a:stretch>
            <a:fillRect/>
          </a:stretch>
        </p:blipFill>
        <p:spPr>
          <a:xfrm>
            <a:off x="5532120" y="3675888"/>
            <a:ext cx="237744" cy="237744"/>
          </a:xfrm>
          <a:prstGeom prst="rect">
            <a:avLst/>
          </a:prstGeom>
        </p:spPr>
      </p:pic>
      <p:sp>
        <p:nvSpPr>
          <p:cNvPr id="15" name="admin-item-5"/>
          <p:cNvSpPr txBox="1"/>
          <p:nvPr/>
        </p:nvSpPr>
        <p:spPr>
          <a:xfrm>
            <a:off x="5897880" y="3611880"/>
            <a:ext cx="2788920" cy="411480"/>
          </a:xfrm>
          <a:prstGeom prst="rect">
            <a:avLst/>
          </a:prstGeom>
          <a:noFill/>
          <a:ln/>
        </p:spPr>
        <p:txBody>
          <a:bodyPr wrap="square" lIns="0" tIns="0" rIns="0" bIns="0" rtlCol="0" anchor="ctr"/>
          <a:lstStyle/>
          <a:p>
            <a:pPr indent="0" marL="0">
              <a:buNone/>
            </a:pPr>
            <a:r>
              <a:rPr lang="en-US" sz="1300" dirty="0">
                <a:solidFill>
                  <a:schemeClr val="tx1"/>
                </a:solidFill>
              </a:rPr>
              <a:t>Invite your team and set roles</a:t>
            </a:r>
            <a:endParaRPr lang="en-US" sz="1300" dirty="0"/>
          </a:p>
        </p:txBody>
      </p:sp>
      <p:pic>
        <p:nvPicPr>
          <p:cNvPr id="16" name="admin-check-6" descr="preencoded.png">    </p:cNvPr>
          <p:cNvPicPr>
            <a:picLocks noChangeAspect="1"/>
          </p:cNvPicPr>
          <p:nvPr/>
        </p:nvPicPr>
        <p:blipFill>
          <a:blip r:embed="rId8"/>
          <a:stretch>
            <a:fillRect/>
          </a:stretch>
        </p:blipFill>
        <p:spPr>
          <a:xfrm>
            <a:off x="5532120" y="4151376"/>
            <a:ext cx="237744" cy="237744"/>
          </a:xfrm>
          <a:prstGeom prst="rect">
            <a:avLst/>
          </a:prstGeom>
        </p:spPr>
      </p:pic>
      <p:sp>
        <p:nvSpPr>
          <p:cNvPr id="17" name="admin-item-6"/>
          <p:cNvSpPr txBox="1"/>
          <p:nvPr/>
        </p:nvSpPr>
        <p:spPr>
          <a:xfrm>
            <a:off x="5897880" y="4087368"/>
            <a:ext cx="2788920" cy="411480"/>
          </a:xfrm>
          <a:prstGeom prst="rect">
            <a:avLst/>
          </a:prstGeom>
          <a:noFill/>
          <a:ln/>
        </p:spPr>
        <p:txBody>
          <a:bodyPr wrap="square" lIns="0" tIns="0" rIns="0" bIns="0" rtlCol="0" anchor="ctr"/>
          <a:lstStyle/>
          <a:p>
            <a:pPr indent="0" marL="0">
              <a:buNone/>
            </a:pPr>
            <a:r>
              <a:rPr lang="en-US" sz="1300" dirty="0">
                <a:solidFill>
                  <a:schemeClr val="tx1"/>
                </a:solidFill>
              </a:rPr>
              <a:t>See usage, approvals and the audit log</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Ready-made industry packs</a:t>
            </a:r>
            <a:endParaRPr lang="en-US" sz="3200" dirty="0"/>
          </a:p>
        </p:txBody>
      </p:sp>
      <p:sp>
        <p:nvSpPr>
          <p:cNvPr id="3" name="packs-now"/>
          <p:cNvSpPr txBox="1"/>
          <p:nvPr/>
        </p:nvSpPr>
        <p:spPr>
          <a:xfrm>
            <a:off x="457200" y="1143000"/>
            <a:ext cx="36576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AVAILABLE NOW</a:t>
            </a:r>
            <a:endParaRPr lang="en-US" sz="1100" dirty="0"/>
          </a:p>
        </p:txBody>
      </p:sp>
      <p:sp>
        <p:nvSpPr>
          <p:cNvPr id="4" name="pack-0"/>
          <p:cNvSpPr/>
          <p:nvPr/>
        </p:nvSpPr>
        <p:spPr>
          <a:xfrm>
            <a:off x="457200" y="1463040"/>
            <a:ext cx="4663440" cy="1426464"/>
          </a:xfrm>
          <a:prstGeom prst="roundRect">
            <a:avLst>
              <a:gd name="adj" fmla="val 7692"/>
            </a:avLst>
          </a:prstGeom>
          <a:solidFill>
            <a:schemeClr val="accent6"/>
          </a:solidFill>
          <a:ln/>
        </p:spPr>
      </p:sp>
      <p:sp>
        <p:nvSpPr>
          <p:cNvPr id="5" name="circle-pack-0"/>
          <p:cNvSpPr/>
          <p:nvPr/>
        </p:nvSpPr>
        <p:spPr>
          <a:xfrm>
            <a:off x="658368" y="1664208"/>
            <a:ext cx="548640" cy="548640"/>
          </a:xfrm>
          <a:prstGeom prst="ellipse">
            <a:avLst/>
          </a:prstGeom>
          <a:solidFill>
            <a:schemeClr val="accent2"/>
          </a:solidFill>
          <a:ln/>
        </p:spPr>
      </p:sp>
      <p:pic>
        <p:nvPicPr>
          <p:cNvPr id="6" name="icon-pack-0" descr="preencoded.png">    </p:cNvPr>
          <p:cNvPicPr>
            <a:picLocks noChangeAspect="1"/>
          </p:cNvPicPr>
          <p:nvPr/>
        </p:nvPicPr>
        <p:blipFill>
          <a:blip r:embed="rId1"/>
          <a:stretch>
            <a:fillRect/>
          </a:stretch>
        </p:blipFill>
        <p:spPr>
          <a:xfrm>
            <a:off x="795528" y="1801368"/>
            <a:ext cx="274320" cy="274320"/>
          </a:xfrm>
          <a:prstGeom prst="rect">
            <a:avLst/>
          </a:prstGeom>
        </p:spPr>
      </p:pic>
      <p:sp>
        <p:nvSpPr>
          <p:cNvPr id="7" name="pack-h-0"/>
          <p:cNvSpPr txBox="1"/>
          <p:nvPr/>
        </p:nvSpPr>
        <p:spPr>
          <a:xfrm>
            <a:off x="1371600" y="1627632"/>
            <a:ext cx="3611880" cy="320040"/>
          </a:xfrm>
          <a:prstGeom prst="rect">
            <a:avLst/>
          </a:prstGeom>
          <a:noFill/>
          <a:ln/>
        </p:spPr>
        <p:txBody>
          <a:bodyPr wrap="square" lIns="0" tIns="0" rIns="0" bIns="0" rtlCol="0" anchor="t"/>
          <a:lstStyle/>
          <a:p>
            <a:pPr indent="0" marL="0">
              <a:buNone/>
            </a:pPr>
            <a:r>
              <a:rPr lang="en-US" sz="1600" b="1" dirty="0">
                <a:solidFill>
                  <a:schemeClr val="tx1"/>
                </a:solidFill>
              </a:rPr>
              <a:t>WhatsApp Support Desk</a:t>
            </a:r>
            <a:endParaRPr lang="en-US" sz="1600" dirty="0"/>
          </a:p>
        </p:txBody>
      </p:sp>
      <p:sp>
        <p:nvSpPr>
          <p:cNvPr id="8" name="pack-b-0"/>
          <p:cNvSpPr txBox="1"/>
          <p:nvPr/>
        </p:nvSpPr>
        <p:spPr>
          <a:xfrm>
            <a:off x="1371600" y="1965960"/>
            <a:ext cx="3611880" cy="868680"/>
          </a:xfrm>
          <a:prstGeom prst="rect">
            <a:avLst/>
          </a:prstGeom>
          <a:noFill/>
          <a:ln/>
        </p:spPr>
        <p:txBody>
          <a:bodyPr wrap="square" lIns="0" tIns="0" rIns="0" bIns="0" rtlCol="0" anchor="t"/>
          <a:lstStyle/>
          <a:p>
            <a:pPr indent="0" marL="0">
              <a:buNone/>
            </a:pPr>
            <a:r>
              <a:rPr lang="en-US" sz="1200" dirty="0">
                <a:solidFill>
                  <a:schemeClr val="tx1"/>
                </a:solidFill>
              </a:rPr>
              <a:t>Product, order and policy questions answered from your documents. Complaints, refunds and cancellations go straight to your team with the order details collected.</a:t>
            </a:r>
            <a:endParaRPr lang="en-US" sz="1200" dirty="0"/>
          </a:p>
        </p:txBody>
      </p:sp>
      <p:sp>
        <p:nvSpPr>
          <p:cNvPr id="9" name="pack-1"/>
          <p:cNvSpPr/>
          <p:nvPr/>
        </p:nvSpPr>
        <p:spPr>
          <a:xfrm>
            <a:off x="457200" y="3035808"/>
            <a:ext cx="4663440" cy="1426464"/>
          </a:xfrm>
          <a:prstGeom prst="roundRect">
            <a:avLst>
              <a:gd name="adj" fmla="val 7692"/>
            </a:avLst>
          </a:prstGeom>
          <a:solidFill>
            <a:schemeClr val="accent6"/>
          </a:solidFill>
          <a:ln/>
        </p:spPr>
      </p:sp>
      <p:sp>
        <p:nvSpPr>
          <p:cNvPr id="10" name="circle-pack-1"/>
          <p:cNvSpPr/>
          <p:nvPr/>
        </p:nvSpPr>
        <p:spPr>
          <a:xfrm>
            <a:off x="658368" y="3236976"/>
            <a:ext cx="548640" cy="548640"/>
          </a:xfrm>
          <a:prstGeom prst="ellipse">
            <a:avLst/>
          </a:prstGeom>
          <a:solidFill>
            <a:schemeClr val="accent2"/>
          </a:solidFill>
          <a:ln/>
        </p:spPr>
      </p:sp>
      <p:pic>
        <p:nvPicPr>
          <p:cNvPr id="11" name="icon-pack-1" descr="preencoded.png">    </p:cNvPr>
          <p:cNvPicPr>
            <a:picLocks noChangeAspect="1"/>
          </p:cNvPicPr>
          <p:nvPr/>
        </p:nvPicPr>
        <p:blipFill>
          <a:blip r:embed="rId2"/>
          <a:stretch>
            <a:fillRect/>
          </a:stretch>
        </p:blipFill>
        <p:spPr>
          <a:xfrm>
            <a:off x="795528" y="3374136"/>
            <a:ext cx="274320" cy="274320"/>
          </a:xfrm>
          <a:prstGeom prst="rect">
            <a:avLst/>
          </a:prstGeom>
        </p:spPr>
      </p:pic>
      <p:sp>
        <p:nvSpPr>
          <p:cNvPr id="12" name="pack-h-1"/>
          <p:cNvSpPr txBox="1"/>
          <p:nvPr/>
        </p:nvSpPr>
        <p:spPr>
          <a:xfrm>
            <a:off x="1371600" y="3200400"/>
            <a:ext cx="3611880" cy="320040"/>
          </a:xfrm>
          <a:prstGeom prst="rect">
            <a:avLst/>
          </a:prstGeom>
          <a:noFill/>
          <a:ln/>
        </p:spPr>
        <p:txBody>
          <a:bodyPr wrap="square" lIns="0" tIns="0" rIns="0" bIns="0" rtlCol="0" anchor="t"/>
          <a:lstStyle/>
          <a:p>
            <a:pPr indent="0" marL="0">
              <a:buNone/>
            </a:pPr>
            <a:r>
              <a:rPr lang="en-US" sz="1600" b="1" dirty="0">
                <a:solidFill>
                  <a:schemeClr val="tx1"/>
                </a:solidFill>
              </a:rPr>
              <a:t>Clinic Front Desk</a:t>
            </a:r>
            <a:endParaRPr lang="en-US" sz="1600" dirty="0"/>
          </a:p>
        </p:txBody>
      </p:sp>
      <p:sp>
        <p:nvSpPr>
          <p:cNvPr id="13" name="pack-b-1"/>
          <p:cNvSpPr txBox="1"/>
          <p:nvPr/>
        </p:nvSpPr>
        <p:spPr>
          <a:xfrm>
            <a:off x="1371600" y="3538728"/>
            <a:ext cx="3611880" cy="868680"/>
          </a:xfrm>
          <a:prstGeom prst="rect">
            <a:avLst/>
          </a:prstGeom>
          <a:noFill/>
          <a:ln/>
        </p:spPr>
        <p:txBody>
          <a:bodyPr wrap="square" lIns="0" tIns="0" rIns="0" bIns="0" rtlCol="0" anchor="t"/>
          <a:lstStyle/>
          <a:p>
            <a:pPr indent="0" marL="0">
              <a:buNone/>
            </a:pPr>
            <a:r>
              <a:rPr lang="en-US" sz="1200" dirty="0">
                <a:solidFill>
                  <a:schemeClr val="tx1"/>
                </a:solidFill>
              </a:rPr>
              <a:t>Timings, fees, doctors and test preparation. Never gives medical advice. Appointment requests go to the front desk; emergencies get the 112 message.</a:t>
            </a:r>
            <a:endParaRPr lang="en-US" sz="1200" dirty="0"/>
          </a:p>
        </p:txBody>
      </p:sp>
      <p:sp>
        <p:nvSpPr>
          <p:cNvPr id="14" name="packs-next"/>
          <p:cNvSpPr txBox="1"/>
          <p:nvPr/>
        </p:nvSpPr>
        <p:spPr>
          <a:xfrm>
            <a:off x="5486400" y="1143000"/>
            <a:ext cx="3200400" cy="274320"/>
          </a:xfrm>
          <a:prstGeom prst="rect">
            <a:avLst/>
          </a:prstGeom>
          <a:noFill/>
          <a:ln/>
        </p:spPr>
        <p:txBody>
          <a:bodyPr wrap="square" lIns="0" tIns="0" rIns="0" bIns="0" rtlCol="0" anchor="t"/>
          <a:lstStyle/>
          <a:p>
            <a:pPr indent="0" marL="0">
              <a:buNone/>
            </a:pPr>
            <a:r>
              <a:rPr lang="en-US" sz="1100" b="1" spc="200" kern="0" dirty="0">
                <a:solidFill>
                  <a:schemeClr val="accent4"/>
                </a:solidFill>
              </a:rPr>
              <a:t>ON THE ROADMAP</a:t>
            </a:r>
            <a:endParaRPr lang="en-US" sz="1100" dirty="0"/>
          </a:p>
        </p:txBody>
      </p:sp>
      <p:sp>
        <p:nvSpPr>
          <p:cNvPr id="15" name="next-0"/>
          <p:cNvSpPr/>
          <p:nvPr/>
        </p:nvSpPr>
        <p:spPr>
          <a:xfrm>
            <a:off x="5486400" y="1463040"/>
            <a:ext cx="3200400" cy="411480"/>
          </a:xfrm>
          <a:prstGeom prst="roundRect">
            <a:avLst>
              <a:gd name="adj" fmla="val 26667"/>
            </a:avLst>
          </a:prstGeom>
          <a:solidFill>
            <a:schemeClr val="bg2"/>
          </a:solidFill>
          <a:ln/>
        </p:spPr>
      </p:sp>
      <p:pic>
        <p:nvPicPr>
          <p:cNvPr id="16" name="next-icon-0" descr="preencoded.png">    </p:cNvPr>
          <p:cNvPicPr>
            <a:picLocks noChangeAspect="1"/>
          </p:cNvPicPr>
          <p:nvPr/>
        </p:nvPicPr>
        <p:blipFill>
          <a:blip r:embed="rId3"/>
          <a:stretch>
            <a:fillRect/>
          </a:stretch>
        </p:blipFill>
        <p:spPr>
          <a:xfrm>
            <a:off x="5641848" y="1554480"/>
            <a:ext cx="228600" cy="228600"/>
          </a:xfrm>
          <a:prstGeom prst="rect">
            <a:avLst/>
          </a:prstGeom>
        </p:spPr>
      </p:pic>
      <p:sp>
        <p:nvSpPr>
          <p:cNvPr id="17" name="next-t-0"/>
          <p:cNvSpPr txBox="1"/>
          <p:nvPr/>
        </p:nvSpPr>
        <p:spPr>
          <a:xfrm>
            <a:off x="6035040" y="1463040"/>
            <a:ext cx="2560320" cy="411480"/>
          </a:xfrm>
          <a:prstGeom prst="rect">
            <a:avLst/>
          </a:prstGeom>
          <a:noFill/>
          <a:ln/>
        </p:spPr>
        <p:txBody>
          <a:bodyPr wrap="square" lIns="0" tIns="0" rIns="0" bIns="0" rtlCol="0" anchor="ctr"/>
          <a:lstStyle/>
          <a:p>
            <a:pPr indent="0" marL="0">
              <a:buNone/>
            </a:pPr>
            <a:r>
              <a:rPr lang="en-US" sz="1300" dirty="0">
                <a:solidFill>
                  <a:schemeClr val="tx1"/>
                </a:solidFill>
              </a:rPr>
              <a:t>Sales &amp; leads</a:t>
            </a:r>
            <a:endParaRPr lang="en-US" sz="1300" dirty="0"/>
          </a:p>
        </p:txBody>
      </p:sp>
      <p:sp>
        <p:nvSpPr>
          <p:cNvPr id="18" name="next-1"/>
          <p:cNvSpPr/>
          <p:nvPr/>
        </p:nvSpPr>
        <p:spPr>
          <a:xfrm>
            <a:off x="5486400" y="1970532"/>
            <a:ext cx="3200400" cy="411480"/>
          </a:xfrm>
          <a:prstGeom prst="roundRect">
            <a:avLst>
              <a:gd name="adj" fmla="val 26667"/>
            </a:avLst>
          </a:prstGeom>
          <a:solidFill>
            <a:schemeClr val="bg2"/>
          </a:solidFill>
          <a:ln/>
        </p:spPr>
      </p:sp>
      <p:pic>
        <p:nvPicPr>
          <p:cNvPr id="19" name="next-icon-1" descr="preencoded.png">    </p:cNvPr>
          <p:cNvPicPr>
            <a:picLocks noChangeAspect="1"/>
          </p:cNvPicPr>
          <p:nvPr/>
        </p:nvPicPr>
        <p:blipFill>
          <a:blip r:embed="rId4"/>
          <a:stretch>
            <a:fillRect/>
          </a:stretch>
        </p:blipFill>
        <p:spPr>
          <a:xfrm>
            <a:off x="5641848" y="2061972"/>
            <a:ext cx="228600" cy="228600"/>
          </a:xfrm>
          <a:prstGeom prst="rect">
            <a:avLst/>
          </a:prstGeom>
        </p:spPr>
      </p:pic>
      <p:sp>
        <p:nvSpPr>
          <p:cNvPr id="20" name="next-t-1"/>
          <p:cNvSpPr txBox="1"/>
          <p:nvPr/>
        </p:nvSpPr>
        <p:spPr>
          <a:xfrm>
            <a:off x="6035040" y="1970532"/>
            <a:ext cx="2560320" cy="411480"/>
          </a:xfrm>
          <a:prstGeom prst="rect">
            <a:avLst/>
          </a:prstGeom>
          <a:noFill/>
          <a:ln/>
        </p:spPr>
        <p:txBody>
          <a:bodyPr wrap="square" lIns="0" tIns="0" rIns="0" bIns="0" rtlCol="0" anchor="ctr"/>
          <a:lstStyle/>
          <a:p>
            <a:pPr indent="0" marL="0">
              <a:buNone/>
            </a:pPr>
            <a:r>
              <a:rPr lang="en-US" sz="1300" dirty="0">
                <a:solidFill>
                  <a:schemeClr val="tx1"/>
                </a:solidFill>
              </a:rPr>
              <a:t>Collections</a:t>
            </a:r>
            <a:endParaRPr lang="en-US" sz="1300" dirty="0"/>
          </a:p>
        </p:txBody>
      </p:sp>
      <p:sp>
        <p:nvSpPr>
          <p:cNvPr id="21" name="next-2"/>
          <p:cNvSpPr/>
          <p:nvPr/>
        </p:nvSpPr>
        <p:spPr>
          <a:xfrm>
            <a:off x="5486400" y="2478024"/>
            <a:ext cx="3200400" cy="411480"/>
          </a:xfrm>
          <a:prstGeom prst="roundRect">
            <a:avLst>
              <a:gd name="adj" fmla="val 26667"/>
            </a:avLst>
          </a:prstGeom>
          <a:solidFill>
            <a:schemeClr val="bg2"/>
          </a:solidFill>
          <a:ln/>
        </p:spPr>
      </p:sp>
      <p:pic>
        <p:nvPicPr>
          <p:cNvPr id="22" name="next-icon-2" descr="preencoded.png">    </p:cNvPr>
          <p:cNvPicPr>
            <a:picLocks noChangeAspect="1"/>
          </p:cNvPicPr>
          <p:nvPr/>
        </p:nvPicPr>
        <p:blipFill>
          <a:blip r:embed="rId5"/>
          <a:stretch>
            <a:fillRect/>
          </a:stretch>
        </p:blipFill>
        <p:spPr>
          <a:xfrm>
            <a:off x="5641848" y="2569464"/>
            <a:ext cx="228600" cy="228600"/>
          </a:xfrm>
          <a:prstGeom prst="rect">
            <a:avLst/>
          </a:prstGeom>
        </p:spPr>
      </p:pic>
      <p:sp>
        <p:nvSpPr>
          <p:cNvPr id="23" name="next-t-2"/>
          <p:cNvSpPr txBox="1"/>
          <p:nvPr/>
        </p:nvSpPr>
        <p:spPr>
          <a:xfrm>
            <a:off x="6035040" y="2478024"/>
            <a:ext cx="2560320" cy="411480"/>
          </a:xfrm>
          <a:prstGeom prst="rect">
            <a:avLst/>
          </a:prstGeom>
          <a:noFill/>
          <a:ln/>
        </p:spPr>
        <p:txBody>
          <a:bodyPr wrap="square" lIns="0" tIns="0" rIns="0" bIns="0" rtlCol="0" anchor="ctr"/>
          <a:lstStyle/>
          <a:p>
            <a:pPr indent="0" marL="0">
              <a:buNone/>
            </a:pPr>
            <a:r>
              <a:rPr lang="en-US" sz="1300" dirty="0">
                <a:solidFill>
                  <a:schemeClr val="tx1"/>
                </a:solidFill>
              </a:rPr>
              <a:t>HR &amp; hiring</a:t>
            </a:r>
            <a:endParaRPr lang="en-US" sz="1300" dirty="0"/>
          </a:p>
        </p:txBody>
      </p:sp>
      <p:sp>
        <p:nvSpPr>
          <p:cNvPr id="24" name="next-3"/>
          <p:cNvSpPr/>
          <p:nvPr/>
        </p:nvSpPr>
        <p:spPr>
          <a:xfrm>
            <a:off x="5486400" y="2985516"/>
            <a:ext cx="3200400" cy="411480"/>
          </a:xfrm>
          <a:prstGeom prst="roundRect">
            <a:avLst>
              <a:gd name="adj" fmla="val 26667"/>
            </a:avLst>
          </a:prstGeom>
          <a:solidFill>
            <a:schemeClr val="bg2"/>
          </a:solidFill>
          <a:ln/>
        </p:spPr>
      </p:sp>
      <p:pic>
        <p:nvPicPr>
          <p:cNvPr id="25" name="next-icon-3" descr="preencoded.png">    </p:cNvPr>
          <p:cNvPicPr>
            <a:picLocks noChangeAspect="1"/>
          </p:cNvPicPr>
          <p:nvPr/>
        </p:nvPicPr>
        <p:blipFill>
          <a:blip r:embed="rId6"/>
          <a:stretch>
            <a:fillRect/>
          </a:stretch>
        </p:blipFill>
        <p:spPr>
          <a:xfrm>
            <a:off x="5641848" y="3076956"/>
            <a:ext cx="228600" cy="228600"/>
          </a:xfrm>
          <a:prstGeom prst="rect">
            <a:avLst/>
          </a:prstGeom>
        </p:spPr>
      </p:pic>
      <p:sp>
        <p:nvSpPr>
          <p:cNvPr id="26" name="next-t-3"/>
          <p:cNvSpPr txBox="1"/>
          <p:nvPr/>
        </p:nvSpPr>
        <p:spPr>
          <a:xfrm>
            <a:off x="6035040" y="2985516"/>
            <a:ext cx="2560320" cy="411480"/>
          </a:xfrm>
          <a:prstGeom prst="rect">
            <a:avLst/>
          </a:prstGeom>
          <a:noFill/>
          <a:ln/>
        </p:spPr>
        <p:txBody>
          <a:bodyPr wrap="square" lIns="0" tIns="0" rIns="0" bIns="0" rtlCol="0" anchor="ctr"/>
          <a:lstStyle/>
          <a:p>
            <a:pPr indent="0" marL="0">
              <a:buNone/>
            </a:pPr>
            <a:r>
              <a:rPr lang="en-US" sz="1300" dirty="0">
                <a:solidFill>
                  <a:schemeClr val="tx1"/>
                </a:solidFill>
              </a:rPr>
              <a:t>Real estate</a:t>
            </a:r>
            <a:endParaRPr lang="en-US" sz="1300" dirty="0"/>
          </a:p>
        </p:txBody>
      </p:sp>
      <p:sp>
        <p:nvSpPr>
          <p:cNvPr id="27" name="next-4"/>
          <p:cNvSpPr/>
          <p:nvPr/>
        </p:nvSpPr>
        <p:spPr>
          <a:xfrm>
            <a:off x="5486400" y="3493008"/>
            <a:ext cx="3200400" cy="411480"/>
          </a:xfrm>
          <a:prstGeom prst="roundRect">
            <a:avLst>
              <a:gd name="adj" fmla="val 26667"/>
            </a:avLst>
          </a:prstGeom>
          <a:solidFill>
            <a:schemeClr val="bg2"/>
          </a:solidFill>
          <a:ln/>
        </p:spPr>
      </p:sp>
      <p:pic>
        <p:nvPicPr>
          <p:cNvPr id="28" name="next-icon-4" descr="preencoded.png">    </p:cNvPr>
          <p:cNvPicPr>
            <a:picLocks noChangeAspect="1"/>
          </p:cNvPicPr>
          <p:nvPr/>
        </p:nvPicPr>
        <p:blipFill>
          <a:blip r:embed="rId7"/>
          <a:stretch>
            <a:fillRect/>
          </a:stretch>
        </p:blipFill>
        <p:spPr>
          <a:xfrm>
            <a:off x="5641848" y="3584448"/>
            <a:ext cx="228600" cy="228600"/>
          </a:xfrm>
          <a:prstGeom prst="rect">
            <a:avLst/>
          </a:prstGeom>
        </p:spPr>
      </p:pic>
      <p:sp>
        <p:nvSpPr>
          <p:cNvPr id="29" name="next-t-4"/>
          <p:cNvSpPr txBox="1"/>
          <p:nvPr/>
        </p:nvSpPr>
        <p:spPr>
          <a:xfrm>
            <a:off x="6035040" y="3493008"/>
            <a:ext cx="2560320" cy="411480"/>
          </a:xfrm>
          <a:prstGeom prst="rect">
            <a:avLst/>
          </a:prstGeom>
          <a:noFill/>
          <a:ln/>
        </p:spPr>
        <p:txBody>
          <a:bodyPr wrap="square" lIns="0" tIns="0" rIns="0" bIns="0" rtlCol="0" anchor="ctr"/>
          <a:lstStyle/>
          <a:p>
            <a:pPr indent="0" marL="0">
              <a:buNone/>
            </a:pPr>
            <a:r>
              <a:rPr lang="en-US" sz="1300" dirty="0">
                <a:solidFill>
                  <a:schemeClr val="tx1"/>
                </a:solidFill>
              </a:rPr>
              <a:t>Education</a:t>
            </a:r>
            <a:endParaRPr lang="en-US" sz="1300" dirty="0"/>
          </a:p>
        </p:txBody>
      </p:sp>
      <p:sp>
        <p:nvSpPr>
          <p:cNvPr id="30" name="next-5"/>
          <p:cNvSpPr/>
          <p:nvPr/>
        </p:nvSpPr>
        <p:spPr>
          <a:xfrm>
            <a:off x="5486400" y="4000500"/>
            <a:ext cx="3200400" cy="411480"/>
          </a:xfrm>
          <a:prstGeom prst="roundRect">
            <a:avLst>
              <a:gd name="adj" fmla="val 26667"/>
            </a:avLst>
          </a:prstGeom>
          <a:solidFill>
            <a:schemeClr val="bg2"/>
          </a:solidFill>
          <a:ln/>
        </p:spPr>
      </p:sp>
      <p:pic>
        <p:nvPicPr>
          <p:cNvPr id="31" name="next-icon-5" descr="preencoded.png">    </p:cNvPr>
          <p:cNvPicPr>
            <a:picLocks noChangeAspect="1"/>
          </p:cNvPicPr>
          <p:nvPr/>
        </p:nvPicPr>
        <p:blipFill>
          <a:blip r:embed="rId8"/>
          <a:stretch>
            <a:fillRect/>
          </a:stretch>
        </p:blipFill>
        <p:spPr>
          <a:xfrm>
            <a:off x="5641848" y="4091940"/>
            <a:ext cx="228600" cy="228600"/>
          </a:xfrm>
          <a:prstGeom prst="rect">
            <a:avLst/>
          </a:prstGeom>
        </p:spPr>
      </p:pic>
      <p:sp>
        <p:nvSpPr>
          <p:cNvPr id="32" name="next-t-5"/>
          <p:cNvSpPr txBox="1"/>
          <p:nvPr/>
        </p:nvSpPr>
        <p:spPr>
          <a:xfrm>
            <a:off x="6035040" y="4000500"/>
            <a:ext cx="2560320" cy="411480"/>
          </a:xfrm>
          <a:prstGeom prst="rect">
            <a:avLst/>
          </a:prstGeom>
          <a:noFill/>
          <a:ln/>
        </p:spPr>
        <p:txBody>
          <a:bodyPr wrap="square" lIns="0" tIns="0" rIns="0" bIns="0" rtlCol="0" anchor="ctr"/>
          <a:lstStyle/>
          <a:p>
            <a:pPr indent="0" marL="0">
              <a:buNone/>
            </a:pPr>
            <a:r>
              <a:rPr lang="en-US" sz="1300" dirty="0">
                <a:solidFill>
                  <a:schemeClr val="tx1"/>
                </a:solidFill>
              </a:rPr>
              <a:t>D2C commerce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Live in four weeks</a:t>
            </a:r>
            <a:endParaRPr lang="en-US" sz="3200" dirty="0"/>
          </a:p>
        </p:txBody>
      </p:sp>
      <p:sp>
        <p:nvSpPr>
          <p:cNvPr id="3" name="timeline"/>
          <p:cNvSpPr/>
          <p:nvPr/>
        </p:nvSpPr>
        <p:spPr>
          <a:xfrm>
            <a:off x="777240" y="1481328"/>
            <a:ext cx="6309360" cy="0"/>
          </a:xfrm>
          <a:prstGeom prst="line">
            <a:avLst/>
          </a:prstGeom>
          <a:noFill/>
          <a:ln w="19050">
            <a:solidFill>
              <a:schemeClr val="accent4"/>
            </a:solidFill>
            <a:prstDash val="solid"/>
          </a:ln>
        </p:spPr>
      </p:sp>
      <p:sp>
        <p:nvSpPr>
          <p:cNvPr id="4" name="dot-0"/>
          <p:cNvSpPr/>
          <p:nvPr/>
        </p:nvSpPr>
        <p:spPr>
          <a:xfrm>
            <a:off x="640080" y="1344168"/>
            <a:ext cx="274320" cy="274320"/>
          </a:xfrm>
          <a:prstGeom prst="ellipse">
            <a:avLst/>
          </a:prstGeom>
          <a:solidFill>
            <a:schemeClr val="accent2"/>
          </a:solidFill>
          <a:ln w="25400">
            <a:solidFill>
              <a:schemeClr val="bg1"/>
            </a:solidFill>
            <a:prstDash val="solid"/>
          </a:ln>
        </p:spPr>
      </p:sp>
      <p:sp>
        <p:nvSpPr>
          <p:cNvPr id="5" name="wk-0"/>
          <p:cNvSpPr txBox="1"/>
          <p:nvPr/>
        </p:nvSpPr>
        <p:spPr>
          <a:xfrm>
            <a:off x="457200" y="1737360"/>
            <a:ext cx="1920240" cy="274320"/>
          </a:xfrm>
          <a:prstGeom prst="rect">
            <a:avLst/>
          </a:prstGeom>
          <a:noFill/>
          <a:ln/>
        </p:spPr>
        <p:txBody>
          <a:bodyPr wrap="square" lIns="0" tIns="0" rIns="0" bIns="0" rtlCol="0" anchor="t"/>
          <a:lstStyle/>
          <a:p>
            <a:pPr indent="0" marL="0">
              <a:buNone/>
            </a:pPr>
            <a:r>
              <a:rPr lang="en-US" sz="1200" b="1" dirty="0">
                <a:solidFill>
                  <a:schemeClr val="accent2"/>
                </a:solidFill>
              </a:rPr>
              <a:t>Week 1</a:t>
            </a:r>
            <a:endParaRPr lang="en-US" sz="1200" dirty="0"/>
          </a:p>
        </p:txBody>
      </p:sp>
      <p:sp>
        <p:nvSpPr>
          <p:cNvPr id="6" name="wk-h-0"/>
          <p:cNvSpPr txBox="1"/>
          <p:nvPr/>
        </p:nvSpPr>
        <p:spPr>
          <a:xfrm>
            <a:off x="457200" y="20116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Discover &amp; load</a:t>
            </a:r>
            <a:endParaRPr lang="en-US" sz="1600" dirty="0"/>
          </a:p>
        </p:txBody>
      </p:sp>
      <p:sp>
        <p:nvSpPr>
          <p:cNvPr id="7" name="wk-b-0"/>
          <p:cNvSpPr txBox="1"/>
          <p:nvPr/>
        </p:nvSpPr>
        <p:spPr>
          <a:xfrm>
            <a:off x="457200" y="2377440"/>
            <a:ext cx="1874520" cy="868680"/>
          </a:xfrm>
          <a:prstGeom prst="rect">
            <a:avLst/>
          </a:prstGeom>
          <a:noFill/>
          <a:ln/>
        </p:spPr>
        <p:txBody>
          <a:bodyPr wrap="square" lIns="0" tIns="0" rIns="0" bIns="0" rtlCol="0" anchor="t"/>
          <a:lstStyle/>
          <a:p>
            <a:pPr indent="0" marL="0">
              <a:buNone/>
            </a:pPr>
            <a:r>
              <a:rPr lang="en-US" sz="1200" dirty="0">
                <a:solidFill>
                  <a:schemeClr val="accent4"/>
                </a:solidFill>
              </a:rPr>
              <a:t>Your top questions, hand-over rules and documents go into the knowledge base.</a:t>
            </a:r>
            <a:endParaRPr lang="en-US" sz="1200" dirty="0"/>
          </a:p>
        </p:txBody>
      </p:sp>
      <p:sp>
        <p:nvSpPr>
          <p:cNvPr id="8" name="dot-1"/>
          <p:cNvSpPr/>
          <p:nvPr/>
        </p:nvSpPr>
        <p:spPr>
          <a:xfrm>
            <a:off x="2743200" y="1344168"/>
            <a:ext cx="274320" cy="274320"/>
          </a:xfrm>
          <a:prstGeom prst="ellipse">
            <a:avLst/>
          </a:prstGeom>
          <a:solidFill>
            <a:schemeClr val="accent2"/>
          </a:solidFill>
          <a:ln w="25400">
            <a:solidFill>
              <a:schemeClr val="bg1"/>
            </a:solidFill>
            <a:prstDash val="solid"/>
          </a:ln>
        </p:spPr>
      </p:sp>
      <p:sp>
        <p:nvSpPr>
          <p:cNvPr id="9" name="wk-1"/>
          <p:cNvSpPr txBox="1"/>
          <p:nvPr/>
        </p:nvSpPr>
        <p:spPr>
          <a:xfrm>
            <a:off x="2560320" y="1737360"/>
            <a:ext cx="1920240" cy="274320"/>
          </a:xfrm>
          <a:prstGeom prst="rect">
            <a:avLst/>
          </a:prstGeom>
          <a:noFill/>
          <a:ln/>
        </p:spPr>
        <p:txBody>
          <a:bodyPr wrap="square" lIns="0" tIns="0" rIns="0" bIns="0" rtlCol="0" anchor="t"/>
          <a:lstStyle/>
          <a:p>
            <a:pPr indent="0" marL="0">
              <a:buNone/>
            </a:pPr>
            <a:r>
              <a:rPr lang="en-US" sz="1200" b="1" dirty="0">
                <a:solidFill>
                  <a:schemeClr val="accent2"/>
                </a:solidFill>
              </a:rPr>
              <a:t>Week 2</a:t>
            </a:r>
            <a:endParaRPr lang="en-US" sz="1200" dirty="0"/>
          </a:p>
        </p:txBody>
      </p:sp>
      <p:sp>
        <p:nvSpPr>
          <p:cNvPr id="10" name="wk-h-1"/>
          <p:cNvSpPr txBox="1"/>
          <p:nvPr/>
        </p:nvSpPr>
        <p:spPr>
          <a:xfrm>
            <a:off x="2560320" y="20116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Configure &amp; test</a:t>
            </a:r>
            <a:endParaRPr lang="en-US" sz="1600" dirty="0"/>
          </a:p>
        </p:txBody>
      </p:sp>
      <p:sp>
        <p:nvSpPr>
          <p:cNvPr id="11" name="wk-b-1"/>
          <p:cNvSpPr txBox="1"/>
          <p:nvPr/>
        </p:nvSpPr>
        <p:spPr>
          <a:xfrm>
            <a:off x="2560320" y="2377440"/>
            <a:ext cx="1874520" cy="868680"/>
          </a:xfrm>
          <a:prstGeom prst="rect">
            <a:avLst/>
          </a:prstGeom>
          <a:noFill/>
          <a:ln/>
        </p:spPr>
        <p:txBody>
          <a:bodyPr wrap="square" lIns="0" tIns="0" rIns="0" bIns="0" rtlCol="0" anchor="t"/>
          <a:lstStyle/>
          <a:p>
            <a:pPr indent="0" marL="0">
              <a:buNone/>
            </a:pPr>
            <a:r>
              <a:rPr lang="en-US" sz="1200" dirty="0">
                <a:solidFill>
                  <a:schemeClr val="accent4"/>
                </a:solidFill>
              </a:rPr>
              <a:t>Greeting, tone and pack set up. Your team tests as customers.</a:t>
            </a:r>
            <a:endParaRPr lang="en-US" sz="1200" dirty="0"/>
          </a:p>
        </p:txBody>
      </p:sp>
      <p:sp>
        <p:nvSpPr>
          <p:cNvPr id="12" name="dot-2"/>
          <p:cNvSpPr/>
          <p:nvPr/>
        </p:nvSpPr>
        <p:spPr>
          <a:xfrm>
            <a:off x="4846320" y="1344168"/>
            <a:ext cx="274320" cy="274320"/>
          </a:xfrm>
          <a:prstGeom prst="ellipse">
            <a:avLst/>
          </a:prstGeom>
          <a:solidFill>
            <a:schemeClr val="accent2"/>
          </a:solidFill>
          <a:ln w="25400">
            <a:solidFill>
              <a:schemeClr val="bg1"/>
            </a:solidFill>
            <a:prstDash val="solid"/>
          </a:ln>
        </p:spPr>
      </p:sp>
      <p:sp>
        <p:nvSpPr>
          <p:cNvPr id="13" name="wk-2"/>
          <p:cNvSpPr txBox="1"/>
          <p:nvPr/>
        </p:nvSpPr>
        <p:spPr>
          <a:xfrm>
            <a:off x="4663440" y="1737360"/>
            <a:ext cx="1920240" cy="274320"/>
          </a:xfrm>
          <a:prstGeom prst="rect">
            <a:avLst/>
          </a:prstGeom>
          <a:noFill/>
          <a:ln/>
        </p:spPr>
        <p:txBody>
          <a:bodyPr wrap="square" lIns="0" tIns="0" rIns="0" bIns="0" rtlCol="0" anchor="t"/>
          <a:lstStyle/>
          <a:p>
            <a:pPr indent="0" marL="0">
              <a:buNone/>
            </a:pPr>
            <a:r>
              <a:rPr lang="en-US" sz="1200" b="1" dirty="0">
                <a:solidFill>
                  <a:schemeClr val="accent2"/>
                </a:solidFill>
              </a:rPr>
              <a:t>Week 3</a:t>
            </a:r>
            <a:endParaRPr lang="en-US" sz="1200" dirty="0"/>
          </a:p>
        </p:txBody>
      </p:sp>
      <p:sp>
        <p:nvSpPr>
          <p:cNvPr id="14" name="wk-h-2"/>
          <p:cNvSpPr txBox="1"/>
          <p:nvPr/>
        </p:nvSpPr>
        <p:spPr>
          <a:xfrm>
            <a:off x="4663440" y="20116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Soft launch</a:t>
            </a:r>
            <a:endParaRPr lang="en-US" sz="1600" dirty="0"/>
          </a:p>
        </p:txBody>
      </p:sp>
      <p:sp>
        <p:nvSpPr>
          <p:cNvPr id="15" name="wk-b-2"/>
          <p:cNvSpPr txBox="1"/>
          <p:nvPr/>
        </p:nvSpPr>
        <p:spPr>
          <a:xfrm>
            <a:off x="4663440" y="2377440"/>
            <a:ext cx="1874520" cy="868680"/>
          </a:xfrm>
          <a:prstGeom prst="rect">
            <a:avLst/>
          </a:prstGeom>
          <a:noFill/>
          <a:ln/>
        </p:spPr>
        <p:txBody>
          <a:bodyPr wrap="square" lIns="0" tIns="0" rIns="0" bIns="0" rtlCol="0" anchor="t"/>
          <a:lstStyle/>
          <a:p>
            <a:pPr indent="0" marL="0">
              <a:buNone/>
            </a:pPr>
            <a:r>
              <a:rPr lang="en-US" sz="1200" dirty="0">
                <a:solidFill>
                  <a:schemeClr val="accent4"/>
                </a:solidFill>
              </a:rPr>
              <a:t>Live on your WhatsApp number. Your team handles hand-overs from the Inbox.</a:t>
            </a:r>
            <a:endParaRPr lang="en-US" sz="1200" dirty="0"/>
          </a:p>
        </p:txBody>
      </p:sp>
      <p:sp>
        <p:nvSpPr>
          <p:cNvPr id="16" name="dot-3"/>
          <p:cNvSpPr/>
          <p:nvPr/>
        </p:nvSpPr>
        <p:spPr>
          <a:xfrm>
            <a:off x="6949440" y="1344168"/>
            <a:ext cx="274320" cy="274320"/>
          </a:xfrm>
          <a:prstGeom prst="ellipse">
            <a:avLst/>
          </a:prstGeom>
          <a:solidFill>
            <a:schemeClr val="accent1"/>
          </a:solidFill>
          <a:ln w="25400">
            <a:solidFill>
              <a:schemeClr val="bg1"/>
            </a:solidFill>
            <a:prstDash val="solid"/>
          </a:ln>
        </p:spPr>
      </p:sp>
      <p:sp>
        <p:nvSpPr>
          <p:cNvPr id="17" name="wk-3"/>
          <p:cNvSpPr txBox="1"/>
          <p:nvPr/>
        </p:nvSpPr>
        <p:spPr>
          <a:xfrm>
            <a:off x="6766560" y="1737360"/>
            <a:ext cx="1920240" cy="274320"/>
          </a:xfrm>
          <a:prstGeom prst="rect">
            <a:avLst/>
          </a:prstGeom>
          <a:noFill/>
          <a:ln/>
        </p:spPr>
        <p:txBody>
          <a:bodyPr wrap="square" lIns="0" tIns="0" rIns="0" bIns="0" rtlCol="0" anchor="t"/>
          <a:lstStyle/>
          <a:p>
            <a:pPr indent="0" marL="0">
              <a:buNone/>
            </a:pPr>
            <a:r>
              <a:rPr lang="en-US" sz="1200" b="1" dirty="0">
                <a:solidFill>
                  <a:schemeClr val="accent1"/>
                </a:solidFill>
              </a:rPr>
              <a:t>Week 4</a:t>
            </a:r>
            <a:endParaRPr lang="en-US" sz="1200" dirty="0"/>
          </a:p>
        </p:txBody>
      </p:sp>
      <p:sp>
        <p:nvSpPr>
          <p:cNvPr id="18" name="wk-h-3"/>
          <p:cNvSpPr txBox="1"/>
          <p:nvPr/>
        </p:nvSpPr>
        <p:spPr>
          <a:xfrm>
            <a:off x="6766560" y="20116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Review &amp; go live</a:t>
            </a:r>
            <a:endParaRPr lang="en-US" sz="1600" dirty="0"/>
          </a:p>
        </p:txBody>
      </p:sp>
      <p:sp>
        <p:nvSpPr>
          <p:cNvPr id="19" name="wk-b-3"/>
          <p:cNvSpPr txBox="1"/>
          <p:nvPr/>
        </p:nvSpPr>
        <p:spPr>
          <a:xfrm>
            <a:off x="6766560" y="2377440"/>
            <a:ext cx="1874520" cy="868680"/>
          </a:xfrm>
          <a:prstGeom prst="rect">
            <a:avLst/>
          </a:prstGeom>
          <a:noFill/>
          <a:ln/>
        </p:spPr>
        <p:txBody>
          <a:bodyPr wrap="square" lIns="0" tIns="0" rIns="0" bIns="0" rtlCol="0" anchor="t"/>
          <a:lstStyle/>
          <a:p>
            <a:pPr indent="0" marL="0">
              <a:buNone/>
            </a:pPr>
            <a:r>
              <a:rPr lang="en-US" sz="1200" dirty="0">
                <a:solidFill>
                  <a:schemeClr val="accent4"/>
                </a:solidFill>
              </a:rPr>
              <a:t>We review the numbers together, fill knowledge gaps and switch fully on.</a:t>
            </a:r>
            <a:endParaRPr lang="en-US" sz="1200" dirty="0"/>
          </a:p>
        </p:txBody>
      </p:sp>
      <p:sp>
        <p:nvSpPr>
          <p:cNvPr id="20" name="kpi-label"/>
          <p:cNvSpPr txBox="1"/>
          <p:nvPr/>
        </p:nvSpPr>
        <p:spPr>
          <a:xfrm>
            <a:off x="457200" y="3429000"/>
            <a:ext cx="3657600" cy="274320"/>
          </a:xfrm>
          <a:prstGeom prst="rect">
            <a:avLst/>
          </a:prstGeom>
          <a:noFill/>
          <a:ln/>
        </p:spPr>
        <p:txBody>
          <a:bodyPr wrap="square" lIns="0" tIns="0" rIns="0" bIns="0" rtlCol="0" anchor="t"/>
          <a:lstStyle/>
          <a:p>
            <a:pPr indent="0" marL="0">
              <a:buNone/>
            </a:pPr>
            <a:r>
              <a:rPr lang="en-US" sz="1100" b="1" spc="200" kern="0" dirty="0">
                <a:solidFill>
                  <a:schemeClr val="accent4"/>
                </a:solidFill>
              </a:rPr>
              <a:t>WHAT WE MEASURE</a:t>
            </a:r>
            <a:endParaRPr lang="en-US" sz="1100" dirty="0"/>
          </a:p>
        </p:txBody>
      </p:sp>
      <p:sp>
        <p:nvSpPr>
          <p:cNvPr id="21" name="kpi-0"/>
          <p:cNvSpPr/>
          <p:nvPr/>
        </p:nvSpPr>
        <p:spPr>
          <a:xfrm>
            <a:off x="457200" y="3749040"/>
            <a:ext cx="1965960" cy="685800"/>
          </a:xfrm>
          <a:prstGeom prst="roundRect">
            <a:avLst>
              <a:gd name="adj" fmla="val 16000"/>
            </a:avLst>
          </a:prstGeom>
          <a:solidFill>
            <a:schemeClr val="accent5"/>
          </a:solidFill>
          <a:ln/>
        </p:spPr>
      </p:sp>
      <p:sp>
        <p:nvSpPr>
          <p:cNvPr id="22" name="kpi-t-0"/>
          <p:cNvSpPr txBox="1"/>
          <p:nvPr/>
        </p:nvSpPr>
        <p:spPr>
          <a:xfrm>
            <a:off x="594360" y="3749040"/>
            <a:ext cx="1691640" cy="685800"/>
          </a:xfrm>
          <a:prstGeom prst="rect">
            <a:avLst/>
          </a:prstGeom>
          <a:noFill/>
          <a:ln/>
        </p:spPr>
        <p:txBody>
          <a:bodyPr wrap="square" lIns="0" tIns="0" rIns="0" bIns="0" rtlCol="0" anchor="ctr"/>
          <a:lstStyle/>
          <a:p>
            <a:pPr indent="0" marL="0">
              <a:buNone/>
            </a:pPr>
            <a:r>
              <a:rPr lang="en-US" sz="1300" b="1" dirty="0">
                <a:solidFill>
                  <a:schemeClr val="tx1"/>
                </a:solidFill>
              </a:rPr>
              <a:t>Questions answered by the bot</a:t>
            </a:r>
            <a:endParaRPr lang="en-US" sz="1300" dirty="0"/>
          </a:p>
        </p:txBody>
      </p:sp>
      <p:sp>
        <p:nvSpPr>
          <p:cNvPr id="23" name="kpi-1"/>
          <p:cNvSpPr/>
          <p:nvPr/>
        </p:nvSpPr>
        <p:spPr>
          <a:xfrm>
            <a:off x="2560320" y="3749040"/>
            <a:ext cx="1965960" cy="685800"/>
          </a:xfrm>
          <a:prstGeom prst="roundRect">
            <a:avLst>
              <a:gd name="adj" fmla="val 16000"/>
            </a:avLst>
          </a:prstGeom>
          <a:solidFill>
            <a:schemeClr val="accent5"/>
          </a:solidFill>
          <a:ln/>
        </p:spPr>
      </p:sp>
      <p:sp>
        <p:nvSpPr>
          <p:cNvPr id="24" name="kpi-t-1"/>
          <p:cNvSpPr txBox="1"/>
          <p:nvPr/>
        </p:nvSpPr>
        <p:spPr>
          <a:xfrm>
            <a:off x="2697480" y="3749040"/>
            <a:ext cx="1691640" cy="685800"/>
          </a:xfrm>
          <a:prstGeom prst="rect">
            <a:avLst/>
          </a:prstGeom>
          <a:noFill/>
          <a:ln/>
        </p:spPr>
        <p:txBody>
          <a:bodyPr wrap="square" lIns="0" tIns="0" rIns="0" bIns="0" rtlCol="0" anchor="ctr"/>
          <a:lstStyle/>
          <a:p>
            <a:pPr indent="0" marL="0">
              <a:buNone/>
            </a:pPr>
            <a:r>
              <a:rPr lang="en-US" sz="1300" b="1" dirty="0">
                <a:solidFill>
                  <a:schemeClr val="tx1"/>
                </a:solidFill>
              </a:rPr>
              <a:t>First-reply time</a:t>
            </a:r>
            <a:endParaRPr lang="en-US" sz="1300" dirty="0"/>
          </a:p>
        </p:txBody>
      </p:sp>
      <p:sp>
        <p:nvSpPr>
          <p:cNvPr id="25" name="kpi-2"/>
          <p:cNvSpPr/>
          <p:nvPr/>
        </p:nvSpPr>
        <p:spPr>
          <a:xfrm>
            <a:off x="4663440" y="3749040"/>
            <a:ext cx="1965960" cy="685800"/>
          </a:xfrm>
          <a:prstGeom prst="roundRect">
            <a:avLst>
              <a:gd name="adj" fmla="val 16000"/>
            </a:avLst>
          </a:prstGeom>
          <a:solidFill>
            <a:schemeClr val="accent5"/>
          </a:solidFill>
          <a:ln/>
        </p:spPr>
      </p:sp>
      <p:sp>
        <p:nvSpPr>
          <p:cNvPr id="26" name="kpi-t-2"/>
          <p:cNvSpPr txBox="1"/>
          <p:nvPr/>
        </p:nvSpPr>
        <p:spPr>
          <a:xfrm>
            <a:off x="4800600" y="3749040"/>
            <a:ext cx="1691640" cy="685800"/>
          </a:xfrm>
          <a:prstGeom prst="rect">
            <a:avLst/>
          </a:prstGeom>
          <a:noFill/>
          <a:ln/>
        </p:spPr>
        <p:txBody>
          <a:bodyPr wrap="square" lIns="0" tIns="0" rIns="0" bIns="0" rtlCol="0" anchor="ctr"/>
          <a:lstStyle/>
          <a:p>
            <a:pPr indent="0" marL="0">
              <a:buNone/>
            </a:pPr>
            <a:r>
              <a:rPr lang="en-US" sz="1300" b="1" dirty="0">
                <a:solidFill>
                  <a:schemeClr val="tx1"/>
                </a:solidFill>
              </a:rPr>
              <a:t>Chats handed to your team</a:t>
            </a:r>
            <a:endParaRPr lang="en-US" sz="1300" dirty="0"/>
          </a:p>
        </p:txBody>
      </p:sp>
      <p:sp>
        <p:nvSpPr>
          <p:cNvPr id="27" name="kpi-3"/>
          <p:cNvSpPr/>
          <p:nvPr/>
        </p:nvSpPr>
        <p:spPr>
          <a:xfrm>
            <a:off x="6766560" y="3749040"/>
            <a:ext cx="1965960" cy="685800"/>
          </a:xfrm>
          <a:prstGeom prst="roundRect">
            <a:avLst>
              <a:gd name="adj" fmla="val 16000"/>
            </a:avLst>
          </a:prstGeom>
          <a:solidFill>
            <a:schemeClr val="accent5"/>
          </a:solidFill>
          <a:ln/>
        </p:spPr>
      </p:sp>
      <p:sp>
        <p:nvSpPr>
          <p:cNvPr id="28" name="kpi-t-3"/>
          <p:cNvSpPr txBox="1"/>
          <p:nvPr/>
        </p:nvSpPr>
        <p:spPr>
          <a:xfrm>
            <a:off x="6903720" y="3749040"/>
            <a:ext cx="1691640" cy="685800"/>
          </a:xfrm>
          <a:prstGeom prst="rect">
            <a:avLst/>
          </a:prstGeom>
          <a:noFill/>
          <a:ln/>
        </p:spPr>
        <p:txBody>
          <a:bodyPr wrap="square" lIns="0" tIns="0" rIns="0" bIns="0" rtlCol="0" anchor="ctr"/>
          <a:lstStyle/>
          <a:p>
            <a:pPr indent="0" marL="0">
              <a:buNone/>
            </a:pPr>
            <a:r>
              <a:rPr lang="en-US" sz="1300" b="1" dirty="0">
                <a:solidFill>
                  <a:schemeClr val="tx1"/>
                </a:solidFill>
              </a:rPr>
              <a:t>Customer satisfaction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Simple, predictable pricing</a:t>
            </a:r>
            <a:endParaRPr lang="en-US" sz="3200" dirty="0"/>
          </a:p>
        </p:txBody>
      </p:sp>
      <p:sp>
        <p:nvSpPr>
          <p:cNvPr id="3" name="plan-0"/>
          <p:cNvSpPr/>
          <p:nvPr/>
        </p:nvSpPr>
        <p:spPr>
          <a:xfrm>
            <a:off x="457200" y="1143000"/>
            <a:ext cx="2615184" cy="3108960"/>
          </a:xfrm>
          <a:prstGeom prst="roundRect">
            <a:avLst>
              <a:gd name="adj" fmla="val 4196"/>
            </a:avLst>
          </a:prstGeom>
          <a:solidFill>
            <a:schemeClr val="bg2"/>
          </a:solidFill>
          <a:ln/>
        </p:spPr>
      </p:sp>
      <p:sp>
        <p:nvSpPr>
          <p:cNvPr id="4" name="plan-name-0"/>
          <p:cNvSpPr txBox="1"/>
          <p:nvPr/>
        </p:nvSpPr>
        <p:spPr>
          <a:xfrm>
            <a:off x="685800" y="1298448"/>
            <a:ext cx="2194560" cy="320040"/>
          </a:xfrm>
          <a:prstGeom prst="rect">
            <a:avLst/>
          </a:prstGeom>
          <a:noFill/>
          <a:ln/>
        </p:spPr>
        <p:txBody>
          <a:bodyPr wrap="square" lIns="0" tIns="0" rIns="0" bIns="0" rtlCol="0" anchor="t"/>
          <a:lstStyle/>
          <a:p>
            <a:pPr indent="0" marL="0">
              <a:buNone/>
            </a:pPr>
            <a:r>
              <a:rPr lang="en-US" sz="1600" b="1" dirty="0">
                <a:solidFill>
                  <a:schemeClr val="tx1"/>
                </a:solidFill>
              </a:rPr>
              <a:t>Starter</a:t>
            </a:r>
            <a:endParaRPr lang="en-US" sz="1600" dirty="0"/>
          </a:p>
        </p:txBody>
      </p:sp>
      <p:sp>
        <p:nvSpPr>
          <p:cNvPr id="5" name="plan-price-0"/>
          <p:cNvSpPr txBox="1"/>
          <p:nvPr/>
        </p:nvSpPr>
        <p:spPr>
          <a:xfrm>
            <a:off x="685800" y="1645920"/>
            <a:ext cx="2194560" cy="548640"/>
          </a:xfrm>
          <a:prstGeom prst="rect">
            <a:avLst/>
          </a:prstGeom>
          <a:noFill/>
          <a:ln/>
        </p:spPr>
        <p:txBody>
          <a:bodyPr wrap="square" lIns="0" tIns="0" rIns="0" bIns="0" rtlCol="0" anchor="ctr"/>
          <a:lstStyle/>
          <a:p>
            <a:pPr indent="0" marL="0">
              <a:buNone/>
            </a:pPr>
            <a:r>
              <a:rPr lang="en-US" sz="3000" b="1" dirty="0">
                <a:solidFill>
                  <a:schemeClr val="tx1"/>
                </a:solidFill>
              </a:rPr>
              <a:t>₹4,999</a:t>
            </a:r>
            <a:pPr indent="0" marL="0">
              <a:buNone/>
            </a:pPr>
            <a:r>
              <a:rPr lang="en-US" sz="1200" dirty="0">
                <a:solidFill>
                  <a:schemeClr val="accent4"/>
                </a:solidFill>
              </a:rPr>
              <a:t> /month</a:t>
            </a:r>
            <a:endParaRPr lang="en-US" sz="1400" dirty="0"/>
          </a:p>
        </p:txBody>
      </p:sp>
      <p:sp>
        <p:nvSpPr>
          <p:cNvPr id="6" name="plan-feats-0"/>
          <p:cNvSpPr txBox="1"/>
          <p:nvPr/>
        </p:nvSpPr>
        <p:spPr>
          <a:xfrm>
            <a:off x="685800" y="2331720"/>
            <a:ext cx="2240280" cy="18288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1 channel (WhatsApp or Telegram)</a:t>
            </a:r>
            <a:endParaRPr lang="en-US" sz="1200" dirty="0"/>
          </a:p>
          <a:p>
            <a:pPr marL="152400" indent="-152400">
              <a:spcAft>
                <a:spcPts val="400"/>
              </a:spcAft>
              <a:buSzPct val="100000"/>
              <a:buChar char="•"/>
            </a:pPr>
            <a:r>
              <a:rPr lang="en-US" sz="1200" dirty="0">
                <a:solidFill>
                  <a:schemeClr val="tx1"/>
                </a:solidFill>
              </a:rPr>
              <a:t>3 team seats</a:t>
            </a:r>
            <a:endParaRPr lang="en-US" sz="1200" dirty="0"/>
          </a:p>
          <a:p>
            <a:pPr marL="152400" indent="-152400">
              <a:spcAft>
                <a:spcPts val="400"/>
              </a:spcAft>
              <a:buSzPct val="100000"/>
              <a:buChar char="•"/>
            </a:pPr>
            <a:r>
              <a:rPr lang="en-US" sz="1200" dirty="0">
                <a:solidFill>
                  <a:schemeClr val="tx1"/>
                </a:solidFill>
              </a:rPr>
              <a:t>500 customer chats / month</a:t>
            </a:r>
            <a:endParaRPr lang="en-US" sz="1200" dirty="0"/>
          </a:p>
          <a:p>
            <a:pPr marL="152400" indent="-152400">
              <a:spcAft>
                <a:spcPts val="400"/>
              </a:spcAft>
              <a:buSzPct val="100000"/>
              <a:buChar char="•"/>
            </a:pPr>
            <a:r>
              <a:rPr lang="en-US" sz="1200" dirty="0">
                <a:solidFill>
                  <a:schemeClr val="tx1"/>
                </a:solidFill>
              </a:rPr>
              <a:t>50 documents</a:t>
            </a:r>
            <a:endParaRPr lang="en-US" sz="1200" dirty="0"/>
          </a:p>
          <a:p>
            <a:pPr marL="152400" indent="-152400">
              <a:spcAft>
                <a:spcPts val="400"/>
              </a:spcAft>
              <a:buSzPct val="100000"/>
              <a:buChar char="•"/>
            </a:pPr>
            <a:r>
              <a:rPr lang="en-US" sz="1200" dirty="0">
                <a:solidFill>
                  <a:schemeClr val="tx1"/>
                </a:solidFill>
              </a:rPr>
              <a:t>Email support</a:t>
            </a:r>
            <a:endParaRPr lang="en-US" sz="1200" dirty="0"/>
          </a:p>
        </p:txBody>
      </p:sp>
      <p:sp>
        <p:nvSpPr>
          <p:cNvPr id="7" name="plan-1"/>
          <p:cNvSpPr/>
          <p:nvPr/>
        </p:nvSpPr>
        <p:spPr>
          <a:xfrm>
            <a:off x="3273552" y="1143000"/>
            <a:ext cx="2615184" cy="3108960"/>
          </a:xfrm>
          <a:prstGeom prst="roundRect">
            <a:avLst>
              <a:gd name="adj" fmla="val 4196"/>
            </a:avLst>
          </a:prstGeom>
          <a:solidFill>
            <a:schemeClr val="tx2"/>
          </a:solidFill>
          <a:ln/>
          <a:effectLst>
            <a:outerShdw sx="100000" sy="100000" kx="0" ky="0" algn="bl" rotWithShape="0" blurRad="101600" dist="25400" dir="5400000">
              <a:srgbClr val="000000">
                <a:alpha val="18000"/>
              </a:srgbClr>
            </a:outerShdw>
          </a:effectLst>
        </p:spPr>
      </p:sp>
      <p:sp>
        <p:nvSpPr>
          <p:cNvPr id="8" name="plan-name-1"/>
          <p:cNvSpPr txBox="1"/>
          <p:nvPr/>
        </p:nvSpPr>
        <p:spPr>
          <a:xfrm>
            <a:off x="3502152" y="1298448"/>
            <a:ext cx="2194560" cy="320040"/>
          </a:xfrm>
          <a:prstGeom prst="rect">
            <a:avLst/>
          </a:prstGeom>
          <a:noFill/>
          <a:ln/>
        </p:spPr>
        <p:txBody>
          <a:bodyPr wrap="square" lIns="0" tIns="0" rIns="0" bIns="0" rtlCol="0" anchor="t"/>
          <a:lstStyle/>
          <a:p>
            <a:pPr indent="0" marL="0">
              <a:buNone/>
            </a:pPr>
            <a:r>
              <a:rPr lang="en-US" sz="1600" b="1" dirty="0">
                <a:solidFill>
                  <a:schemeClr val="accent5"/>
                </a:solidFill>
              </a:rPr>
              <a:t>Growth</a:t>
            </a:r>
            <a:endParaRPr lang="en-US" sz="1600" dirty="0"/>
          </a:p>
        </p:txBody>
      </p:sp>
      <p:sp>
        <p:nvSpPr>
          <p:cNvPr id="9" name="plan-price-1"/>
          <p:cNvSpPr txBox="1"/>
          <p:nvPr/>
        </p:nvSpPr>
        <p:spPr>
          <a:xfrm>
            <a:off x="3502152" y="1645920"/>
            <a:ext cx="2194560" cy="548640"/>
          </a:xfrm>
          <a:prstGeom prst="rect">
            <a:avLst/>
          </a:prstGeom>
          <a:noFill/>
          <a:ln/>
        </p:spPr>
        <p:txBody>
          <a:bodyPr wrap="square" lIns="0" tIns="0" rIns="0" bIns="0" rtlCol="0" anchor="ctr"/>
          <a:lstStyle/>
          <a:p>
            <a:pPr indent="0" marL="0">
              <a:buNone/>
            </a:pPr>
            <a:r>
              <a:rPr lang="en-US" sz="3000" b="1" dirty="0">
                <a:solidFill>
                  <a:schemeClr val="bg1"/>
                </a:solidFill>
              </a:rPr>
              <a:t>₹12,999</a:t>
            </a:r>
            <a:pPr indent="0" marL="0">
              <a:buNone/>
            </a:pPr>
            <a:r>
              <a:rPr lang="en-US" sz="1200" dirty="0">
                <a:solidFill>
                  <a:srgbClr val="E7E5E4"/>
                </a:solidFill>
              </a:rPr>
              <a:t> /month</a:t>
            </a:r>
            <a:endParaRPr lang="en-US" sz="1400" dirty="0"/>
          </a:p>
        </p:txBody>
      </p:sp>
      <p:sp>
        <p:nvSpPr>
          <p:cNvPr id="10" name="plan-feats-1"/>
          <p:cNvSpPr txBox="1"/>
          <p:nvPr/>
        </p:nvSpPr>
        <p:spPr>
          <a:xfrm>
            <a:off x="3502152" y="2331720"/>
            <a:ext cx="2240280" cy="18288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bg1"/>
                </a:solidFill>
              </a:rPr>
              <a:t>WhatsApp + Telegram + web</a:t>
            </a:r>
            <a:endParaRPr lang="en-US" sz="1200" dirty="0"/>
          </a:p>
          <a:p>
            <a:pPr marL="152400" indent="-152400">
              <a:spcAft>
                <a:spcPts val="400"/>
              </a:spcAft>
              <a:buSzPct val="100000"/>
              <a:buChar char="•"/>
            </a:pPr>
            <a:r>
              <a:rPr lang="en-US" sz="1200" dirty="0">
                <a:solidFill>
                  <a:schemeClr val="bg1"/>
                </a:solidFill>
              </a:rPr>
              <a:t>10 team seats</a:t>
            </a:r>
            <a:endParaRPr lang="en-US" sz="1200" dirty="0"/>
          </a:p>
          <a:p>
            <a:pPr marL="152400" indent="-152400">
              <a:spcAft>
                <a:spcPts val="400"/>
              </a:spcAft>
              <a:buSzPct val="100000"/>
              <a:buChar char="•"/>
            </a:pPr>
            <a:r>
              <a:rPr lang="en-US" sz="1200" dirty="0">
                <a:solidFill>
                  <a:schemeClr val="bg1"/>
                </a:solidFill>
              </a:rPr>
              <a:t>3,000 customer chats / month</a:t>
            </a:r>
            <a:endParaRPr lang="en-US" sz="1200" dirty="0"/>
          </a:p>
          <a:p>
            <a:pPr marL="152400" indent="-152400">
              <a:spcAft>
                <a:spcPts val="400"/>
              </a:spcAft>
              <a:buSzPct val="100000"/>
              <a:buChar char="•"/>
            </a:pPr>
            <a:r>
              <a:rPr lang="en-US" sz="1200" dirty="0">
                <a:solidFill>
                  <a:schemeClr val="bg1"/>
                </a:solidFill>
              </a:rPr>
              <a:t>Industry pack + custom agents</a:t>
            </a:r>
            <a:endParaRPr lang="en-US" sz="1200" dirty="0"/>
          </a:p>
          <a:p>
            <a:pPr marL="152400" indent="-152400">
              <a:spcAft>
                <a:spcPts val="400"/>
              </a:spcAft>
              <a:buSzPct val="100000"/>
              <a:buChar char="•"/>
            </a:pPr>
            <a:r>
              <a:rPr lang="en-US" sz="1200" dirty="0">
                <a:solidFill>
                  <a:schemeClr val="bg1"/>
                </a:solidFill>
              </a:rPr>
              <a:t>Team assistant + content studio</a:t>
            </a:r>
            <a:endParaRPr lang="en-US" sz="1200" dirty="0"/>
          </a:p>
        </p:txBody>
      </p:sp>
      <p:sp>
        <p:nvSpPr>
          <p:cNvPr id="11" name="plan-2"/>
          <p:cNvSpPr/>
          <p:nvPr/>
        </p:nvSpPr>
        <p:spPr>
          <a:xfrm>
            <a:off x="6089904" y="1143000"/>
            <a:ext cx="2615184" cy="3108960"/>
          </a:xfrm>
          <a:prstGeom prst="roundRect">
            <a:avLst>
              <a:gd name="adj" fmla="val 4196"/>
            </a:avLst>
          </a:prstGeom>
          <a:solidFill>
            <a:schemeClr val="bg2"/>
          </a:solidFill>
          <a:ln/>
        </p:spPr>
      </p:sp>
      <p:sp>
        <p:nvSpPr>
          <p:cNvPr id="12" name="plan-name-2"/>
          <p:cNvSpPr txBox="1"/>
          <p:nvPr/>
        </p:nvSpPr>
        <p:spPr>
          <a:xfrm>
            <a:off x="6318504" y="1298448"/>
            <a:ext cx="2194560" cy="320040"/>
          </a:xfrm>
          <a:prstGeom prst="rect">
            <a:avLst/>
          </a:prstGeom>
          <a:noFill/>
          <a:ln/>
        </p:spPr>
        <p:txBody>
          <a:bodyPr wrap="square" lIns="0" tIns="0" rIns="0" bIns="0" rtlCol="0" anchor="t"/>
          <a:lstStyle/>
          <a:p>
            <a:pPr indent="0" marL="0">
              <a:buNone/>
            </a:pPr>
            <a:r>
              <a:rPr lang="en-US" sz="1600" b="1" dirty="0">
                <a:solidFill>
                  <a:schemeClr val="tx1"/>
                </a:solidFill>
              </a:rPr>
              <a:t>Enterprise</a:t>
            </a:r>
            <a:endParaRPr lang="en-US" sz="1600" dirty="0"/>
          </a:p>
        </p:txBody>
      </p:sp>
      <p:sp>
        <p:nvSpPr>
          <p:cNvPr id="13" name="plan-price-2"/>
          <p:cNvSpPr txBox="1"/>
          <p:nvPr/>
        </p:nvSpPr>
        <p:spPr>
          <a:xfrm>
            <a:off x="6318504" y="1645920"/>
            <a:ext cx="2194560" cy="548640"/>
          </a:xfrm>
          <a:prstGeom prst="rect">
            <a:avLst/>
          </a:prstGeom>
          <a:noFill/>
          <a:ln/>
        </p:spPr>
        <p:txBody>
          <a:bodyPr wrap="square" lIns="0" tIns="0" rIns="0" bIns="0" rtlCol="0" anchor="ctr"/>
          <a:lstStyle/>
          <a:p>
            <a:pPr indent="0" marL="0">
              <a:buNone/>
            </a:pPr>
            <a:r>
              <a:rPr lang="en-US" sz="3000" b="1" dirty="0">
                <a:solidFill>
                  <a:schemeClr val="tx1"/>
                </a:solidFill>
              </a:rPr>
              <a:t>Custom</a:t>
            </a:r>
            <a:pPr indent="0" marL="0">
              <a:buNone/>
            </a:pPr>
            <a:endParaRPr lang="en-US" sz="1400" dirty="0"/>
          </a:p>
        </p:txBody>
      </p:sp>
      <p:sp>
        <p:nvSpPr>
          <p:cNvPr id="14" name="plan-feats-2"/>
          <p:cNvSpPr txBox="1"/>
          <p:nvPr/>
        </p:nvSpPr>
        <p:spPr>
          <a:xfrm>
            <a:off x="6318504" y="2331720"/>
            <a:ext cx="2240280" cy="182880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Unlimited seats and chats</a:t>
            </a:r>
            <a:endParaRPr lang="en-US" sz="1200" dirty="0"/>
          </a:p>
          <a:p>
            <a:pPr marL="152400" indent="-152400">
              <a:spcAft>
                <a:spcPts val="400"/>
              </a:spcAft>
              <a:buSzPct val="100000"/>
              <a:buChar char="•"/>
            </a:pPr>
            <a:r>
              <a:rPr lang="en-US" sz="1200" dirty="0">
                <a:solidFill>
                  <a:schemeClr val="tx1"/>
                </a:solidFill>
              </a:rPr>
              <a:t>Your own cloud or server</a:t>
            </a:r>
            <a:endParaRPr lang="en-US" sz="1200" dirty="0"/>
          </a:p>
          <a:p>
            <a:pPr marL="152400" indent="-152400">
              <a:spcAft>
                <a:spcPts val="400"/>
              </a:spcAft>
              <a:buSzPct val="100000"/>
              <a:buChar char="•"/>
            </a:pPr>
            <a:r>
              <a:rPr lang="en-US" sz="1200" dirty="0">
                <a:solidFill>
                  <a:schemeClr val="tx1"/>
                </a:solidFill>
              </a:rPr>
              <a:t>Your own AI account and keys</a:t>
            </a:r>
            <a:endParaRPr lang="en-US" sz="1200" dirty="0"/>
          </a:p>
          <a:p>
            <a:pPr marL="152400" indent="-152400">
              <a:spcAft>
                <a:spcPts val="400"/>
              </a:spcAft>
              <a:buSzPct val="100000"/>
              <a:buChar char="•"/>
            </a:pPr>
            <a:r>
              <a:rPr lang="en-US" sz="1200" dirty="0">
                <a:solidFill>
                  <a:schemeClr val="tx1"/>
                </a:solidFill>
              </a:rPr>
              <a:t>Custom integrations</a:t>
            </a:r>
            <a:endParaRPr lang="en-US" sz="1200" dirty="0"/>
          </a:p>
          <a:p>
            <a:pPr marL="152400" indent="-152400">
              <a:spcAft>
                <a:spcPts val="400"/>
              </a:spcAft>
              <a:buSzPct val="100000"/>
              <a:buChar char="•"/>
            </a:pPr>
            <a:r>
              <a:rPr lang="en-US" sz="1200" dirty="0">
                <a:solidFill>
                  <a:schemeClr val="tx1"/>
                </a:solidFill>
              </a:rPr>
              <a:t>Priority support</a:t>
            </a:r>
            <a:endParaRPr lang="en-US" sz="1200" dirty="0"/>
          </a:p>
        </p:txBody>
      </p:sp>
      <p:sp>
        <p:nvSpPr>
          <p:cNvPr id="15" name="pricing-note"/>
          <p:cNvSpPr txBox="1"/>
          <p:nvPr/>
        </p:nvSpPr>
        <p:spPr>
          <a:xfrm>
            <a:off x="457200" y="4343400"/>
            <a:ext cx="8229600" cy="411480"/>
          </a:xfrm>
          <a:prstGeom prst="rect">
            <a:avLst/>
          </a:prstGeom>
          <a:noFill/>
          <a:ln/>
        </p:spPr>
        <p:txBody>
          <a:bodyPr wrap="square" lIns="0" tIns="0" rIns="0" bIns="0" rtlCol="0" anchor="t"/>
          <a:lstStyle/>
          <a:p>
            <a:pPr indent="0" marL="0">
              <a:buNone/>
            </a:pPr>
            <a:r>
              <a:rPr lang="en-US" sz="1000" dirty="0">
                <a:solidFill>
                  <a:schemeClr val="accent4"/>
                </a:solidFill>
              </a:rPr>
              <a:t>All plans are hosted 24×7 with HTTPS and nightly backups. One-time setup from ₹25,000 per pack. WhatsApp charges from Meta are billed at cost. Prices exclude GST and are indicative — the final quote follows the discovery call.</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371600"/>
          </a:xfrm>
          <a:prstGeom prst="rect">
            <a:avLst/>
          </a:prstGeom>
          <a:noFill/>
          <a:ln/>
        </p:spPr>
        <p:txBody>
          <a:bodyPr wrap="square" lIns="0" tIns="0" rIns="0" bIns="0" rtlCol="0" anchor="b"/>
          <a:lstStyle/>
          <a:p>
            <a:pPr algn="l" indent="0" marL="0">
              <a:buNone/>
            </a:pPr>
            <a:r>
              <a:rPr lang="en-US" sz="4000" b="1" dirty="0">
                <a:solidFill>
                  <a:schemeClr val="bg1"/>
                </a:solidFill>
              </a:rPr>
              <a:t>Let’s start with a 4-week pilot</a:t>
            </a:r>
            <a:endParaRPr lang="en-US" sz="4000" dirty="0"/>
          </a:p>
        </p:txBody>
      </p:sp>
      <p:sp>
        <p:nvSpPr>
          <p:cNvPr id="3" name="Text 0"/>
          <p:cNvSpPr/>
          <p:nvPr>
            <p:ph idx="101" type="body" hasCustomPrompt="1"/>
          </p:nvPr>
        </p:nvSpPr>
        <p:spPr>
          <a:xfrm>
            <a:off x="548640" y="2926080"/>
            <a:ext cx="7680960" cy="1188720"/>
          </a:xfrm>
          <a:prstGeom prst="rect">
            <a:avLst/>
          </a:prstGeom>
          <a:noFill/>
          <a:ln/>
        </p:spPr>
        <p:txBody>
          <a:bodyPr wrap="square" lIns="0" tIns="0" rIns="0" bIns="0" rtlCol="0" anchor="t"/>
          <a:lstStyle/>
          <a:p>
            <a:pPr indent="0" marL="0">
              <a:buNone/>
            </a:pPr>
            <a:r>
              <a:rPr lang="en-US" sz="1800" dirty="0">
                <a:solidFill>
                  <a:srgbClr val="D6D3D1"/>
                </a:solidFill>
              </a:rPr>
              <a:t>1.  A 30-minute call about your customers’ top questions</a:t>
            </a:r>
            <a:endParaRPr lang="en-US" sz="1800" dirty="0"/>
          </a:p>
          <a:p>
            <a:pPr indent="0" marL="0">
              <a:buNone/>
            </a:pPr>
            <a:r>
              <a:rPr lang="en-US" sz="1800" dirty="0">
                <a:solidFill>
                  <a:srgbClr val="D6D3D1"/>
                </a:solidFill>
              </a:rPr>
              <a:t>2.  You share your FAQs, price list and policies</a:t>
            </a:r>
            <a:endParaRPr lang="en-US" sz="1800" dirty="0"/>
          </a:p>
          <a:p>
            <a:pPr indent="0" marL="0">
              <a:buNone/>
            </a:pPr>
            <a:r>
              <a:rPr lang="en-US" sz="1800" dirty="0">
                <a:solidFill>
                  <a:srgbClr val="D6D3D1"/>
                </a:solidFill>
              </a:rPr>
              <a:t>3.  Within a week, you test SwarmAI on your own data</a:t>
            </a:r>
            <a:endParaRPr lang="en-US" sz="1800" dirty="0"/>
          </a:p>
        </p:txBody>
      </p:sp>
      <p:sp>
        <p:nvSpPr>
          <p:cNvPr id="4" name="contact"/>
          <p:cNvSpPr txBox="1"/>
          <p:nvPr/>
        </p:nvSpPr>
        <p:spPr>
          <a:xfrm>
            <a:off x="548640" y="4251960"/>
            <a:ext cx="8046720" cy="365760"/>
          </a:xfrm>
          <a:prstGeom prst="rect">
            <a:avLst/>
          </a:prstGeom>
          <a:noFill/>
          <a:ln/>
        </p:spPr>
        <p:txBody>
          <a:bodyPr wrap="square" lIns="0" tIns="0" rIns="0" bIns="0" rtlCol="0" anchor="t"/>
          <a:lstStyle/>
          <a:p>
            <a:pPr indent="0" marL="0">
              <a:buNone/>
            </a:pPr>
            <a:r>
              <a:rPr lang="en-US" sz="1400" b="1" dirty="0">
                <a:solidFill>
                  <a:schemeClr val="accent1"/>
                </a:solidFill>
              </a:rPr>
              <a:t>[Your name]  ·  [email]  ·  [phone]</a:t>
            </a:r>
            <a:endParaRPr lang="en-US" sz="1400" dirty="0"/>
          </a:p>
        </p:txBody>
      </p:sp>
    </p:spTree>
  </p:cSld>
  <p:clrMapOvr>
    <a:masterClrMapping/>
  </p:clrMapOvr>
</p:sld>
</file>

<file path=ppt/theme/theme1.xml><?xml version="1.0" encoding="utf-8"?>
<a:theme xmlns:a="http://schemas.openxmlformats.org/drawingml/2006/main" name="SwarmAI">
  <a:themeElements>
    <a:clrScheme name="SwarmAI">
      <a:dk1>
        <a:srgbClr val="1C1917"/>
      </a:dk1>
      <a:lt1>
        <a:srgbClr val="FFFFFF"/>
      </a:lt1>
      <a:dk2>
        <a:srgbClr val="0F4C47"/>
      </a:dk2>
      <a:lt2>
        <a:srgbClr val="F4F4F5"/>
      </a:lt2>
      <a:accent1>
        <a:srgbClr val="D97706"/>
      </a:accent1>
      <a:accent2>
        <a:srgbClr val="0F766E"/>
      </a:accent2>
      <a:accent3>
        <a:srgbClr val="DC2626"/>
      </a:accent3>
      <a:accent4>
        <a:srgbClr val="71717A"/>
      </a:accent4>
      <a:accent5>
        <a:srgbClr val="FDECC8"/>
      </a:accent5>
      <a:accent6>
        <a:srgbClr val="D5EFEC"/>
      </a:accent6>
      <a:hlink>
        <a:srgbClr val="0F766E"/>
      </a:hlink>
      <a:folHlink>
        <a:srgbClr val="71717A"/>
      </a:folHlink>
    </a:clrScheme>
    <a:fontScheme name="SwarmAI">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SwarmAI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SwarmAI — AI customer desk on WhatsApp</dc:title>
  <dc:subject>PptxGenJS Presentation</dc:subject>
  <dc:creator>SwarmAI</dc:creator>
  <cp:lastModifiedBy>SwarmAI</cp:lastModifiedBy>
  <cp:revision>1</cp:revision>
  <dcterms:created xsi:type="dcterms:W3CDTF">2026-10-20T05:10:31Z</dcterms:created>
  <dcterms:modified xsi:type="dcterms:W3CDTF">2026-10-20T05:10:31Z</dcterms:modified>
</cp:coreProperties>
</file>